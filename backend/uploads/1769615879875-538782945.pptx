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4" r:id="rId9"/>
    <p:sldId id="271" r:id="rId10"/>
    <p:sldId id="272" r:id="rId11"/>
    <p:sldId id="275" r:id="rId12"/>
    <p:sldId id="276" r:id="rId13"/>
    <p:sldId id="277" r:id="rId14"/>
    <p:sldId id="278" r:id="rId15"/>
    <p:sldId id="279" r:id="rId16"/>
    <p:sldId id="273" r:id="rId17"/>
    <p:sldId id="280" r:id="rId18"/>
    <p:sldId id="281" r:id="rId19"/>
    <p:sldId id="282" r:id="rId20"/>
    <p:sldId id="283" r:id="rId21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5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5CDC5-4A33-4B82-9BB1-74917F5CD2E4}" type="datetimeFigureOut">
              <a:rPr lang="en-IN" smtClean="0"/>
              <a:t>23-09-2020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31A47-B439-4719-AA20-BB349192BA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08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31A47-B439-4719-AA20-BB349192BA0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47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570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475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0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3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898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97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459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945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4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16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61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4186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87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779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62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00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90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64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3775" y="1133194"/>
            <a:ext cx="103644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4895">
              <a:lnSpc>
                <a:spcPct val="100000"/>
              </a:lnSpc>
              <a:spcBef>
                <a:spcPts val="100"/>
              </a:spcBef>
            </a:pPr>
            <a:r>
              <a:rPr lang="en-IN" spc="-5" dirty="0"/>
              <a:t>Array: Types and Applications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752600"/>
            <a:ext cx="4913631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696363"/>
                </a:solidFill>
              </a:rPr>
              <a:t>What </a:t>
            </a:r>
            <a:r>
              <a:rPr sz="3600" spc="-5" dirty="0">
                <a:solidFill>
                  <a:srgbClr val="696363"/>
                </a:solidFill>
              </a:rPr>
              <a:t>is </a:t>
            </a:r>
            <a:r>
              <a:rPr lang="en-IN" sz="3600" spc="-5" dirty="0">
                <a:solidFill>
                  <a:srgbClr val="696363"/>
                </a:solidFill>
              </a:rPr>
              <a:t>AN </a:t>
            </a:r>
            <a:r>
              <a:rPr sz="3600" spc="-5" dirty="0">
                <a:solidFill>
                  <a:srgbClr val="696363"/>
                </a:solidFill>
              </a:rPr>
              <a:t>Array</a:t>
            </a:r>
            <a:r>
              <a:rPr sz="3600" spc="-260" dirty="0">
                <a:solidFill>
                  <a:srgbClr val="696363"/>
                </a:solidFill>
              </a:rPr>
              <a:t> </a:t>
            </a:r>
            <a:r>
              <a:rPr sz="3600" dirty="0">
                <a:solidFill>
                  <a:srgbClr val="696363"/>
                </a:solidFill>
              </a:rPr>
              <a:t>?</a:t>
            </a:r>
            <a:r>
              <a:rPr lang="en-IN" sz="3600" dirty="0">
                <a:solidFill>
                  <a:srgbClr val="696363"/>
                </a:solidFill>
              </a:rPr>
              <a:t> 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2590800"/>
            <a:ext cx="10723880" cy="30450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176530" indent="-27432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An </a:t>
            </a:r>
            <a:r>
              <a:rPr sz="2600" spc="-5" dirty="0">
                <a:latin typeface="Times New Roman"/>
                <a:cs typeface="Times New Roman"/>
              </a:rPr>
              <a:t>array </a:t>
            </a:r>
            <a:r>
              <a:rPr sz="2600" dirty="0">
                <a:latin typeface="Times New Roman"/>
                <a:cs typeface="Times New Roman"/>
              </a:rPr>
              <a:t>is a group of </a:t>
            </a:r>
            <a:r>
              <a:rPr lang="en-IN" sz="2600" spc="-5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with </a:t>
            </a:r>
            <a:r>
              <a:rPr sz="2600" spc="-10" dirty="0">
                <a:latin typeface="Times New Roman"/>
                <a:cs typeface="Times New Roman"/>
              </a:rPr>
              <a:t>same </a:t>
            </a:r>
            <a:r>
              <a:rPr sz="2600" spc="-5" dirty="0">
                <a:latin typeface="Times New Roman"/>
                <a:cs typeface="Times New Roman"/>
              </a:rPr>
              <a:t>name and </a:t>
            </a:r>
            <a:r>
              <a:rPr sz="2600" dirty="0">
                <a:latin typeface="Times New Roman"/>
                <a:cs typeface="Times New Roman"/>
              </a:rPr>
              <a:t>data type.</a:t>
            </a:r>
          </a:p>
          <a:p>
            <a:pPr marL="287020" marR="5080" indent="-274320">
              <a:lnSpc>
                <a:spcPct val="100000"/>
              </a:lnSpc>
              <a:spcBef>
                <a:spcPts val="595"/>
              </a:spcBef>
              <a:buClr>
                <a:srgbClr val="D24717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  <a:tab pos="10232390" algn="l"/>
              </a:tabLst>
            </a:pPr>
            <a:r>
              <a:rPr sz="2600" dirty="0">
                <a:latin typeface="Times New Roman"/>
                <a:cs typeface="Times New Roman"/>
              </a:rPr>
              <a:t>Si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ple </a:t>
            </a:r>
            <a:r>
              <a:rPr sz="2600" spc="5" dirty="0">
                <a:latin typeface="Times New Roman"/>
                <a:cs typeface="Times New Roman"/>
              </a:rPr>
              <a:t>v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5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ble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g</a:t>
            </a:r>
            <a:r>
              <a:rPr sz="2600" dirty="0">
                <a:latin typeface="Times New Roman"/>
                <a:cs typeface="Times New Roman"/>
              </a:rPr>
              <a:t>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5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ory loc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t</a:t>
            </a:r>
            <a:r>
              <a:rPr sz="2600" spc="-15" dirty="0">
                <a:latin typeface="Times New Roman"/>
                <a:cs typeface="Times New Roman"/>
              </a:rPr>
              <a:t>i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</a:t>
            </a:r>
            <a:r>
              <a:rPr sz="2600" spc="5" dirty="0">
                <a:latin typeface="Times New Roman"/>
                <a:cs typeface="Times New Roman"/>
              </a:rPr>
              <a:t>n</a:t>
            </a:r>
            <a:r>
              <a:rPr sz="2600" dirty="0">
                <a:latin typeface="Times New Roman"/>
                <a:cs typeface="Times New Roman"/>
              </a:rPr>
              <a:t>ique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</a:t>
            </a:r>
            <a:r>
              <a:rPr sz="2600" spc="-10" dirty="0">
                <a:latin typeface="Times New Roman"/>
                <a:cs typeface="Times New Roman"/>
              </a:rPr>
              <a:t>m</a:t>
            </a:r>
            <a:r>
              <a:rPr sz="2600" dirty="0">
                <a:latin typeface="Times New Roman"/>
                <a:cs typeface="Times New Roman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type.	But  an Array is </a:t>
            </a:r>
            <a:r>
              <a:rPr sz="2600" spc="-5" dirty="0">
                <a:latin typeface="Times New Roman"/>
                <a:cs typeface="Times New Roman"/>
              </a:rPr>
              <a:t>collection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10" dirty="0">
                <a:latin typeface="Times New Roman"/>
                <a:cs typeface="Times New Roman"/>
              </a:rPr>
              <a:t>different </a:t>
            </a:r>
            <a:r>
              <a:rPr sz="2600" spc="-5" dirty="0">
                <a:latin typeface="Times New Roman"/>
                <a:cs typeface="Times New Roman"/>
              </a:rPr>
              <a:t>adjacent memory </a:t>
            </a:r>
            <a:r>
              <a:rPr sz="2600" dirty="0">
                <a:latin typeface="Times New Roman"/>
                <a:cs typeface="Times New Roman"/>
              </a:rPr>
              <a:t>locations.</a:t>
            </a:r>
            <a:r>
              <a:rPr lang="en-IN" sz="26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 </a:t>
            </a:r>
          </a:p>
          <a:p>
            <a:pPr marL="287020" marR="30416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memory locations </a:t>
            </a:r>
            <a:r>
              <a:rPr sz="2600" dirty="0">
                <a:latin typeface="Times New Roman"/>
                <a:cs typeface="Times New Roman"/>
              </a:rPr>
              <a:t>in the </a:t>
            </a:r>
            <a:r>
              <a:rPr sz="2600" spc="-5" dirty="0">
                <a:latin typeface="Times New Roman"/>
                <a:cs typeface="Times New Roman"/>
              </a:rPr>
              <a:t>array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5" dirty="0">
                <a:latin typeface="Times New Roman"/>
                <a:cs typeface="Times New Roman"/>
              </a:rPr>
              <a:t>known </a:t>
            </a:r>
            <a:r>
              <a:rPr sz="2600" dirty="0">
                <a:latin typeface="Times New Roman"/>
                <a:cs typeface="Times New Roman"/>
              </a:rPr>
              <a:t>as </a:t>
            </a:r>
            <a:r>
              <a:rPr sz="2600" b="1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30" dirty="0">
                <a:latin typeface="Times New Roman"/>
                <a:cs typeface="Times New Roman"/>
              </a:rPr>
              <a:t>array.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total  number of </a:t>
            </a:r>
            <a:r>
              <a:rPr sz="2600" spc="-5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in the </a:t>
            </a:r>
            <a:r>
              <a:rPr sz="2600" spc="-5" dirty="0">
                <a:latin typeface="Times New Roman"/>
                <a:cs typeface="Times New Roman"/>
              </a:rPr>
              <a:t>array </a:t>
            </a:r>
            <a:r>
              <a:rPr sz="2600" dirty="0">
                <a:latin typeface="Times New Roman"/>
                <a:cs typeface="Times New Roman"/>
              </a:rPr>
              <a:t>is </a:t>
            </a:r>
            <a:r>
              <a:rPr sz="2600" spc="-5" dirty="0">
                <a:latin typeface="Times New Roman"/>
                <a:cs typeface="Times New Roman"/>
              </a:rPr>
              <a:t>called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length.</a:t>
            </a:r>
            <a:endParaRPr sz="2600" dirty="0">
              <a:latin typeface="Times New Roman"/>
              <a:cs typeface="Times New Roman"/>
            </a:endParaRPr>
          </a:p>
          <a:p>
            <a:pPr marL="287020" marR="2413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Arial"/>
              <a:buChar char="•"/>
              <a:tabLst>
                <a:tab pos="286385" algn="l"/>
                <a:tab pos="287020" algn="l"/>
                <a:tab pos="4873625" algn="l"/>
              </a:tabLst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elements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array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lang="en-IN" sz="2600" spc="-5" dirty="0">
                <a:latin typeface="Times New Roman"/>
                <a:cs typeface="Times New Roman"/>
              </a:rPr>
              <a:t>referred </a:t>
            </a:r>
            <a:r>
              <a:rPr sz="2600" dirty="0">
                <a:latin typeface="Times New Roman"/>
                <a:cs typeface="Times New Roman"/>
              </a:rPr>
              <a:t>to </a:t>
            </a:r>
            <a:r>
              <a:rPr sz="2600" spc="-5" dirty="0">
                <a:latin typeface="Times New Roman"/>
                <a:cs typeface="Times New Roman"/>
              </a:rPr>
              <a:t>its </a:t>
            </a:r>
            <a:r>
              <a:rPr sz="2600" dirty="0">
                <a:latin typeface="Times New Roman"/>
                <a:cs typeface="Times New Roman"/>
              </a:rPr>
              <a:t>position in </a:t>
            </a:r>
            <a:r>
              <a:rPr sz="2600" spc="-30" dirty="0">
                <a:latin typeface="Times New Roman"/>
                <a:cs typeface="Times New Roman"/>
              </a:rPr>
              <a:t>array, </a:t>
            </a:r>
            <a:r>
              <a:rPr sz="2600" dirty="0">
                <a:latin typeface="Times New Roman"/>
                <a:cs typeface="Times New Roman"/>
              </a:rPr>
              <a:t>that is  </a:t>
            </a:r>
            <a:r>
              <a:rPr sz="2600" spc="-5" dirty="0">
                <a:latin typeface="Times New Roman"/>
                <a:cs typeface="Times New Roman"/>
              </a:rPr>
              <a:t>call </a:t>
            </a:r>
            <a:r>
              <a:rPr sz="2600" b="1" dirty="0">
                <a:latin typeface="Times New Roman"/>
                <a:cs typeface="Times New Roman"/>
              </a:rPr>
              <a:t>index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subscript.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280D3BA-9C8F-4268-9E96-7AA801C752C0}"/>
              </a:ext>
            </a:extLst>
          </p:cNvPr>
          <p:cNvSpPr txBox="1">
            <a:spLocks/>
          </p:cNvSpPr>
          <p:nvPr/>
        </p:nvSpPr>
        <p:spPr>
          <a:xfrm>
            <a:off x="228600" y="685800"/>
            <a:ext cx="11506200" cy="56682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12700" rIns="0" bIns="0" rtlCol="0" anchor="ctr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solidFill>
                  <a:schemeClr val="tx2"/>
                </a:solidFill>
              </a:rPr>
              <a:t>SO far you already know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8" y="601040"/>
            <a:ext cx="8418831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</a:rPr>
              <a:t>Advantages / Uses of</a:t>
            </a:r>
            <a:r>
              <a:rPr sz="4000" spc="-215" dirty="0">
                <a:solidFill>
                  <a:srgbClr val="696363"/>
                </a:solidFill>
              </a:rPr>
              <a:t> </a:t>
            </a:r>
            <a:r>
              <a:rPr sz="4000" spc="-5" dirty="0">
                <a:solidFill>
                  <a:srgbClr val="696363"/>
                </a:solidFill>
              </a:rPr>
              <a:t>Arrays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752600" y="1829844"/>
            <a:ext cx="9379267" cy="319831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q"/>
              <a:tabLst>
                <a:tab pos="287020" algn="l"/>
              </a:tabLst>
            </a:pPr>
            <a:r>
              <a:rPr lang="en-IN" sz="2600" b="1" dirty="0">
                <a:latin typeface="Times New Roman"/>
                <a:cs typeface="Times New Roman"/>
              </a:rPr>
              <a:t>Easy Access: </a:t>
            </a:r>
            <a:r>
              <a:rPr sz="2600" dirty="0">
                <a:latin typeface="Times New Roman"/>
                <a:cs typeface="Times New Roman"/>
              </a:rPr>
              <a:t>Arrays </a:t>
            </a:r>
            <a:r>
              <a:rPr sz="2600" spc="-5" dirty="0">
                <a:latin typeface="Times New Roman"/>
                <a:cs typeface="Times New Roman"/>
              </a:rPr>
              <a:t>can store </a:t>
            </a:r>
            <a:r>
              <a:rPr sz="2600" dirty="0">
                <a:latin typeface="Times New Roman"/>
                <a:cs typeface="Times New Roman"/>
              </a:rPr>
              <a:t>a </a:t>
            </a:r>
            <a:r>
              <a:rPr sz="2600" spc="-15" dirty="0">
                <a:latin typeface="Times New Roman"/>
                <a:cs typeface="Times New Roman"/>
              </a:rPr>
              <a:t>large </a:t>
            </a:r>
            <a:r>
              <a:rPr sz="2600" dirty="0">
                <a:latin typeface="Times New Roman"/>
                <a:cs typeface="Times New Roman"/>
              </a:rPr>
              <a:t>number of value with single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name.</a:t>
            </a:r>
            <a:endParaRPr sz="26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q"/>
              <a:tabLst>
                <a:tab pos="287020" algn="l"/>
              </a:tabLst>
            </a:pPr>
            <a:r>
              <a:rPr lang="en-IN" sz="2600" b="1" dirty="0">
                <a:latin typeface="Times New Roman"/>
                <a:cs typeface="Times New Roman"/>
              </a:rPr>
              <a:t>Fast Access: </a:t>
            </a:r>
            <a:r>
              <a:rPr sz="2600" dirty="0">
                <a:latin typeface="Times New Roman"/>
                <a:cs typeface="Times New Roman"/>
              </a:rPr>
              <a:t>Arrays are used to process </a:t>
            </a:r>
            <a:r>
              <a:rPr sz="2600" spc="-5" dirty="0">
                <a:latin typeface="Times New Roman"/>
                <a:cs typeface="Times New Roman"/>
              </a:rPr>
              <a:t>many </a:t>
            </a:r>
            <a:r>
              <a:rPr sz="2600" dirty="0">
                <a:latin typeface="Times New Roman"/>
                <a:cs typeface="Times New Roman"/>
              </a:rPr>
              <a:t>value </a:t>
            </a:r>
            <a:r>
              <a:rPr sz="2600" spc="-5" dirty="0">
                <a:latin typeface="Times New Roman"/>
                <a:cs typeface="Times New Roman"/>
              </a:rPr>
              <a:t>easily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quickly.</a:t>
            </a:r>
            <a:endParaRPr sz="26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q"/>
              <a:tabLst>
                <a:tab pos="287020" algn="l"/>
              </a:tabLst>
            </a:pPr>
            <a:r>
              <a:rPr lang="en-IN" sz="2600" b="1" spc="5" dirty="0">
                <a:latin typeface="Times New Roman"/>
                <a:cs typeface="Times New Roman"/>
              </a:rPr>
              <a:t>Quick Processing:  </a:t>
            </a:r>
          </a:p>
          <a:p>
            <a:pPr marL="927100" lvl="1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spc="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values stored in </a:t>
            </a:r>
            <a:r>
              <a:rPr sz="2600" spc="-5" dirty="0">
                <a:latin typeface="Times New Roman"/>
                <a:cs typeface="Times New Roman"/>
              </a:rPr>
              <a:t>an array can </a:t>
            </a:r>
            <a:r>
              <a:rPr sz="2600" dirty="0">
                <a:latin typeface="Times New Roman"/>
                <a:cs typeface="Times New Roman"/>
              </a:rPr>
              <a:t>be sorted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easily.</a:t>
            </a:r>
            <a:endParaRPr sz="2600" dirty="0">
              <a:latin typeface="Times New Roman"/>
              <a:cs typeface="Times New Roman"/>
            </a:endParaRPr>
          </a:p>
          <a:p>
            <a:pPr marL="927100" lvl="1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The </a:t>
            </a:r>
            <a:r>
              <a:rPr sz="2600" spc="-5" dirty="0">
                <a:latin typeface="Times New Roman"/>
                <a:cs typeface="Times New Roman"/>
              </a:rPr>
              <a:t>search </a:t>
            </a:r>
            <a:r>
              <a:rPr sz="2600" dirty="0">
                <a:latin typeface="Times New Roman"/>
                <a:cs typeface="Times New Roman"/>
              </a:rPr>
              <a:t>process </a:t>
            </a:r>
            <a:r>
              <a:rPr sz="2600" spc="-5" dirty="0">
                <a:latin typeface="Times New Roman"/>
                <a:cs typeface="Times New Roman"/>
              </a:rPr>
              <a:t>can </a:t>
            </a:r>
            <a:r>
              <a:rPr sz="2600" dirty="0">
                <a:latin typeface="Times New Roman"/>
                <a:cs typeface="Times New Roman"/>
              </a:rPr>
              <a:t>be applied on </a:t>
            </a:r>
            <a:r>
              <a:rPr sz="2600" spc="-5" dirty="0">
                <a:latin typeface="Times New Roman"/>
                <a:cs typeface="Times New Roman"/>
              </a:rPr>
              <a:t>arrays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easily.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838200"/>
            <a:ext cx="6433058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Times New Roman"/>
                <a:cs typeface="Times New Roman"/>
              </a:rPr>
              <a:t>Types </a:t>
            </a:r>
            <a:r>
              <a:rPr sz="3200" b="1" dirty="0">
                <a:latin typeface="Times New Roman"/>
                <a:cs typeface="Times New Roman"/>
              </a:rPr>
              <a:t>of</a:t>
            </a:r>
            <a:r>
              <a:rPr sz="3200" b="1" spc="-19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Arrays: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0" y="1676400"/>
            <a:ext cx="6341618" cy="127598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sz="2400" spc="-5" dirty="0">
                <a:latin typeface="Times New Roman"/>
                <a:cs typeface="Times New Roman"/>
              </a:rPr>
              <a:t>One-Dimensional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lang="en-IN" sz="2400" dirty="0">
                <a:latin typeface="Times New Roman"/>
                <a:cs typeface="Times New Roman"/>
              </a:rPr>
              <a:t> (1-D Array)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spcBef>
                <a:spcPts val="409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sz="2400" spc="-15" dirty="0">
                <a:latin typeface="Times New Roman"/>
                <a:cs typeface="Times New Roman"/>
              </a:rPr>
              <a:t>Two-Dimensional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Array</a:t>
            </a:r>
            <a:r>
              <a:rPr lang="en-IN" sz="2400" dirty="0">
                <a:latin typeface="Times New Roman"/>
                <a:cs typeface="Times New Roman"/>
              </a:rPr>
              <a:t> (2-D Array)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Wingdings" panose="05000000000000000000" pitchFamily="2" charset="2"/>
              <a:buChar char="q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Multi-Dimensional</a:t>
            </a:r>
            <a:r>
              <a:rPr sz="2400" spc="-220" dirty="0">
                <a:latin typeface="Times New Roman"/>
                <a:cs typeface="Times New Roman"/>
              </a:rPr>
              <a:t> </a:t>
            </a:r>
            <a:r>
              <a:rPr sz="2400" spc="-65" dirty="0">
                <a:latin typeface="Times New Roman"/>
                <a:cs typeface="Times New Roman"/>
              </a:rPr>
              <a:t>Array</a:t>
            </a:r>
            <a:r>
              <a:rPr lang="en-IN" sz="2400" spc="-65" dirty="0">
                <a:latin typeface="Times New Roman"/>
                <a:cs typeface="Times New Roman"/>
              </a:rPr>
              <a:t> (Multi-D Array)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Picture 4" descr="Fig. Source: https://ocaprep.wordpress.com/java-basics/chap-4-creating-and-using-arrays/">
            <a:extLst>
              <a:ext uri="{FF2B5EF4-FFF2-40B4-BE49-F238E27FC236}">
                <a16:creationId xmlns:a16="http://schemas.microsoft.com/office/drawing/2014/main" id="{E5811734-2873-4D7F-AC4B-C669E4BEE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38525"/>
            <a:ext cx="9906000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9" y="521969"/>
            <a:ext cx="483743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</a:rPr>
              <a:t>One-D</a:t>
            </a:r>
            <a:r>
              <a:rPr sz="4000" spc="-280" dirty="0">
                <a:solidFill>
                  <a:srgbClr val="696363"/>
                </a:solidFill>
              </a:rPr>
              <a:t> </a:t>
            </a:r>
            <a:r>
              <a:rPr sz="4000" spc="-5" dirty="0">
                <a:solidFill>
                  <a:srgbClr val="696363"/>
                </a:solidFill>
              </a:rPr>
              <a:t>Array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563369" y="1233677"/>
            <a:ext cx="9622155" cy="329000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469900" marR="73025" indent="-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sz="2600" dirty="0">
                <a:latin typeface="Times New Roman"/>
                <a:cs typeface="Times New Roman"/>
              </a:rPr>
              <a:t>A type of </a:t>
            </a:r>
            <a:r>
              <a:rPr sz="2600" spc="-5" dirty="0">
                <a:latin typeface="Times New Roman"/>
                <a:cs typeface="Times New Roman"/>
              </a:rPr>
              <a:t>array </a:t>
            </a:r>
            <a:r>
              <a:rPr sz="2600" dirty="0">
                <a:latin typeface="Times New Roman"/>
                <a:cs typeface="Times New Roman"/>
              </a:rPr>
              <a:t>in which </a:t>
            </a:r>
            <a:r>
              <a:rPr sz="2600" spc="-5" dirty="0">
                <a:latin typeface="Times New Roman"/>
                <a:cs typeface="Times New Roman"/>
              </a:rPr>
              <a:t>all elements </a:t>
            </a:r>
            <a:r>
              <a:rPr sz="2600" dirty="0">
                <a:latin typeface="Times New Roman"/>
                <a:cs typeface="Times New Roman"/>
              </a:rPr>
              <a:t>are </a:t>
            </a:r>
            <a:r>
              <a:rPr sz="2600" spc="-5" dirty="0">
                <a:latin typeface="Times New Roman"/>
                <a:cs typeface="Times New Roman"/>
              </a:rPr>
              <a:t>arranged </a:t>
            </a:r>
            <a:r>
              <a:rPr sz="2600" dirty="0">
                <a:latin typeface="Times New Roman"/>
                <a:cs typeface="Times New Roman"/>
              </a:rPr>
              <a:t>in the </a:t>
            </a:r>
            <a:r>
              <a:rPr sz="2600" spc="-5" dirty="0">
                <a:latin typeface="Times New Roman"/>
                <a:cs typeface="Times New Roman"/>
              </a:rPr>
              <a:t>form </a:t>
            </a:r>
            <a:r>
              <a:rPr sz="2600" dirty="0">
                <a:latin typeface="Times New Roman"/>
                <a:cs typeface="Times New Roman"/>
              </a:rPr>
              <a:t>of a </a:t>
            </a:r>
            <a:r>
              <a:rPr sz="2600" spc="-10" dirty="0">
                <a:latin typeface="Times New Roman"/>
                <a:cs typeface="Times New Roman"/>
              </a:rPr>
              <a:t>list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  known as </a:t>
            </a:r>
            <a:r>
              <a:rPr sz="2600" b="1" dirty="0">
                <a:latin typeface="Times New Roman"/>
                <a:cs typeface="Times New Roman"/>
              </a:rPr>
              <a:t>1-D array </a:t>
            </a:r>
            <a:r>
              <a:rPr sz="2600" dirty="0">
                <a:latin typeface="Times New Roman"/>
                <a:cs typeface="Times New Roman"/>
              </a:rPr>
              <a:t>or </a:t>
            </a:r>
            <a:r>
              <a:rPr sz="2600" b="1" dirty="0">
                <a:latin typeface="Times New Roman"/>
                <a:cs typeface="Times New Roman"/>
              </a:rPr>
              <a:t>single dimensional array </a:t>
            </a:r>
            <a:r>
              <a:rPr sz="2600" dirty="0">
                <a:latin typeface="Times New Roman"/>
                <a:cs typeface="Times New Roman"/>
              </a:rPr>
              <a:t>or </a:t>
            </a:r>
            <a:r>
              <a:rPr sz="2600" b="1" dirty="0">
                <a:latin typeface="Times New Roman"/>
                <a:cs typeface="Times New Roman"/>
              </a:rPr>
              <a:t>linear</a:t>
            </a:r>
            <a:r>
              <a:rPr sz="2600" b="1" spc="-210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latin typeface="Times New Roman"/>
                <a:cs typeface="Times New Roman"/>
              </a:rPr>
              <a:t>list.</a:t>
            </a:r>
            <a:endParaRPr lang="en-IN" sz="2600" b="1" spc="-5" dirty="0">
              <a:latin typeface="Times New Roman"/>
              <a:cs typeface="Times New Roman"/>
            </a:endParaRPr>
          </a:p>
          <a:p>
            <a:pPr marL="469900" marR="73025" indent="-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lang="en-IN" sz="2600" spc="-5" dirty="0">
                <a:latin typeface="Times New Roman"/>
                <a:cs typeface="Times New Roman"/>
              </a:rPr>
              <a:t>It has a single row or column of variable. </a:t>
            </a:r>
          </a:p>
          <a:p>
            <a:pPr marL="469900" marR="73025" indent="-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lang="en-IN" sz="2600" spc="-5" dirty="0">
                <a:latin typeface="Times New Roman"/>
                <a:cs typeface="Times New Roman"/>
              </a:rPr>
              <a:t>It can be used to represent list of data items e.g. Vector. </a:t>
            </a:r>
          </a:p>
          <a:p>
            <a:pPr marL="469900" marR="73025" indent="-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lang="en-IN" sz="2600" spc="-5" dirty="0">
                <a:latin typeface="Times New Roman"/>
                <a:cs typeface="Times New Roman"/>
              </a:rPr>
              <a:t>Generally X[</a:t>
            </a:r>
            <a:r>
              <a:rPr lang="en-IN" sz="2600" spc="-5" dirty="0" err="1">
                <a:latin typeface="Times New Roman"/>
                <a:cs typeface="Times New Roman"/>
              </a:rPr>
              <a:t>i</a:t>
            </a:r>
            <a:r>
              <a:rPr lang="en-IN" sz="2600" spc="-5" dirty="0">
                <a:latin typeface="Times New Roman"/>
                <a:cs typeface="Times New Roman"/>
              </a:rPr>
              <a:t>] is used to refer to its </a:t>
            </a:r>
            <a:r>
              <a:rPr lang="en-IN" sz="2600" spc="-5" dirty="0" err="1">
                <a:latin typeface="Times New Roman"/>
                <a:cs typeface="Times New Roman"/>
              </a:rPr>
              <a:t>ith</a:t>
            </a:r>
            <a:r>
              <a:rPr lang="en-IN" sz="2600" spc="-5" dirty="0">
                <a:latin typeface="Times New Roman"/>
                <a:cs typeface="Times New Roman"/>
              </a:rPr>
              <a:t> element of the array. </a:t>
            </a: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spc="-5" dirty="0">
                <a:latin typeface="Times New Roman"/>
                <a:cs typeface="Times New Roman"/>
              </a:rPr>
              <a:t>	e.g: int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marks[5];</a:t>
            </a:r>
            <a:endParaRPr sz="26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807733"/>
              </p:ext>
            </p:extLst>
          </p:nvPr>
        </p:nvGraphicFramePr>
        <p:xfrm>
          <a:off x="5240020" y="4221795"/>
          <a:ext cx="2268852" cy="365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5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9" y="414349"/>
            <a:ext cx="758063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696363"/>
                </a:solidFill>
              </a:rPr>
              <a:t>One-D array</a:t>
            </a:r>
            <a:r>
              <a:rPr sz="4000" spc="-35" dirty="0">
                <a:solidFill>
                  <a:srgbClr val="696363"/>
                </a:solidFill>
              </a:rPr>
              <a:t> </a:t>
            </a:r>
            <a:r>
              <a:rPr sz="4000" dirty="0">
                <a:solidFill>
                  <a:srgbClr val="696363"/>
                </a:solidFill>
              </a:rPr>
              <a:t>Intialization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462786" y="1166240"/>
            <a:ext cx="9168765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The process of </a:t>
            </a:r>
            <a:r>
              <a:rPr sz="2600" spc="-5" dirty="0">
                <a:latin typeface="Times New Roman"/>
                <a:cs typeface="Times New Roman"/>
              </a:rPr>
              <a:t>assigning </a:t>
            </a:r>
            <a:r>
              <a:rPr sz="2600" dirty="0">
                <a:latin typeface="Times New Roman"/>
                <a:cs typeface="Times New Roman"/>
              </a:rPr>
              <a:t>values to </a:t>
            </a:r>
            <a:r>
              <a:rPr sz="2600" spc="-5" dirty="0">
                <a:latin typeface="Times New Roman"/>
                <a:cs typeface="Times New Roman"/>
              </a:rPr>
              <a:t>array elements </a:t>
            </a:r>
            <a:r>
              <a:rPr sz="2600" dirty="0">
                <a:latin typeface="Times New Roman"/>
                <a:cs typeface="Times New Roman"/>
              </a:rPr>
              <a:t>at the </a:t>
            </a:r>
            <a:r>
              <a:rPr sz="2600" spc="-5" dirty="0">
                <a:latin typeface="Times New Roman"/>
                <a:cs typeface="Times New Roman"/>
              </a:rPr>
              <a:t>time </a:t>
            </a:r>
            <a:r>
              <a:rPr sz="2600" dirty="0">
                <a:latin typeface="Times New Roman"/>
                <a:cs typeface="Times New Roman"/>
              </a:rPr>
              <a:t>of </a:t>
            </a:r>
            <a:r>
              <a:rPr sz="2600" spc="-5" dirty="0">
                <a:latin typeface="Times New Roman"/>
                <a:cs typeface="Times New Roman"/>
              </a:rPr>
              <a:t>array  declaration </a:t>
            </a:r>
            <a:r>
              <a:rPr sz="2600" dirty="0">
                <a:latin typeface="Times New Roman"/>
                <a:cs typeface="Times New Roman"/>
              </a:rPr>
              <a:t>is </a:t>
            </a:r>
            <a:r>
              <a:rPr sz="2600" spc="-5" dirty="0">
                <a:latin typeface="Times New Roman"/>
                <a:cs typeface="Times New Roman"/>
              </a:rPr>
              <a:t>called </a:t>
            </a:r>
            <a:r>
              <a:rPr sz="2600" b="1" dirty="0">
                <a:latin typeface="Times New Roman"/>
                <a:cs typeface="Times New Roman"/>
              </a:rPr>
              <a:t>array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initialization.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4988" y="1901986"/>
            <a:ext cx="6802755" cy="107696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600" b="1" dirty="0">
                <a:latin typeface="Times New Roman"/>
                <a:cs typeface="Times New Roman"/>
              </a:rPr>
              <a:t>Syntax:</a:t>
            </a:r>
            <a:endParaRPr sz="26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  <a:tabLst>
                <a:tab pos="6414135" algn="l"/>
              </a:tabLst>
            </a:pPr>
            <a:r>
              <a:rPr sz="2000" dirty="0">
                <a:latin typeface="Times New Roman"/>
                <a:cs typeface="Times New Roman"/>
              </a:rPr>
              <a:t>data_t</a:t>
            </a:r>
            <a:r>
              <a:rPr sz="2000" spc="-1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pe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</a:t>
            </a:r>
            <a:r>
              <a:rPr sz="2000" spc="-10" dirty="0">
                <a:latin typeface="Times New Roman"/>
                <a:cs typeface="Times New Roman"/>
              </a:rPr>
              <a:t>er[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ng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h]={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};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4988" y="2978946"/>
            <a:ext cx="1770380" cy="12776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09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_type:</a:t>
            </a: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Identifier:</a:t>
            </a:r>
            <a:endParaRPr sz="24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Length: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9401" y="3037939"/>
            <a:ext cx="2590800" cy="1301637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dirty="0">
                <a:latin typeface="Times New Roman"/>
                <a:cs typeface="Times New Roman"/>
              </a:rPr>
              <a:t>Data type of values</a:t>
            </a:r>
            <a:r>
              <a:rPr lang="en-IN" sz="2400" dirty="0">
                <a:latin typeface="Times New Roman"/>
                <a:cs typeface="Times New Roman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spc="-5" dirty="0">
                <a:latin typeface="Times New Roman"/>
                <a:cs typeface="Times New Roman"/>
              </a:rPr>
              <a:t>Name of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25" dirty="0">
                <a:latin typeface="Times New Roman"/>
                <a:cs typeface="Times New Roman"/>
              </a:rPr>
              <a:t>array. </a:t>
            </a:r>
            <a:endParaRPr lang="en-IN" sz="240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400" spc="-5" dirty="0">
                <a:latin typeface="Times New Roman"/>
                <a:cs typeface="Times New Roman"/>
              </a:rPr>
              <a:t>Number 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elements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001" y="4374553"/>
            <a:ext cx="563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9B2C1F"/>
                </a:solidFill>
                <a:latin typeface="Courier New"/>
                <a:cs typeface="Courier New"/>
              </a:rPr>
              <a:t>o</a:t>
            </a:r>
            <a:r>
              <a:rPr sz="2050" spc="-660" dirty="0">
                <a:solidFill>
                  <a:srgbClr val="9B2C1F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List of values: </a:t>
            </a:r>
            <a:r>
              <a:rPr sz="2400" spc="-45" dirty="0">
                <a:latin typeface="Times New Roman"/>
                <a:cs typeface="Times New Roman"/>
              </a:rPr>
              <a:t>Values </a:t>
            </a:r>
            <a:r>
              <a:rPr sz="2400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initialize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30" dirty="0">
                <a:latin typeface="Times New Roman"/>
                <a:cs typeface="Times New Roman"/>
              </a:rPr>
              <a:t>array. </a:t>
            </a:r>
            <a:r>
              <a:rPr lang="en-IN" sz="2400" spc="-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C1BE323-0EC1-4657-B1D4-2CF1085421A6}"/>
              </a:ext>
            </a:extLst>
          </p:cNvPr>
          <p:cNvSpPr txBox="1"/>
          <p:nvPr/>
        </p:nvSpPr>
        <p:spPr>
          <a:xfrm>
            <a:off x="7110158" y="2440466"/>
            <a:ext cx="4018979" cy="281102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00"/>
              </a:spcBef>
              <a:buClr>
                <a:srgbClr val="D24717"/>
              </a:buClr>
              <a:buSzPct val="84615"/>
              <a:buFont typeface="Courier New" panose="02070309020205020404" pitchFamily="49" charset="0"/>
              <a:buChar char="o"/>
              <a:tabLst>
                <a:tab pos="287020" algn="l"/>
              </a:tabLst>
            </a:pPr>
            <a:r>
              <a:rPr sz="2600" b="1" dirty="0">
                <a:latin typeface="Times New Roman"/>
                <a:cs typeface="Times New Roman"/>
              </a:rPr>
              <a:t>Individual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Element:</a:t>
            </a:r>
            <a:endParaRPr lang="en-IN" sz="2600" b="1" dirty="0">
              <a:latin typeface="Times New Roman"/>
              <a:cs typeface="Times New Roman"/>
            </a:endParaRPr>
          </a:p>
          <a:p>
            <a:pPr marL="927100" lvl="1" indent="-457200">
              <a:spcBef>
                <a:spcPts val="7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§"/>
              <a:tabLst>
                <a:tab pos="287020" algn="l"/>
              </a:tabLst>
            </a:pPr>
            <a:r>
              <a:rPr sz="2600" spc="-5" dirty="0" err="1">
                <a:latin typeface="Times New Roman"/>
                <a:cs typeface="Times New Roman"/>
              </a:rPr>
              <a:t>Array_name</a:t>
            </a:r>
            <a:r>
              <a:rPr sz="2600" spc="-5" dirty="0">
                <a:latin typeface="Times New Roman"/>
                <a:cs typeface="Times New Roman"/>
              </a:rPr>
              <a:t>[index];</a:t>
            </a:r>
            <a:endParaRPr sz="26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Courier New" panose="02070309020205020404" pitchFamily="49" charset="0"/>
              <a:buChar char="o"/>
              <a:tabLst>
                <a:tab pos="287020" algn="l"/>
              </a:tabLst>
            </a:pPr>
            <a:r>
              <a:rPr sz="2600" b="1" dirty="0">
                <a:latin typeface="Times New Roman"/>
                <a:cs typeface="Times New Roman"/>
              </a:rPr>
              <a:t>Using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Loop:</a:t>
            </a:r>
            <a:endParaRPr lang="en-IN" sz="2600" b="1" dirty="0">
              <a:latin typeface="Times New Roman"/>
              <a:cs typeface="Times New Roman"/>
            </a:endParaRPr>
          </a:p>
          <a:p>
            <a:pPr marL="927100" lvl="1" indent="-457200">
              <a:spcBef>
                <a:spcPts val="6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§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int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marks[</a:t>
            </a:r>
            <a:r>
              <a:rPr lang="en-IN" sz="2600" spc="-5" dirty="0">
                <a:latin typeface="Times New Roman"/>
                <a:cs typeface="Times New Roman"/>
              </a:rPr>
              <a:t>10</a:t>
            </a:r>
            <a:r>
              <a:rPr sz="2600" spc="-5" dirty="0">
                <a:latin typeface="Times New Roman"/>
                <a:cs typeface="Times New Roman"/>
              </a:rPr>
              <a:t>];</a:t>
            </a:r>
            <a:endParaRPr lang="en-IN" sz="2600" spc="-5" dirty="0">
              <a:latin typeface="Times New Roman"/>
              <a:cs typeface="Times New Roman"/>
            </a:endParaRPr>
          </a:p>
          <a:p>
            <a:pPr marL="927100" lvl="1" indent="-457200">
              <a:spcBef>
                <a:spcPts val="600"/>
              </a:spcBef>
              <a:buClr>
                <a:srgbClr val="D24717"/>
              </a:buClr>
              <a:buSzPct val="84615"/>
              <a:buFont typeface="Wingdings" panose="05000000000000000000" pitchFamily="2" charset="2"/>
              <a:buChar char="§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for(int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i=0;i&lt;=</a:t>
            </a:r>
            <a:r>
              <a:rPr lang="en-IN" sz="2600" spc="-5" dirty="0">
                <a:latin typeface="Times New Roman"/>
                <a:cs typeface="Times New Roman"/>
              </a:rPr>
              <a:t>9</a:t>
            </a:r>
            <a:r>
              <a:rPr sz="2600" spc="-5" dirty="0">
                <a:latin typeface="Times New Roman"/>
                <a:cs typeface="Times New Roman"/>
              </a:rPr>
              <a:t>;i++)  marks[i]=i;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9" y="392633"/>
            <a:ext cx="575183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696363"/>
                </a:solidFill>
                <a:latin typeface="Arial"/>
                <a:cs typeface="Arial"/>
              </a:rPr>
              <a:t>Two-D</a:t>
            </a:r>
            <a:r>
              <a:rPr sz="4000" spc="-27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Arrays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879558" y="1074488"/>
            <a:ext cx="10779042" cy="198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73025" indent="-457200" defTabSz="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sz="1800" spc="-5" dirty="0">
                <a:latin typeface="Times New Roman"/>
                <a:cs typeface="Times New Roman"/>
              </a:rPr>
              <a:t>Two-D array </a:t>
            </a:r>
            <a:r>
              <a:rPr lang="en-IN" sz="1800" spc="-5" dirty="0">
                <a:latin typeface="Times New Roman"/>
                <a:cs typeface="Times New Roman"/>
              </a:rPr>
              <a:t>has two columns of values </a:t>
            </a:r>
            <a:r>
              <a:rPr sz="1800" spc="-5" dirty="0">
                <a:latin typeface="Times New Roman"/>
                <a:cs typeface="Times New Roman"/>
              </a:rPr>
              <a:t>c</a:t>
            </a:r>
            <a:r>
              <a:rPr lang="en-IN" sz="1800" spc="-5" dirty="0">
                <a:latin typeface="Times New Roman"/>
                <a:cs typeface="Times New Roman"/>
              </a:rPr>
              <a:t>an be described as </a:t>
            </a:r>
            <a:r>
              <a:rPr sz="1800" spc="-5" dirty="0">
                <a:latin typeface="Times New Roman"/>
                <a:cs typeface="Times New Roman"/>
              </a:rPr>
              <a:t>rows and  columns.</a:t>
            </a:r>
            <a:endParaRPr lang="en-IN" sz="1800" spc="-5" dirty="0">
              <a:latin typeface="Times New Roman"/>
              <a:cs typeface="Times New Roman"/>
            </a:endParaRPr>
          </a:p>
          <a:p>
            <a:pPr marL="469900" marR="73025" indent="-457200" defTabSz="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sz="1800" spc="-5" dirty="0">
                <a:latin typeface="Times New Roman"/>
                <a:cs typeface="Times New Roman"/>
              </a:rPr>
              <a:t> Each element in 2-D array is refered with the help of two  indexes.</a:t>
            </a:r>
            <a:endParaRPr lang="en-IN" sz="1800" spc="-5" dirty="0">
              <a:latin typeface="Times New Roman"/>
              <a:cs typeface="Times New Roman"/>
            </a:endParaRPr>
          </a:p>
          <a:p>
            <a:pPr marL="469900" marR="73025" indent="-457200" defTabSz="457200">
              <a:lnSpc>
                <a:spcPts val="2810"/>
              </a:lnSpc>
              <a:spcBef>
                <a:spcPts val="455"/>
              </a:spcBef>
              <a:buFont typeface="Wingdings" panose="05000000000000000000" pitchFamily="2" charset="2"/>
              <a:buChar char="ü"/>
            </a:pPr>
            <a:r>
              <a:rPr lang="en-IN" sz="1800" spc="-5" dirty="0">
                <a:latin typeface="Times New Roman"/>
                <a:cs typeface="Times New Roman"/>
              </a:rPr>
              <a:t>Can be referred as matrix or table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endParaRPr lang="en-IN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b="1" dirty="0">
                <a:latin typeface="Arial"/>
                <a:cs typeface="Arial"/>
              </a:rPr>
              <a:t>Declaring 2-D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Array: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55419" y="3037205"/>
            <a:ext cx="2816718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Data type </a:t>
            </a:r>
            <a:r>
              <a:rPr lang="en-IN" sz="2400" dirty="0">
                <a:latin typeface="Arial"/>
                <a:cs typeface="Arial"/>
              </a:rPr>
              <a:t>of values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969056"/>
            <a:ext cx="1895475" cy="16922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500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935" algn="l"/>
              </a:tabLst>
            </a:pPr>
            <a:r>
              <a:rPr sz="2400" b="1" spc="-5" dirty="0">
                <a:latin typeface="Arial"/>
                <a:cs typeface="Arial"/>
              </a:rPr>
              <a:t>Data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_type:</a:t>
            </a:r>
            <a:endParaRPr sz="2400" dirty="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935" algn="l"/>
              </a:tabLst>
            </a:pPr>
            <a:r>
              <a:rPr sz="2400" b="1" dirty="0">
                <a:latin typeface="Arial"/>
                <a:cs typeface="Arial"/>
              </a:rPr>
              <a:t>Identifier:</a:t>
            </a:r>
            <a:endParaRPr sz="2400" dirty="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935" algn="l"/>
              </a:tabLst>
            </a:pPr>
            <a:r>
              <a:rPr sz="2400" b="1" dirty="0">
                <a:latin typeface="Arial"/>
                <a:cs typeface="Arial"/>
              </a:rPr>
              <a:t>Rows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241935" algn="l"/>
              </a:tabLst>
            </a:pPr>
            <a:r>
              <a:rPr sz="2400" b="1" spc="-5" dirty="0">
                <a:latin typeface="Arial"/>
                <a:cs typeface="Arial"/>
              </a:rPr>
              <a:t>Column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0050" y="3389190"/>
            <a:ext cx="4505150" cy="127534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spc="-5" dirty="0">
                <a:latin typeface="Arial"/>
                <a:cs typeface="Arial"/>
              </a:rPr>
              <a:t>Name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array.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spc="-5" dirty="0">
                <a:latin typeface="Arial"/>
                <a:cs typeface="Arial"/>
              </a:rPr>
              <a:t>#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Rows in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table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array.</a:t>
            </a:r>
            <a:endParaRPr lang="en-IN" sz="2400" spc="-3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Arial"/>
                <a:cs typeface="Arial"/>
              </a:rPr>
              <a:t># of </a:t>
            </a:r>
            <a:r>
              <a:rPr sz="2400" spc="-5" dirty="0">
                <a:latin typeface="Arial"/>
                <a:cs typeface="Arial"/>
              </a:rPr>
              <a:t>Columns </a:t>
            </a:r>
            <a:r>
              <a:rPr sz="2400" dirty="0">
                <a:latin typeface="Arial"/>
                <a:cs typeface="Arial"/>
              </a:rPr>
              <a:t>in the </a:t>
            </a:r>
            <a:r>
              <a:rPr sz="2400" spc="-5" dirty="0">
                <a:latin typeface="Arial"/>
                <a:cs typeface="Arial"/>
              </a:rPr>
              <a:t>table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 err="1">
                <a:latin typeface="Arial"/>
                <a:cs typeface="Arial"/>
              </a:rPr>
              <a:t>arr</a:t>
            </a:r>
            <a:r>
              <a:rPr lang="en-IN" sz="2400" dirty="0">
                <a:latin typeface="Arial"/>
                <a:cs typeface="Arial"/>
              </a:rPr>
              <a:t>ay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81A06C-AE4A-40A9-86FD-DB676EC1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944" y="2690517"/>
            <a:ext cx="4524375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A37C-6570-495C-A42C-3FE43007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53083"/>
          </a:xfrm>
        </p:spPr>
        <p:txBody>
          <a:bodyPr/>
          <a:lstStyle/>
          <a:p>
            <a:r>
              <a:rPr lang="en-US" dirty="0"/>
              <a:t>Mapping of array elements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960C5-EC60-4970-BCF4-AAAEA489E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9663" y="2373481"/>
            <a:ext cx="4800599" cy="327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160A1-25B4-44EB-8A48-ECBA9A8B5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28800"/>
            <a:ext cx="8077200" cy="819150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C40F0B54-FF3D-483D-A50B-AB3B6A1A45C3}"/>
              </a:ext>
            </a:extLst>
          </p:cNvPr>
          <p:cNvSpPr txBox="1"/>
          <p:nvPr/>
        </p:nvSpPr>
        <p:spPr>
          <a:xfrm>
            <a:off x="685800" y="1394707"/>
            <a:ext cx="4505150" cy="434093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400" spc="-5" dirty="0">
                <a:latin typeface="Arial"/>
                <a:cs typeface="Arial"/>
              </a:rPr>
              <a:t>Row Major Ordering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B447674-346E-4A54-842D-4C0E97C9793C}"/>
              </a:ext>
            </a:extLst>
          </p:cNvPr>
          <p:cNvSpPr txBox="1"/>
          <p:nvPr/>
        </p:nvSpPr>
        <p:spPr>
          <a:xfrm>
            <a:off x="321494" y="4210051"/>
            <a:ext cx="4505150" cy="434093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400" spc="-5" dirty="0">
                <a:latin typeface="Arial"/>
                <a:cs typeface="Arial"/>
              </a:rPr>
              <a:t>Column Major Ordering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62429D-1007-4B91-8B47-A12BC0673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24" y="5650081"/>
            <a:ext cx="9496425" cy="8763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922BE1-DC88-4067-84DA-F634F6298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205" y="2430631"/>
            <a:ext cx="3876675" cy="3219450"/>
          </a:xfrm>
          <a:prstGeom prst="rect">
            <a:avLst/>
          </a:prstGeom>
        </p:spPr>
      </p:pic>
      <p:pic>
        <p:nvPicPr>
          <p:cNvPr id="28" name="Picture 27" descr="Fig Source: https://www.javatpoint.com/data-structure-2d-array">
            <a:extLst>
              <a:ext uri="{FF2B5EF4-FFF2-40B4-BE49-F238E27FC236}">
                <a16:creationId xmlns:a16="http://schemas.microsoft.com/office/drawing/2014/main" id="{7F1863AF-98C0-4ABA-8D0A-4C1C251CFB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592" y="2533650"/>
            <a:ext cx="3771900" cy="33337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A64EA6C-5D29-4720-A3D6-1AE603B3FD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4" y="2963377"/>
            <a:ext cx="4276725" cy="33337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DDBEC36-DCCD-4834-86E0-536D7008EF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054" y="4908887"/>
            <a:ext cx="4029075" cy="381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6E20A1-A4C1-4646-8FA6-0E963A1048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27" y="6549391"/>
            <a:ext cx="928687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69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9" y="582548"/>
            <a:ext cx="849503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696363"/>
                </a:solidFill>
                <a:latin typeface="Arial"/>
                <a:cs typeface="Arial"/>
              </a:rPr>
              <a:t>Two-D </a:t>
            </a: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array</a:t>
            </a:r>
            <a:r>
              <a:rPr sz="4000" spc="5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Intialization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104" y="1676400"/>
            <a:ext cx="6705600" cy="3624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35330" algn="just">
              <a:lnSpc>
                <a:spcPct val="100000"/>
              </a:lnSpc>
              <a:spcBef>
                <a:spcPts val="105"/>
              </a:spcBef>
            </a:pPr>
            <a:endParaRPr lang="en-IN" sz="2600" dirty="0">
              <a:latin typeface="Arial"/>
              <a:cs typeface="Arial"/>
            </a:endParaRPr>
          </a:p>
          <a:p>
            <a:pPr marL="561340" marR="5080" indent="-228600" algn="just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561975" algn="l"/>
              </a:tabLst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elements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each row are enclosed within braces and seperated by  comma.</a:t>
            </a:r>
            <a:endParaRPr lang="en-IN" sz="2400" spc="-5" dirty="0">
              <a:latin typeface="Arial"/>
              <a:cs typeface="Arial"/>
            </a:endParaRPr>
          </a:p>
          <a:p>
            <a:pPr marL="561340" marR="5080" indent="-228600" algn="just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561975" algn="l"/>
              </a:tabLst>
            </a:pPr>
            <a:endParaRPr sz="2400" dirty="0">
              <a:latin typeface="Arial"/>
              <a:cs typeface="Arial"/>
            </a:endParaRPr>
          </a:p>
          <a:p>
            <a:pPr marL="561340" indent="-229235" algn="just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561975" algn="l"/>
              </a:tabLst>
            </a:pPr>
            <a:r>
              <a:rPr sz="2400" spc="-5" dirty="0">
                <a:latin typeface="Arial"/>
                <a:cs typeface="Arial"/>
              </a:rPr>
              <a:t>All rows are enclosed within</a:t>
            </a:r>
            <a:r>
              <a:rPr sz="2400" spc="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braces.</a:t>
            </a:r>
            <a:endParaRPr lang="en-IN" sz="2400" dirty="0">
              <a:latin typeface="Arial"/>
              <a:cs typeface="Arial"/>
            </a:endParaRPr>
          </a:p>
          <a:p>
            <a:pPr marL="561340" indent="-229235" algn="just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561975" algn="l"/>
              </a:tabLst>
            </a:pPr>
            <a:endParaRPr sz="2400" dirty="0">
              <a:latin typeface="Arial"/>
              <a:cs typeface="Arial"/>
            </a:endParaRPr>
          </a:p>
          <a:p>
            <a:pPr marL="561340" marR="401955" indent="-228600" algn="just">
              <a:lnSpc>
                <a:spcPct val="100000"/>
              </a:lnSpc>
              <a:spcBef>
                <a:spcPts val="405"/>
              </a:spcBef>
              <a:buClr>
                <a:srgbClr val="9B2C1F"/>
              </a:buClr>
              <a:buSzPct val="85416"/>
              <a:buFont typeface="Courier New"/>
              <a:buChar char="o"/>
              <a:tabLst>
                <a:tab pos="561975" algn="l"/>
              </a:tabLst>
            </a:pP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number arrays,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all elements are </a:t>
            </a:r>
            <a:r>
              <a:rPr sz="2400" dirty="0">
                <a:latin typeface="Arial"/>
                <a:cs typeface="Arial"/>
              </a:rPr>
              <a:t>not </a:t>
            </a:r>
            <a:r>
              <a:rPr sz="2400" spc="-5" dirty="0">
                <a:latin typeface="Arial"/>
                <a:cs typeface="Arial"/>
              </a:rPr>
              <a:t>specified </a:t>
            </a:r>
            <a:r>
              <a:rPr sz="2400" dirty="0">
                <a:latin typeface="Arial"/>
                <a:cs typeface="Arial"/>
              </a:rPr>
              <a:t>, the </a:t>
            </a:r>
            <a:r>
              <a:rPr sz="2400" spc="-5" dirty="0">
                <a:latin typeface="Arial"/>
                <a:cs typeface="Arial"/>
              </a:rPr>
              <a:t>un specified  elements are initialized by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zero.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2F570-7DC8-4B7A-9BCD-7677FA07D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106" y="1981200"/>
            <a:ext cx="497205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3369" y="582548"/>
            <a:ext cx="7880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solidFill>
                  <a:srgbClr val="696363"/>
                </a:solidFill>
                <a:latin typeface="Arial"/>
                <a:cs typeface="Arial"/>
              </a:rPr>
              <a:t>Two-D </a:t>
            </a: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array</a:t>
            </a:r>
            <a:r>
              <a:rPr sz="4000" spc="5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696363"/>
                </a:solidFill>
                <a:latin typeface="Arial"/>
                <a:cs typeface="Arial"/>
              </a:rPr>
              <a:t>Intialization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5099579"/>
            <a:ext cx="9933622" cy="96693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b="1" dirty="0">
                <a:latin typeface="Arial"/>
                <a:cs typeface="Arial"/>
              </a:rPr>
              <a:t>Syntax:</a:t>
            </a:r>
            <a:endParaRPr sz="26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Arial"/>
                <a:cs typeface="Arial"/>
              </a:rPr>
              <a:t>int </a:t>
            </a:r>
            <a:r>
              <a:rPr sz="2600" dirty="0" err="1">
                <a:latin typeface="Arial"/>
                <a:cs typeface="Arial"/>
              </a:rPr>
              <a:t>arr</a:t>
            </a:r>
            <a:r>
              <a:rPr sz="2600" dirty="0">
                <a:latin typeface="Arial"/>
                <a:cs typeface="Arial"/>
              </a:rPr>
              <a:t>[</a:t>
            </a:r>
            <a:r>
              <a:rPr lang="en-IN" sz="2600" dirty="0">
                <a:latin typeface="Arial"/>
                <a:cs typeface="Arial"/>
              </a:rPr>
              <a:t>3</a:t>
            </a:r>
            <a:r>
              <a:rPr sz="2600" dirty="0">
                <a:latin typeface="Arial"/>
                <a:cs typeface="Arial"/>
              </a:rPr>
              <a:t>][3</a:t>
            </a:r>
            <a:r>
              <a:rPr lang="en-US" sz="2600" dirty="0">
                <a:latin typeface="Arial"/>
                <a:cs typeface="Arial"/>
              </a:rPr>
              <a:t>] = { {12,5,22}, {95,3,41}, {77,6,53}}</a:t>
            </a:r>
            <a:endParaRPr sz="26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09847"/>
              </p:ext>
            </p:extLst>
          </p:nvPr>
        </p:nvGraphicFramePr>
        <p:xfrm>
          <a:off x="7473568" y="2566797"/>
          <a:ext cx="2315210" cy="2229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40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22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40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95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41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77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40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84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59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62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6574523" y="1780031"/>
            <a:ext cx="1013460" cy="889635"/>
          </a:xfrm>
          <a:custGeom>
            <a:avLst/>
            <a:gdLst/>
            <a:ahLst/>
            <a:cxnLst/>
            <a:rect l="l" t="t" r="r" b="b"/>
            <a:pathLst>
              <a:path w="1013459" h="889635">
                <a:moveTo>
                  <a:pt x="1013218" y="542544"/>
                </a:moveTo>
                <a:lnTo>
                  <a:pt x="1000518" y="536194"/>
                </a:lnTo>
                <a:lnTo>
                  <a:pt x="937018" y="504444"/>
                </a:lnTo>
                <a:lnTo>
                  <a:pt x="937018" y="536194"/>
                </a:lnTo>
                <a:lnTo>
                  <a:pt x="628154" y="536194"/>
                </a:lnTo>
                <a:lnTo>
                  <a:pt x="628154" y="0"/>
                </a:lnTo>
                <a:lnTo>
                  <a:pt x="615454" y="0"/>
                </a:lnTo>
                <a:lnTo>
                  <a:pt x="615454" y="536194"/>
                </a:lnTo>
                <a:lnTo>
                  <a:pt x="0" y="536194"/>
                </a:lnTo>
                <a:lnTo>
                  <a:pt x="0" y="548894"/>
                </a:lnTo>
                <a:lnTo>
                  <a:pt x="615454" y="548894"/>
                </a:lnTo>
                <a:lnTo>
                  <a:pt x="615454" y="813435"/>
                </a:lnTo>
                <a:lnTo>
                  <a:pt x="583704" y="813435"/>
                </a:lnTo>
                <a:lnTo>
                  <a:pt x="621804" y="889635"/>
                </a:lnTo>
                <a:lnTo>
                  <a:pt x="653554" y="826135"/>
                </a:lnTo>
                <a:lnTo>
                  <a:pt x="659904" y="813435"/>
                </a:lnTo>
                <a:lnTo>
                  <a:pt x="628154" y="813435"/>
                </a:lnTo>
                <a:lnTo>
                  <a:pt x="628154" y="548894"/>
                </a:lnTo>
                <a:lnTo>
                  <a:pt x="937018" y="548894"/>
                </a:lnTo>
                <a:lnTo>
                  <a:pt x="937018" y="580644"/>
                </a:lnTo>
                <a:lnTo>
                  <a:pt x="1000518" y="548894"/>
                </a:lnTo>
                <a:lnTo>
                  <a:pt x="1013218" y="5425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33732" y="2143760"/>
            <a:ext cx="724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Column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3276" y="1432052"/>
            <a:ext cx="72453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Row  indexes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3556" y="269671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05190" y="21285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98434" y="21285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91319" y="212852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F6C40925-62A6-44BA-85CE-6132A1BE1759}"/>
              </a:ext>
            </a:extLst>
          </p:cNvPr>
          <p:cNvSpPr txBox="1"/>
          <p:nvPr/>
        </p:nvSpPr>
        <p:spPr>
          <a:xfrm>
            <a:off x="7063137" y="3232149"/>
            <a:ext cx="273871" cy="14497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lang="en-IN" dirty="0">
                <a:latin typeface="Arial"/>
                <a:cs typeface="Arial"/>
              </a:rPr>
              <a:t>1</a:t>
            </a: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endParaRPr lang="en-IN" sz="18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endParaRPr lang="en-IN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endParaRPr lang="en-IN" sz="1800" spc="-5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1800" spc="-5" dirty="0">
                <a:latin typeface="Arial"/>
                <a:cs typeface="Arial"/>
              </a:rPr>
              <a:t>3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B8A161-B6C7-4AF6-A865-5A4AC3DC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55" y="1432052"/>
            <a:ext cx="7105650" cy="3933825"/>
          </a:xfrm>
          <a:prstGeom prst="rect">
            <a:avLst/>
          </a:prstGeom>
        </p:spPr>
      </p:pic>
      <p:sp>
        <p:nvSpPr>
          <p:cNvPr id="18" name="object 4">
            <a:extLst>
              <a:ext uri="{FF2B5EF4-FFF2-40B4-BE49-F238E27FC236}">
                <a16:creationId xmlns:a16="http://schemas.microsoft.com/office/drawing/2014/main" id="{E77CBBBD-3AD4-46AB-B6A7-D248101A0CE3}"/>
              </a:ext>
            </a:extLst>
          </p:cNvPr>
          <p:cNvSpPr txBox="1"/>
          <p:nvPr/>
        </p:nvSpPr>
        <p:spPr>
          <a:xfrm>
            <a:off x="212788" y="821816"/>
            <a:ext cx="6802755" cy="107696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600" b="1" dirty="0">
                <a:latin typeface="Times New Roman"/>
                <a:cs typeface="Times New Roman"/>
              </a:rPr>
              <a:t>Syntax:</a:t>
            </a:r>
            <a:endParaRPr sz="26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  <a:tabLst>
                <a:tab pos="6414135" algn="l"/>
              </a:tabLst>
            </a:pPr>
            <a:r>
              <a:rPr sz="2000" dirty="0">
                <a:latin typeface="Times New Roman"/>
                <a:cs typeface="Times New Roman"/>
              </a:rPr>
              <a:t>data_t</a:t>
            </a:r>
            <a:r>
              <a:rPr sz="2000" spc="-10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pe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identifi</a:t>
            </a:r>
            <a:r>
              <a:rPr sz="2000" spc="-10" dirty="0">
                <a:latin typeface="Times New Roman"/>
                <a:cs typeface="Times New Roman"/>
              </a:rPr>
              <a:t>er[</a:t>
            </a:r>
            <a:r>
              <a:rPr lang="en-IN" sz="2000" spc="-10" dirty="0">
                <a:latin typeface="Times New Roman"/>
                <a:cs typeface="Times New Roman"/>
              </a:rPr>
              <a:t>row</a:t>
            </a:r>
            <a:r>
              <a:rPr sz="2000" dirty="0">
                <a:latin typeface="Times New Roman"/>
                <a:cs typeface="Times New Roman"/>
              </a:rPr>
              <a:t>]</a:t>
            </a:r>
            <a:r>
              <a:rPr lang="en-IN" sz="2000" dirty="0">
                <a:latin typeface="Times New Roman"/>
                <a:cs typeface="Times New Roman"/>
              </a:rPr>
              <a:t>[column]</a:t>
            </a:r>
            <a:r>
              <a:rPr sz="2000" dirty="0">
                <a:latin typeface="Times New Roman"/>
                <a:cs typeface="Times New Roman"/>
              </a:rPr>
              <a:t>={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};	</a:t>
            </a: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661AA867-D064-48D8-9B6C-1AE35457D6DE}"/>
              </a:ext>
            </a:extLst>
          </p:cNvPr>
          <p:cNvSpPr txBox="1"/>
          <p:nvPr/>
        </p:nvSpPr>
        <p:spPr>
          <a:xfrm>
            <a:off x="273546" y="1997731"/>
            <a:ext cx="4238118" cy="1138132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lang="en-IN" sz="2600" b="1" dirty="0">
                <a:latin typeface="Times New Roman"/>
                <a:cs typeface="Times New Roman"/>
              </a:rPr>
              <a:t>Total no. of elements </a:t>
            </a:r>
            <a:endParaRPr lang="en-IN" sz="2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lang="en-IN" sz="2000" dirty="0">
                <a:latin typeface="Times New Roman"/>
                <a:cs typeface="Times New Roman"/>
              </a:rPr>
              <a:t>                             </a:t>
            </a:r>
            <a:r>
              <a:rPr lang="en-IN" sz="2000" dirty="0">
                <a:solidFill>
                  <a:srgbClr val="0070C0"/>
                </a:solidFill>
                <a:latin typeface="Times New Roman"/>
                <a:cs typeface="Times New Roman"/>
              </a:rPr>
              <a:t>Row X column</a:t>
            </a:r>
            <a:r>
              <a:rPr sz="2000" dirty="0">
                <a:latin typeface="Times New Roman"/>
                <a:cs typeface="Times New Roman"/>
              </a:rPr>
              <a:t>	</a:t>
            </a: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3856AB2B-EFBC-448A-BCE3-1C79D5C8788C}"/>
              </a:ext>
            </a:extLst>
          </p:cNvPr>
          <p:cNvSpPr txBox="1"/>
          <p:nvPr/>
        </p:nvSpPr>
        <p:spPr>
          <a:xfrm>
            <a:off x="256438" y="3351117"/>
            <a:ext cx="4238118" cy="17511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If int a[2][3] = {1,2,3,4}; the values are assigned from the left end to a[0][0], a[0][1], a[0][2], a[1][0] according to the order of storage representation. All other elements are initialised to 0. </a:t>
            </a:r>
            <a:endParaRPr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19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35EA-32FB-48BB-BA50-295D0CDF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7D322-A43D-402A-9746-A89E43EA8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00201"/>
            <a:ext cx="4267825" cy="41910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cap="none" dirty="0"/>
              <a:t>#include&lt;stdio.h&gt;</a:t>
            </a:r>
            <a:r>
              <a:rPr lang="en-IN" sz="5600" dirty="0"/>
              <a:t>  </a:t>
            </a:r>
          </a:p>
          <a:p>
            <a:pPr marL="0" indent="0">
              <a:buNone/>
            </a:pPr>
            <a:r>
              <a:rPr lang="en-IN" sz="6400" b="1" cap="none" dirty="0"/>
              <a:t>int</a:t>
            </a:r>
            <a:r>
              <a:rPr lang="en-IN" sz="6400" cap="none" dirty="0"/>
              <a:t> main(){      </a:t>
            </a:r>
          </a:p>
          <a:p>
            <a:pPr marL="0" indent="0">
              <a:buNone/>
            </a:pPr>
            <a:r>
              <a:rPr lang="en-IN" sz="6400" b="1" cap="none" dirty="0"/>
              <a:t>int</a:t>
            </a:r>
            <a:r>
              <a:rPr lang="en-IN" sz="6400" cap="none" dirty="0"/>
              <a:t> </a:t>
            </a:r>
            <a:r>
              <a:rPr lang="en-IN" sz="6400" cap="none" dirty="0" err="1"/>
              <a:t>i</a:t>
            </a:r>
            <a:r>
              <a:rPr lang="en-IN" sz="6400" cap="none" dirty="0"/>
              <a:t>=0,j=0;    </a:t>
            </a:r>
          </a:p>
          <a:p>
            <a:pPr marL="0" indent="0">
              <a:buNone/>
            </a:pPr>
            <a:r>
              <a:rPr lang="en-IN" sz="6400" b="1" cap="none" dirty="0"/>
              <a:t>int</a:t>
            </a:r>
            <a:r>
              <a:rPr lang="en-IN" sz="6400" cap="none" dirty="0"/>
              <a:t> </a:t>
            </a:r>
            <a:r>
              <a:rPr lang="en-IN" sz="6400" cap="none" dirty="0" err="1"/>
              <a:t>arr</a:t>
            </a:r>
            <a:r>
              <a:rPr lang="en-IN" sz="6400" cap="none" dirty="0"/>
              <a:t>[4][3]={{1,2,3},{2,3,4},{3,4,5},{4,5,6}};     </a:t>
            </a:r>
          </a:p>
          <a:p>
            <a:pPr marL="0" indent="0">
              <a:buNone/>
            </a:pPr>
            <a:r>
              <a:rPr lang="en-IN" sz="6400" cap="none" dirty="0"/>
              <a:t>//traversing 2d array    </a:t>
            </a:r>
          </a:p>
          <a:p>
            <a:pPr marL="0" indent="0">
              <a:buNone/>
            </a:pPr>
            <a:r>
              <a:rPr lang="en-IN" sz="6400" b="1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IN" sz="6400" cap="non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=0;i&lt;4;i++){    </a:t>
            </a:r>
          </a:p>
          <a:p>
            <a:pPr marL="0" indent="0">
              <a:buNone/>
            </a:pP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</a:t>
            </a:r>
            <a:r>
              <a:rPr lang="en-IN" sz="6400" b="1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(j=0;j&lt;3;j++){    </a:t>
            </a:r>
          </a:p>
          <a:p>
            <a:pPr marL="0" indent="0">
              <a:buNone/>
            </a:pP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   </a:t>
            </a:r>
            <a:r>
              <a:rPr lang="en-IN" sz="6400" cap="non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printf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("</a:t>
            </a:r>
            <a:r>
              <a:rPr lang="en-IN" sz="6400" cap="non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arr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[%d] [%d] = %d \n",</a:t>
            </a:r>
            <a:r>
              <a:rPr lang="en-IN" sz="6400" cap="non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i,j,arr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</a:t>
            </a:r>
            <a:r>
              <a:rPr lang="en-IN" sz="6400" cap="none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</a:t>
            </a:r>
            <a:r>
              <a:rPr lang="en-IN" sz="6400" cap="non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][j]);    </a:t>
            </a:r>
          </a:p>
          <a:p>
            <a:pPr marL="0" indent="0">
              <a:buNone/>
            </a:pPr>
            <a:r>
              <a:rPr lang="en-IN" sz="6400" cap="none" dirty="0"/>
              <a:t> }//end of j    </a:t>
            </a:r>
          </a:p>
          <a:p>
            <a:pPr marL="0" indent="0">
              <a:buNone/>
            </a:pPr>
            <a:r>
              <a:rPr lang="en-IN" sz="6400" cap="none" dirty="0"/>
              <a:t>}//end of </a:t>
            </a:r>
            <a:r>
              <a:rPr lang="en-IN" sz="6400" cap="none" dirty="0" err="1"/>
              <a:t>i</a:t>
            </a:r>
            <a:r>
              <a:rPr lang="en-IN" sz="6400" cap="none" dirty="0"/>
              <a:t>    </a:t>
            </a:r>
          </a:p>
          <a:p>
            <a:pPr marL="0" indent="0">
              <a:buNone/>
            </a:pPr>
            <a:r>
              <a:rPr lang="en-IN" sz="6400" b="1" cap="none" dirty="0"/>
              <a:t>return</a:t>
            </a:r>
            <a:r>
              <a:rPr lang="en-IN" sz="6400" cap="none" dirty="0"/>
              <a:t> 0;  </a:t>
            </a:r>
          </a:p>
          <a:p>
            <a:pPr marL="0" indent="0">
              <a:buNone/>
            </a:pPr>
            <a:r>
              <a:rPr lang="en-IN" sz="6400" cap="none" dirty="0"/>
              <a:t>} 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066571-A01D-4F72-A345-662CA0B2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40748"/>
            <a:ext cx="18288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7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1CBB-1C16-404D-B40C-E3BA65333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2C0FF1-6A9C-46DE-B529-00EA33B02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0" y="1295400"/>
            <a:ext cx="4267200" cy="50292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E35A54-3821-49D1-8C69-38AC75D0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33" y="1641989"/>
            <a:ext cx="4267200" cy="460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16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F897-A637-4080-9E1D-1B0C4CEF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375" y="162561"/>
            <a:ext cx="10364451" cy="828040"/>
          </a:xfrm>
        </p:spPr>
        <p:txBody>
          <a:bodyPr/>
          <a:lstStyle/>
          <a:p>
            <a:r>
              <a:rPr lang="en-IN" dirty="0"/>
              <a:t>What will be the output?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FB968-91BD-40EF-BA0A-24F20307A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FC228-55F9-4CFD-9B3B-77B328D2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6" y="1026161"/>
            <a:ext cx="6696075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5E573-F870-4493-B81C-B77E229D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048000"/>
            <a:ext cx="5172075" cy="215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FA557-F532-4A42-8F87-69A7CC5C6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854" y="5200650"/>
            <a:ext cx="4495800" cy="409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C26618-0EF3-43B9-B7ED-997ACD87A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040" y="3200400"/>
            <a:ext cx="36861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65B3-C182-4488-9B42-F2877196F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364451" cy="1596177"/>
          </a:xfrm>
        </p:spPr>
        <p:txBody>
          <a:bodyPr/>
          <a:lstStyle/>
          <a:p>
            <a:r>
              <a:rPr lang="en-IN" dirty="0"/>
              <a:t>Sparse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32334-BA5E-4CA6-A4C0-E88C33D84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334" y="1705886"/>
            <a:ext cx="10364452" cy="3424107"/>
          </a:xfrm>
        </p:spPr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Sparse matrix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matrix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which contains very few non-zero elements. When a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sparse matrix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represented with a 2-dimensional array, we waste a lot of space to represent that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matrix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For example, consider a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matrix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size 100 X 100 containing only 10 non-zero elements.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A7EA95-F3E6-4872-A6AC-64E2A26E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423920"/>
            <a:ext cx="629602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33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5B2AD-4071-4F53-8C64-562C1890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Sparse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4875-DAD0-45AA-8D60-7B244D327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dirty="0">
                <a:effectLst/>
                <a:latin typeface="Roboto"/>
              </a:rPr>
              <a:t>Why to use Sparse Matrix instead of simple matrix ?</a:t>
            </a:r>
            <a:endParaRPr lang="en-US" b="0" i="0" dirty="0">
              <a:effectLst/>
              <a:latin typeface="Robot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Roboto"/>
              </a:rPr>
              <a:t>Storage: </a:t>
            </a:r>
            <a:r>
              <a:rPr lang="en-US" b="0" i="0" dirty="0">
                <a:effectLst/>
                <a:latin typeface="Roboto"/>
              </a:rPr>
              <a:t>There are lesser non-zero elements than zeros and thus lesser memory can be used to store only those elements.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Roboto"/>
              </a:rPr>
              <a:t>Computing time:</a:t>
            </a:r>
            <a:r>
              <a:rPr lang="en-US" b="0" i="0" dirty="0">
                <a:effectLst/>
                <a:latin typeface="Roboto"/>
              </a:rPr>
              <a:t> Computing time can be saved by logically designing a data structure traversing only non-zero elements..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. Source: https://beginnersbook.com/2017/08/cpp-multidimensional-arrays/">
            <a:extLst>
              <a:ext uri="{FF2B5EF4-FFF2-40B4-BE49-F238E27FC236}">
                <a16:creationId xmlns:a16="http://schemas.microsoft.com/office/drawing/2014/main" id="{07E02B87-8141-4BA9-BBBB-9082097FF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3429000"/>
            <a:ext cx="7048500" cy="320040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EB6F11D-9655-4AE4-8936-09E51FED1AA3}"/>
              </a:ext>
            </a:extLst>
          </p:cNvPr>
          <p:cNvSpPr txBox="1">
            <a:spLocks/>
          </p:cNvSpPr>
          <p:nvPr/>
        </p:nvSpPr>
        <p:spPr>
          <a:xfrm>
            <a:off x="1563369" y="392633"/>
            <a:ext cx="5751831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4000" spc="-50" dirty="0">
                <a:solidFill>
                  <a:srgbClr val="696363"/>
                </a:solidFill>
                <a:latin typeface="Arial"/>
                <a:cs typeface="Arial"/>
              </a:rPr>
              <a:t>MULTI-D</a:t>
            </a:r>
            <a:r>
              <a:rPr lang="en-IN" sz="4000" spc="-270" dirty="0">
                <a:solidFill>
                  <a:srgbClr val="696363"/>
                </a:solidFill>
                <a:latin typeface="Arial"/>
                <a:cs typeface="Arial"/>
              </a:rPr>
              <a:t> </a:t>
            </a:r>
            <a:r>
              <a:rPr lang="en-IN" sz="4000" spc="-5" dirty="0">
                <a:solidFill>
                  <a:srgbClr val="696363"/>
                </a:solidFill>
                <a:latin typeface="Arial"/>
                <a:cs typeface="Arial"/>
              </a:rPr>
              <a:t>Arrays</a:t>
            </a:r>
            <a:endParaRPr lang="en-IN" sz="40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F8A3C-2AE5-411E-80F6-FD2549AFA3EF}"/>
              </a:ext>
            </a:extLst>
          </p:cNvPr>
          <p:cNvSpPr txBox="1"/>
          <p:nvPr/>
        </p:nvSpPr>
        <p:spPr>
          <a:xfrm>
            <a:off x="685800" y="1766651"/>
            <a:ext cx="10287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22426"/>
                </a:solidFill>
                <a:effectLst/>
                <a:latin typeface="PT Sans"/>
              </a:rPr>
              <a:t>Multidimensional arrays are also known as </a:t>
            </a:r>
            <a:r>
              <a:rPr lang="en-US" sz="2400" b="1" i="0" dirty="0">
                <a:solidFill>
                  <a:srgbClr val="222426"/>
                </a:solidFill>
                <a:effectLst/>
                <a:latin typeface="PT Sans"/>
              </a:rPr>
              <a:t>array of arrays</a:t>
            </a:r>
            <a:r>
              <a:rPr lang="en-US" sz="2400" b="0" i="0" dirty="0">
                <a:solidFill>
                  <a:srgbClr val="222426"/>
                </a:solidFill>
                <a:effectLst/>
                <a:latin typeface="PT Sans"/>
              </a:rPr>
              <a:t>. The data in multidimensional array is stored in a tabular form as shown in the diagram below:</a:t>
            </a:r>
            <a:endParaRPr lang="en-IN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DF613C-5C4A-465D-9282-3CB203C8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19200"/>
            <a:ext cx="8572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0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96BDD-6636-4C02-9123-B10ADC4B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37" y="1524000"/>
            <a:ext cx="86201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07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4A540-193F-4A18-831D-40960A2FE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5400"/>
            <a:ext cx="6953250" cy="4895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32B5D-9774-4B41-8697-BB5D20313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19200"/>
            <a:ext cx="36957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12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45808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883</Words>
  <Application>Microsoft Office PowerPoint</Application>
  <PresentationFormat>Widescreen</PresentationFormat>
  <Paragraphs>117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</vt:lpstr>
      <vt:lpstr>Calibri</vt:lpstr>
      <vt:lpstr>Courier New</vt:lpstr>
      <vt:lpstr>PT Sans</vt:lpstr>
      <vt:lpstr>Roboto</vt:lpstr>
      <vt:lpstr>Times New Roman</vt:lpstr>
      <vt:lpstr>Tw Cen MT</vt:lpstr>
      <vt:lpstr>Wingdings</vt:lpstr>
      <vt:lpstr>Droplet</vt:lpstr>
      <vt:lpstr>Array: Types and Applications</vt:lpstr>
      <vt:lpstr>What is AN Array ? </vt:lpstr>
      <vt:lpstr>Advantages / Uses of Arrays</vt:lpstr>
      <vt:lpstr>Types of Arrays:</vt:lpstr>
      <vt:lpstr>One-D Array</vt:lpstr>
      <vt:lpstr>One-D array Intialization</vt:lpstr>
      <vt:lpstr>Two-D Arrays</vt:lpstr>
      <vt:lpstr>Mapping of array elements</vt:lpstr>
      <vt:lpstr>Two-D array Intialization</vt:lpstr>
      <vt:lpstr>Two-D array Intialization</vt:lpstr>
      <vt:lpstr>implementation</vt:lpstr>
      <vt:lpstr>PowerPoint Presentation</vt:lpstr>
      <vt:lpstr>What will be the output? </vt:lpstr>
      <vt:lpstr>Sparse matrix</vt:lpstr>
      <vt:lpstr>Sparse matrix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Array: Types and Applications</dc:title>
  <cp:lastModifiedBy>LENOVO</cp:lastModifiedBy>
  <cp:revision>30</cp:revision>
  <dcterms:created xsi:type="dcterms:W3CDTF">2020-09-20T06:28:39Z</dcterms:created>
  <dcterms:modified xsi:type="dcterms:W3CDTF">2020-09-23T08:26:33Z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2015-10-16T00:00:00Z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2020-09-20T00:00:00Z</vt:filetime>
  </property>
</Properties>
</file>