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391" r:id="rId1"/>
  </p:sldMasterIdLst>
  <p:notesMasterIdLst>
    <p:notesMasterId r:id="rId15"/>
  </p:notesMasterIdLst>
  <p:handoutMasterIdLst>
    <p:handoutMasterId r:id="rId16"/>
  </p:handoutMasterIdLst>
  <p:sldIdLst>
    <p:sldId id="376" r:id="rId2"/>
    <p:sldId id="515" r:id="rId3"/>
    <p:sldId id="516" r:id="rId4"/>
    <p:sldId id="514" r:id="rId5"/>
    <p:sldId id="518" r:id="rId6"/>
    <p:sldId id="520" r:id="rId7"/>
    <p:sldId id="519" r:id="rId8"/>
    <p:sldId id="523" r:id="rId9"/>
    <p:sldId id="517" r:id="rId10"/>
    <p:sldId id="524" r:id="rId11"/>
    <p:sldId id="525" r:id="rId12"/>
    <p:sldId id="521" r:id="rId13"/>
    <p:sldId id="496" r:id="rId14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05">
          <p15:clr>
            <a:srgbClr val="A4A3A4"/>
          </p15:clr>
        </p15:guide>
        <p15:guide id="2" orient="horz" pos="672">
          <p15:clr>
            <a:srgbClr val="A4A3A4"/>
          </p15:clr>
        </p15:guide>
        <p15:guide id="3" orient="horz" pos="714">
          <p15:clr>
            <a:srgbClr val="A4A3A4"/>
          </p15:clr>
        </p15:guide>
        <p15:guide id="4" orient="horz" pos="1584">
          <p15:clr>
            <a:srgbClr val="A4A3A4"/>
          </p15:clr>
        </p15:guide>
        <p15:guide id="5" orient="horz" pos="4224">
          <p15:clr>
            <a:srgbClr val="A4A3A4"/>
          </p15:clr>
        </p15:guide>
        <p15:guide id="6" orient="horz" pos="3072">
          <p15:clr>
            <a:srgbClr val="A4A3A4"/>
          </p15:clr>
        </p15:guide>
        <p15:guide id="7" pos="120">
          <p15:clr>
            <a:srgbClr val="A4A3A4"/>
          </p15:clr>
        </p15:guide>
        <p15:guide id="8" pos="2880">
          <p15:clr>
            <a:srgbClr val="A4A3A4"/>
          </p15:clr>
        </p15:guide>
        <p15:guide id="9" pos="5328">
          <p15:clr>
            <a:srgbClr val="A4A3A4"/>
          </p15:clr>
        </p15:guide>
        <p15:guide id="10" pos="5376">
          <p15:clr>
            <a:srgbClr val="A4A3A4"/>
          </p15:clr>
        </p15:guide>
        <p15:guide id="11" pos="432">
          <p15:clr>
            <a:srgbClr val="A4A3A4"/>
          </p15:clr>
        </p15:guide>
        <p15:guide id="12" pos="5656">
          <p15:clr>
            <a:srgbClr val="A4A3A4"/>
          </p15:clr>
        </p15:guide>
        <p15:guide id="13" pos="55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>
    <p:extLst>
      <p:ext uri="{19B8F6BF-5375-455C-9EA6-DF929625EA0E}">
        <p15:presenceInfo xmlns:p15="http://schemas.microsoft.com/office/powerpoint/2012/main" userId="LENOVO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A6FF"/>
    <a:srgbClr val="FF0000"/>
    <a:srgbClr val="FFFFFF"/>
    <a:srgbClr val="F6EFE7"/>
    <a:srgbClr val="DDDDDD"/>
    <a:srgbClr val="4D4D4D"/>
    <a:srgbClr val="006600"/>
    <a:srgbClr val="800080"/>
    <a:srgbClr val="00808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89247" autoAdjust="0"/>
  </p:normalViewPr>
  <p:slideViewPr>
    <p:cSldViewPr snapToGrid="0">
      <p:cViewPr varScale="1">
        <p:scale>
          <a:sx n="59" d="100"/>
          <a:sy n="59" d="100"/>
        </p:scale>
        <p:origin x="1512" y="52"/>
      </p:cViewPr>
      <p:guideLst>
        <p:guide orient="horz" pos="1505"/>
        <p:guide orient="horz" pos="672"/>
        <p:guide orient="horz" pos="714"/>
        <p:guide orient="horz" pos="1584"/>
        <p:guide orient="horz" pos="4224"/>
        <p:guide orient="horz" pos="3072"/>
        <p:guide pos="120"/>
        <p:guide pos="2880"/>
        <p:guide pos="5328"/>
        <p:guide pos="5376"/>
        <p:guide pos="432"/>
        <p:guide pos="5656"/>
        <p:guide pos="551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4322"/>
    </p:cViewPr>
  </p:sorterViewPr>
  <p:notesViewPr>
    <p:cSldViewPr snapToGrid="0">
      <p:cViewPr varScale="1">
        <p:scale>
          <a:sx n="84" d="100"/>
          <a:sy n="84" d="100"/>
        </p:scale>
        <p:origin x="-1350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/>
                <a:cs typeface="+mn-cs"/>
              </a:defRPr>
            </a:lvl1pPr>
          </a:lstStyle>
          <a:p>
            <a:pPr>
              <a:defRPr/>
            </a:pPr>
            <a:fld id="{250A086E-3B1F-44E9-8A87-C6F287D0B80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8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09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09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09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/>
                <a:cs typeface="+mn-cs"/>
              </a:defRPr>
            </a:lvl1pPr>
          </a:lstStyle>
          <a:p>
            <a:pPr>
              <a:defRPr/>
            </a:pPr>
            <a:fld id="{A229DC42-1B20-4652-BEAB-12357C6EDFE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229DC42-1B20-4652-BEAB-12357C6EDFEC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015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4" descr="Ads_templateFlattened0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27" descr="Bar_SAS204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65" name="Rectangle 25"/>
          <p:cNvSpPr>
            <a:spLocks noGrp="1" noChangeArrowheads="1"/>
          </p:cNvSpPr>
          <p:nvPr>
            <p:ph type="ctrTitle"/>
          </p:nvPr>
        </p:nvSpPr>
        <p:spPr>
          <a:xfrm>
            <a:off x="3581400" y="3124200"/>
            <a:ext cx="5410200" cy="6096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266" name="Rectangle 26"/>
          <p:cNvSpPr>
            <a:spLocks noGrp="1" noChangeArrowheads="1"/>
          </p:cNvSpPr>
          <p:nvPr>
            <p:ph type="subTitle" idx="1"/>
          </p:nvPr>
        </p:nvSpPr>
        <p:spPr>
          <a:xfrm>
            <a:off x="3505200" y="4191000"/>
            <a:ext cx="5486400" cy="1752600"/>
          </a:xfrm>
        </p:spPr>
        <p:txBody>
          <a:bodyPr/>
          <a:lstStyle>
            <a:lvl1pPr>
              <a:defRPr sz="3600" b="1">
                <a:solidFill>
                  <a:srgbClr val="003399"/>
                </a:solidFill>
                <a:latin typeface="Arial Narrow" pitchFamily="34" charset="0"/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FB1F5F-4B7D-40FE-AE87-C9C750581EC7}" type="slidenum">
              <a:rPr lang="en-US"/>
              <a:pPr>
                <a:defRPr/>
              </a:pPr>
              <a:t>‹#›</a:t>
            </a:fld>
            <a:endParaRPr lang="en-US" b="0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609E96-5D22-45FC-A4BC-6CA00F9D97B5}" type="slidenum">
              <a:rPr lang="en-US"/>
              <a:pPr>
                <a:defRPr/>
              </a:pPr>
              <a:t>‹#›</a:t>
            </a:fld>
            <a:endParaRPr lang="en-US" b="0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1071563"/>
            <a:ext cx="38481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89AF4-AE74-4A18-A73F-DA848125FE19}" type="slidenum">
              <a:rPr lang="en-US"/>
              <a:pPr>
                <a:defRPr/>
              </a:pPr>
              <a:t>‹#›</a:t>
            </a:fld>
            <a:endParaRPr lang="en-US" b="0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0E98C7-471B-4D95-9F06-E539355DFCE4}" type="slidenum">
              <a:rPr lang="en-US"/>
              <a:pPr>
                <a:defRPr/>
              </a:pPr>
              <a:t>‹#›</a:t>
            </a:fld>
            <a:endParaRPr lang="en-US" b="0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3372D4-FCC8-4486-998F-2070CC2E3611}" type="slidenum">
              <a:rPr lang="en-US"/>
              <a:pPr>
                <a:defRPr/>
              </a:pPr>
              <a:t>‹#›</a:t>
            </a:fld>
            <a:endParaRPr lang="en-US" b="0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BD4FE6-88A2-4F72-99BD-87E2846895BD}" type="slidenum">
              <a:rPr lang="en-US"/>
              <a:pPr>
                <a:defRPr/>
              </a:pPr>
              <a:t>‹#›</a:t>
            </a:fld>
            <a:endParaRPr lang="en-US" b="0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1DF511-BA3B-4DC5-90EB-B9A7E39D75C6}" type="slidenum">
              <a:rPr lang="en-US"/>
              <a:pPr>
                <a:defRPr/>
              </a:pPr>
              <a:t>‹#›</a:t>
            </a:fld>
            <a:endParaRPr lang="en-US" b="0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51D59B-4A7E-459B-A181-28807917C047}" type="slidenum">
              <a:rPr lang="en-US"/>
              <a:pPr>
                <a:defRPr/>
              </a:pPr>
              <a:t>‹#›</a:t>
            </a:fld>
            <a:endParaRPr lang="en-US" b="0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6842E-B862-4416-8FD5-0C770C4B35E0}" type="slidenum">
              <a:rPr lang="en-US"/>
              <a:pPr>
                <a:defRPr/>
              </a:pPr>
              <a:t>‹#›</a:t>
            </a:fld>
            <a:endParaRPr lang="en-US" b="0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29450" y="457200"/>
            <a:ext cx="2114550" cy="4881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6191250" cy="48815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ADCB9-0619-4388-846B-C2DDFFC805DC}" type="slidenum">
              <a:rPr lang="en-US"/>
              <a:pPr>
                <a:defRPr/>
              </a:pPr>
              <a:t>‹#›</a:t>
            </a:fld>
            <a:endParaRPr lang="en-US" b="0" dirty="0">
              <a:latin typeface="Times New Roman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 4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</a:defRPr>
            </a:lvl1pPr>
          </a:lstStyle>
          <a:p>
            <a:pPr>
              <a:defRPr/>
            </a:pPr>
            <a:fld id="{FC643807-A466-468C-BE30-BFABCABE84E3}" type="slidenum">
              <a:rPr lang="en-US"/>
              <a:pPr>
                <a:defRPr/>
              </a:pPr>
              <a:t>‹#›</a:t>
            </a:fld>
            <a:endParaRPr lang="en-US" dirty="0">
              <a:latin typeface="Times New Roman" pitchFamily="18" charset="0"/>
            </a:endParaRPr>
          </a:p>
        </p:txBody>
      </p:sp>
      <p:sp>
        <p:nvSpPr>
          <p:cNvPr id="1027" name="Rectangle 44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Title text should go here--one line only</a:t>
            </a:r>
            <a:br>
              <a:rPr lang="en-US"/>
            </a:br>
            <a:endParaRPr lang="en-US"/>
          </a:p>
        </p:txBody>
      </p:sp>
      <p:sp>
        <p:nvSpPr>
          <p:cNvPr id="1028" name="Rectangle 4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071563"/>
            <a:ext cx="78486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  <a:br>
              <a:rPr lang="en-US"/>
            </a:b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4"/>
            <a:r>
              <a:rPr lang="en-US"/>
              <a:t>sixth level</a:t>
            </a:r>
          </a:p>
          <a:p>
            <a:pPr lvl="4"/>
            <a:r>
              <a:rPr lang="en-US"/>
              <a:t>seventh level</a:t>
            </a:r>
          </a:p>
          <a:p>
            <a:pPr lvl="4"/>
            <a:r>
              <a:rPr lang="en-US"/>
              <a:t>eighth level</a:t>
            </a:r>
          </a:p>
        </p:txBody>
      </p:sp>
      <p:sp>
        <p:nvSpPr>
          <p:cNvPr id="1070" name="Rectangle 46"/>
          <p:cNvSpPr>
            <a:spLocks noChangeArrowheads="1"/>
          </p:cNvSpPr>
          <p:nvPr/>
        </p:nvSpPr>
        <p:spPr bwMode="auto">
          <a:xfrm>
            <a:off x="0" y="6477000"/>
            <a:ext cx="533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 anchor="ctr"/>
          <a:lstStyle/>
          <a:p>
            <a:pPr algn="r">
              <a:defRPr/>
            </a:pPr>
            <a:fld id="{DF90E795-93C2-4687-B080-ACD2E1FE0091}" type="slidenum">
              <a:rPr lang="en-US" sz="1400" b="1"/>
              <a:pPr algn="r">
                <a:defRPr/>
              </a:pPr>
              <a:t>‹#›</a:t>
            </a:fld>
            <a:endParaRPr lang="en-US" sz="1400">
              <a:latin typeface="Arial"/>
            </a:endParaRPr>
          </a:p>
        </p:txBody>
      </p:sp>
      <p:pic>
        <p:nvPicPr>
          <p:cNvPr id="1030" name="Picture 47" descr="bar_blank"/>
          <p:cNvPicPr>
            <a:picLocks noChangeAspect="1" noChangeArrowheads="1"/>
          </p:cNvPicPr>
          <p:nvPr/>
        </p:nvPicPr>
        <p:blipFill>
          <a:blip r:embed="rId13"/>
          <a:srcRect t="38889"/>
          <a:stretch>
            <a:fillRect/>
          </a:stretch>
        </p:blipFill>
        <p:spPr bwMode="auto">
          <a:xfrm>
            <a:off x="0" y="0"/>
            <a:ext cx="9144000" cy="31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520" r:id="rId1"/>
    <p:sldLayoutId id="2147485521" r:id="rId2"/>
    <p:sldLayoutId id="2147485522" r:id="rId3"/>
    <p:sldLayoutId id="2147485523" r:id="rId4"/>
    <p:sldLayoutId id="2147485524" r:id="rId5"/>
    <p:sldLayoutId id="2147485525" r:id="rId6"/>
    <p:sldLayoutId id="2147485526" r:id="rId7"/>
    <p:sldLayoutId id="2147485527" r:id="rId8"/>
    <p:sldLayoutId id="2147485528" r:id="rId9"/>
    <p:sldLayoutId id="2147485529" r:id="rId10"/>
    <p:sldLayoutId id="2147485530" r:id="rId11"/>
  </p:sldLayoutIdLst>
  <p:hf hdr="0" dt="0"/>
  <p:txStyles>
    <p:titleStyle>
      <a:lvl1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2pPr>
      <a:lvl3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3pPr>
      <a:lvl4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4pPr>
      <a:lvl5pPr algn="l" rtl="0" eaLnBrk="0" fontAlgn="base" hangingPunct="0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5pPr>
      <a:lvl6pPr marL="4572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6pPr>
      <a:lvl7pPr marL="9144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7pPr>
      <a:lvl8pPr marL="13716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8pPr>
      <a:lvl9pPr marL="1828800" algn="l" rtl="0" eaLnBrk="1" fontAlgn="base" hangingPunct="1">
        <a:lnSpc>
          <a:spcPts val="3900"/>
        </a:lnSpc>
        <a:spcBef>
          <a:spcPct val="0"/>
        </a:spcBef>
        <a:spcAft>
          <a:spcPct val="0"/>
        </a:spcAft>
        <a:defRPr sz="3600" b="1">
          <a:solidFill>
            <a:srgbClr val="003399"/>
          </a:solidFill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Monotype Sorts" pitchFamily="2" charset="2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2pPr>
      <a:lvl3pPr marL="912813" indent="-341313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3pPr>
      <a:lvl4pPr marL="1370013" indent="-342900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4pPr>
      <a:lvl5pPr marL="1827213" indent="-342900" algn="l" rtl="0" eaLnBrk="0" fontAlgn="base" hangingPunct="0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5pPr>
      <a:lvl6pPr marL="22844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6pPr>
      <a:lvl7pPr marL="27416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7pPr>
      <a:lvl8pPr marL="31988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8pPr>
      <a:lvl9pPr marL="3656013" indent="-342900" algn="l" rtl="0" eaLnBrk="1" fontAlgn="base" hangingPunct="1">
        <a:spcBef>
          <a:spcPct val="20000"/>
        </a:spcBef>
        <a:spcAft>
          <a:spcPct val="0"/>
        </a:spcAft>
        <a:buChar char="»"/>
        <a:defRPr sz="2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F93D27A-8666-48E3-B0CD-58980F74B32C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14339" name="Module Title"/>
          <p:cNvSpPr>
            <a:spLocks noChangeArrowheads="1"/>
          </p:cNvSpPr>
          <p:nvPr/>
        </p:nvSpPr>
        <p:spPr bwMode="auto">
          <a:xfrm>
            <a:off x="0" y="0"/>
            <a:ext cx="9144000" cy="2256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eaLnBrk="0" hangingPunct="0">
              <a:lnSpc>
                <a:spcPts val="3900"/>
              </a:lnSpc>
            </a:pPr>
            <a:endParaRPr lang="en-US" sz="8000" b="1" dirty="0">
              <a:solidFill>
                <a:srgbClr val="003399"/>
              </a:solidFill>
              <a:latin typeface="Arial Narrow" pitchFamily="34" charset="0"/>
            </a:endParaRPr>
          </a:p>
          <a:p>
            <a:pPr algn="ctr" eaLnBrk="0" hangingPunct="0">
              <a:lnSpc>
                <a:spcPts val="3900"/>
              </a:lnSpc>
            </a:pPr>
            <a:endParaRPr lang="en-US" sz="8000" b="1" dirty="0">
              <a:solidFill>
                <a:srgbClr val="003399"/>
              </a:solidFill>
              <a:latin typeface="Arial Narrow" pitchFamily="34" charset="0"/>
            </a:endParaRPr>
          </a:p>
          <a:p>
            <a:pPr algn="ctr" eaLnBrk="0" hangingPunct="0">
              <a:lnSpc>
                <a:spcPts val="3900"/>
              </a:lnSpc>
            </a:pPr>
            <a:endParaRPr lang="en-US" sz="8000" b="1" dirty="0">
              <a:solidFill>
                <a:srgbClr val="003399"/>
              </a:solidFill>
              <a:latin typeface="Arial Narrow" pitchFamily="34" charset="0"/>
            </a:endParaRPr>
          </a:p>
          <a:p>
            <a:pPr algn="ctr" eaLnBrk="0" hangingPunct="0">
              <a:lnSpc>
                <a:spcPts val="3900"/>
              </a:lnSpc>
            </a:pPr>
            <a:endParaRPr lang="en-US" sz="8000" b="1" dirty="0">
              <a:solidFill>
                <a:srgbClr val="003399"/>
              </a:solidFill>
              <a:latin typeface="Arial Narrow" pitchFamily="34" charset="0"/>
            </a:endParaRPr>
          </a:p>
          <a:p>
            <a:pPr algn="ctr" eaLnBrk="0" hangingPunct="0">
              <a:lnSpc>
                <a:spcPts val="3900"/>
              </a:lnSpc>
            </a:pPr>
            <a:endParaRPr lang="en-US" sz="7200" b="1" dirty="0">
              <a:solidFill>
                <a:srgbClr val="003399"/>
              </a:solidFill>
              <a:latin typeface="Arial Narrow" pitchFamily="34" charset="0"/>
            </a:endParaRPr>
          </a:p>
          <a:p>
            <a:pPr algn="ctr" eaLnBrk="0" hangingPunct="0">
              <a:lnSpc>
                <a:spcPts val="3900"/>
              </a:lnSpc>
            </a:pPr>
            <a:r>
              <a:rPr lang="en-US" sz="7200" b="1" dirty="0">
                <a:solidFill>
                  <a:srgbClr val="003399"/>
                </a:solidFill>
                <a:latin typeface="Arial Narrow" pitchFamily="34" charset="0"/>
              </a:rPr>
              <a:t>Data Structure Using C:</a:t>
            </a:r>
          </a:p>
          <a:p>
            <a:pPr algn="ctr" eaLnBrk="0" hangingPunct="0">
              <a:lnSpc>
                <a:spcPts val="3900"/>
              </a:lnSpc>
            </a:pPr>
            <a:endParaRPr lang="en-US" sz="8000" b="1" dirty="0">
              <a:solidFill>
                <a:srgbClr val="003399"/>
              </a:solidFill>
              <a:latin typeface="Arial Narrow" pitchFamily="34" charset="0"/>
            </a:endParaRPr>
          </a:p>
          <a:p>
            <a:pPr algn="ctr" eaLnBrk="0" hangingPunct="0">
              <a:lnSpc>
                <a:spcPts val="3900"/>
              </a:lnSpc>
            </a:pPr>
            <a:r>
              <a:rPr lang="en-US" sz="6600" b="1" dirty="0">
                <a:solidFill>
                  <a:srgbClr val="003399"/>
                </a:solidFill>
                <a:latin typeface="Arial Narrow" pitchFamily="34" charset="0"/>
              </a:rPr>
              <a:t>Expression Evaluation</a:t>
            </a:r>
            <a:endParaRPr lang="en-US" sz="6000" b="1" dirty="0">
              <a:solidFill>
                <a:srgbClr val="003399"/>
              </a:solidFill>
              <a:latin typeface="Arial Narrow" pitchFamily="34" charset="0"/>
            </a:endParaRPr>
          </a:p>
        </p:txBody>
      </p:sp>
      <p:sp>
        <p:nvSpPr>
          <p:cNvPr id="14340" name="MO Picture" hidden="1"/>
          <p:cNvSpPr>
            <a:spLocks noChangeArrowheads="1"/>
          </p:cNvSpPr>
          <p:nvPr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  <a:miter lim="800000"/>
            <a:headEnd/>
            <a:tailEnd type="none" w="med" len="lg"/>
          </a:ln>
        </p:spPr>
        <p:txBody>
          <a:bodyPr wrap="none" anchor="ctr"/>
          <a:lstStyle/>
          <a:p>
            <a:pPr algn="ctr" eaLnBrk="0" hangingPunct="0"/>
            <a:r>
              <a:rPr lang="en-US">
                <a:latin typeface="Times New Roman" pitchFamily="18" charset="0"/>
              </a:rPr>
              <a:t>2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D76EC8-7744-AFF2-A5FD-5F2AEACCD3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609E96-5D22-45FC-A4BC-6CA00F9D97B5}" type="slidenum">
              <a:rPr lang="en-US" smtClean="0"/>
              <a:pPr>
                <a:defRPr/>
              </a:pPr>
              <a:t>2</a:t>
            </a:fld>
            <a:endParaRPr lang="en-US" b="0" dirty="0">
              <a:latin typeface="Times New Roman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347B2C-096C-DCFB-6C6A-13040361B3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22313" y="3188105"/>
            <a:ext cx="7772400" cy="121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Let‘s evaluate the expression : </a:t>
            </a:r>
          </a:p>
          <a:p>
            <a:r>
              <a:rPr lang="en-US" sz="3600" dirty="0"/>
              <a:t>           8 + 5 * 4 – 12 / 6 </a:t>
            </a:r>
            <a:endParaRPr lang="en-IN" sz="36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29F2F2E-BFDD-4947-24C0-0B1F35E3EE56}"/>
              </a:ext>
            </a:extLst>
          </p:cNvPr>
          <p:cNvSpPr txBox="1">
            <a:spLocks/>
          </p:cNvSpPr>
          <p:nvPr/>
        </p:nvSpPr>
        <p:spPr bwMode="auto">
          <a:xfrm>
            <a:off x="685800" y="479652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2pPr>
            <a:lvl3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3pPr>
            <a:lvl4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4pPr>
            <a:lvl5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5pPr>
            <a:lvl6pPr marL="457200" algn="l" rtl="0" eaLnBrk="1" fontAlgn="base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6pPr>
            <a:lvl7pPr marL="914400" algn="l" rtl="0" eaLnBrk="1" fontAlgn="base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7pPr>
            <a:lvl8pPr marL="1371600" algn="l" rtl="0" eaLnBrk="1" fontAlgn="base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8pPr>
            <a:lvl9pPr marL="1828800" algn="l" rtl="0" eaLnBrk="1" fontAlgn="base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9pPr>
          </a:lstStyle>
          <a:p>
            <a:r>
              <a:rPr lang="en-US" kern="0"/>
              <a:t>Arithmetic Expression</a:t>
            </a:r>
            <a:endParaRPr lang="en-IN" kern="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5B2A058-55C1-F37B-4B34-60C2A39C48C2}"/>
              </a:ext>
            </a:extLst>
          </p:cNvPr>
          <p:cNvCxnSpPr/>
          <p:nvPr/>
        </p:nvCxnSpPr>
        <p:spPr bwMode="auto">
          <a:xfrm flipH="1" flipV="1">
            <a:off x="2383971" y="4562523"/>
            <a:ext cx="576942" cy="53158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F802CBA-266B-F628-5C4A-AAF720F94EBD}"/>
              </a:ext>
            </a:extLst>
          </p:cNvPr>
          <p:cNvSpPr txBox="1"/>
          <p:nvPr/>
        </p:nvSpPr>
        <p:spPr>
          <a:xfrm>
            <a:off x="3058885" y="5246914"/>
            <a:ext cx="1937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Operators</a:t>
            </a:r>
            <a:endParaRPr lang="en-IN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1467C6-CEC8-FE43-9018-FDFF66176D85}"/>
              </a:ext>
            </a:extLst>
          </p:cNvPr>
          <p:cNvCxnSpPr/>
          <p:nvPr/>
        </p:nvCxnSpPr>
        <p:spPr bwMode="auto">
          <a:xfrm flipH="1" flipV="1">
            <a:off x="3374571" y="4305801"/>
            <a:ext cx="762001" cy="513443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AF0ED95-5B57-7B05-EE04-7354B07913EE}"/>
              </a:ext>
            </a:extLst>
          </p:cNvPr>
          <p:cNvSpPr txBox="1"/>
          <p:nvPr/>
        </p:nvSpPr>
        <p:spPr>
          <a:xfrm>
            <a:off x="4572000" y="4562523"/>
            <a:ext cx="18614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Operands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655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DF7552-716A-5F5F-705D-D7AE1AB9B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513" y="368301"/>
            <a:ext cx="7772400" cy="70938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6E910-6BCB-9EE3-0E2F-D0E17289A0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609E96-5D22-45FC-A4BC-6CA00F9D97B5}" type="slidenum">
              <a:rPr lang="en-US" smtClean="0"/>
              <a:pPr>
                <a:defRPr/>
              </a:pPr>
              <a:t>3</a:t>
            </a:fld>
            <a:endParaRPr lang="en-US" b="0" dirty="0">
              <a:latin typeface="Times New Roman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A53A3F-63BB-C4DF-D52C-864807D9D2AC}"/>
              </a:ext>
            </a:extLst>
          </p:cNvPr>
          <p:cNvSpPr txBox="1"/>
          <p:nvPr/>
        </p:nvSpPr>
        <p:spPr>
          <a:xfrm>
            <a:off x="533400" y="1243435"/>
            <a:ext cx="801188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An expression is a statement that contains operands and operators.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For example,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c=</a:t>
            </a:r>
            <a:r>
              <a:rPr lang="en-US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a+b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/>
              <a:t>is an expression in which </a:t>
            </a:r>
            <a:r>
              <a:rPr lang="en-US" dirty="0" err="1"/>
              <a:t>a,b,c</a:t>
            </a:r>
            <a:r>
              <a:rPr lang="en-US" dirty="0"/>
              <a:t> are operands and +,= is an operator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The above expression is nothing but an </a:t>
            </a:r>
            <a:r>
              <a:rPr lang="en-US" b="1" dirty="0"/>
              <a:t>infix expression </a:t>
            </a:r>
            <a:r>
              <a:rPr lang="en-US" dirty="0"/>
              <a:t>because an operator + comes in between operands a and b. Also, = comes in between c and a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/>
              <a:t>Now, a </a:t>
            </a:r>
            <a:r>
              <a:rPr lang="en-US" b="1" dirty="0"/>
              <a:t>postfix expression </a:t>
            </a:r>
            <a:r>
              <a:rPr lang="en-US" dirty="0"/>
              <a:t>is that in which operators come after operands example: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ab +  </a:t>
            </a: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Prefix expression </a:t>
            </a:r>
            <a:r>
              <a:rPr lang="en-US" dirty="0"/>
              <a:t>is that in which operators come before operands.   example: 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+ ab. </a:t>
            </a:r>
            <a:endParaRPr lang="en-US" dirty="0"/>
          </a:p>
          <a:p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3105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EFC48-5834-500F-F874-3C01060E0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Arithmetic Expression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92A0-15EF-4BE3-A83F-31C6E4A58D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3400" y="3943509"/>
            <a:ext cx="2735035" cy="2417229"/>
          </a:xfrm>
        </p:spPr>
        <p:txBody>
          <a:bodyPr/>
          <a:lstStyle/>
          <a:p>
            <a:r>
              <a:rPr lang="en-US" sz="2400" dirty="0"/>
              <a:t>Precedence of operator</a:t>
            </a:r>
          </a:p>
          <a:p>
            <a:endParaRPr lang="en-US" sz="2400" dirty="0"/>
          </a:p>
          <a:p>
            <a:r>
              <a:rPr lang="en-US" sz="2400" dirty="0"/>
              <a:t>Associativity of the operators </a:t>
            </a: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29856A-88B1-ABA4-EDEE-4369029F7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65764" y="3943508"/>
            <a:ext cx="2963636" cy="2417230"/>
          </a:xfrm>
        </p:spPr>
        <p:txBody>
          <a:bodyPr/>
          <a:lstStyle/>
          <a:p>
            <a:r>
              <a:rPr lang="en-US" dirty="0"/>
              <a:t>1 . Parenthesis </a:t>
            </a:r>
          </a:p>
          <a:p>
            <a:r>
              <a:rPr lang="en-US" dirty="0"/>
              <a:t>2. ^    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R to L </a:t>
            </a:r>
          </a:p>
          <a:p>
            <a:r>
              <a:rPr lang="en-US" dirty="0"/>
              <a:t>3. * /   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 - R</a:t>
            </a:r>
          </a:p>
          <a:p>
            <a:r>
              <a:rPr lang="en-US" dirty="0"/>
              <a:t>4. + -  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 – R 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4B5DD-3F45-2A8C-B473-2DA7A44167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F89AF4-AE74-4A18-A73F-DA848125FE19}" type="slidenum">
              <a:rPr lang="en-US" smtClean="0"/>
              <a:pPr>
                <a:defRPr/>
              </a:pPr>
              <a:t>4</a:t>
            </a:fld>
            <a:endParaRPr lang="en-US" b="0" dirty="0">
              <a:latin typeface="Times New Roman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FFCBFE-9757-7E87-74A9-C0EF758FB25A}"/>
              </a:ext>
            </a:extLst>
          </p:cNvPr>
          <p:cNvSpPr txBox="1">
            <a:spLocks/>
          </p:cNvSpPr>
          <p:nvPr/>
        </p:nvSpPr>
        <p:spPr bwMode="auto">
          <a:xfrm>
            <a:off x="685800" y="479652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2pPr>
            <a:lvl3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3pPr>
            <a:lvl4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4pPr>
            <a:lvl5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5pPr>
            <a:lvl6pPr marL="457200" algn="l" rtl="0" eaLnBrk="1" fontAlgn="base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6pPr>
            <a:lvl7pPr marL="914400" algn="l" rtl="0" eaLnBrk="1" fontAlgn="base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7pPr>
            <a:lvl8pPr marL="1371600" algn="l" rtl="0" eaLnBrk="1" fontAlgn="base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8pPr>
            <a:lvl9pPr marL="1828800" algn="l" rtl="0" eaLnBrk="1" fontAlgn="base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9pPr>
          </a:lstStyle>
          <a:p>
            <a:r>
              <a:rPr lang="en-US" kern="0" dirty="0"/>
              <a:t>Arithmetic Expression : Evaluation</a:t>
            </a:r>
            <a:endParaRPr lang="en-IN" kern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81742B-5568-D2D3-1B10-516DDBD96BFA}"/>
              </a:ext>
            </a:extLst>
          </p:cNvPr>
          <p:cNvSpPr txBox="1"/>
          <p:nvPr/>
        </p:nvSpPr>
        <p:spPr>
          <a:xfrm>
            <a:off x="440872" y="1471525"/>
            <a:ext cx="801188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most of the arithmetic operations, the operator symbol is placed in between the two operands.</a:t>
            </a:r>
          </a:p>
          <a:p>
            <a:endParaRPr lang="en-US" dirty="0"/>
          </a:p>
          <a:p>
            <a:r>
              <a:rPr lang="en-US" dirty="0"/>
              <a:t>                       A  – B ,  C+ D , E * F , G/H </a:t>
            </a:r>
          </a:p>
          <a:p>
            <a:endParaRPr lang="en-US" dirty="0"/>
          </a:p>
          <a:p>
            <a:pPr algn="ctr"/>
            <a:r>
              <a:rPr lang="en-US" dirty="0"/>
              <a:t>A + B + C ;    ( A  + B) * C ;     A + ( B * C )</a:t>
            </a:r>
            <a:endParaRPr lang="en-IN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E814900-1C6F-AF2F-17D4-404C058EF3C5}"/>
              </a:ext>
            </a:extLst>
          </p:cNvPr>
          <p:cNvSpPr txBox="1">
            <a:spLocks/>
          </p:cNvSpPr>
          <p:nvPr/>
        </p:nvSpPr>
        <p:spPr bwMode="auto">
          <a:xfrm>
            <a:off x="6953250" y="4085923"/>
            <a:ext cx="2002971" cy="1661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Monotype Sorts" pitchFamily="2" charset="2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912813" indent="-341313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3pPr>
            <a:lvl4pPr marL="13700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4pPr>
            <a:lvl5pPr marL="18272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22844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6pPr>
            <a:lvl7pPr marL="27416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7pPr>
            <a:lvl8pPr marL="31988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8pPr>
            <a:lvl9pPr marL="36560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Solve </a:t>
            </a:r>
          </a:p>
          <a:p>
            <a:r>
              <a:rPr lang="en-US" kern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2 ^ 2 ^ 3</a:t>
            </a:r>
          </a:p>
          <a:p>
            <a:r>
              <a:rPr lang="en-US" kern="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(5 + 1) * 7</a:t>
            </a:r>
            <a:endParaRPr lang="en-IN" kern="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3641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AA14C-5C4D-9FE7-74CB-3B83B6047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2256" y="3488191"/>
            <a:ext cx="3848100" cy="2009095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( A  + B) * C</a:t>
            </a:r>
          </a:p>
          <a:p>
            <a:pPr marL="0" indent="0">
              <a:buNone/>
            </a:pPr>
            <a:r>
              <a:rPr lang="en-US" dirty="0"/>
              <a:t>        [+ AB ] * C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IN" dirty="0"/>
              <a:t>         *+ ABC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5912A-6784-493E-D116-E0BC5873A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742" y="3488192"/>
            <a:ext cx="3848100" cy="281463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E3F11-6838-DC2A-803E-12186D8514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F89AF4-AE74-4A18-A73F-DA848125FE19}" type="slidenum">
              <a:rPr lang="en-US" smtClean="0"/>
              <a:pPr>
                <a:defRPr/>
              </a:pPr>
              <a:t>5</a:t>
            </a:fld>
            <a:endParaRPr lang="en-US" b="0" dirty="0">
              <a:latin typeface="Times New Roman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DBF0A2-7D11-05F5-6B1B-067386233F4F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685800" y="874262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2pPr>
            <a:lvl3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3pPr>
            <a:lvl4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4pPr>
            <a:lvl5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5pPr>
            <a:lvl6pPr marL="457200" algn="l" rtl="0" eaLnBrk="1" fontAlgn="base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6pPr>
            <a:lvl7pPr marL="914400" algn="l" rtl="0" eaLnBrk="1" fontAlgn="base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7pPr>
            <a:lvl8pPr marL="1371600" algn="l" rtl="0" eaLnBrk="1" fontAlgn="base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8pPr>
            <a:lvl9pPr marL="1828800" algn="l" rtl="0" eaLnBrk="1" fontAlgn="base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9pPr>
          </a:lstStyle>
          <a:p>
            <a:r>
              <a:rPr lang="en-US" kern="0" dirty="0"/>
              <a:t>Arithmetic Expression : Polish Conversion </a:t>
            </a:r>
            <a:endParaRPr lang="en-IN" kern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AC4C43-6C93-4EE2-0622-DF45C7171D3F}"/>
              </a:ext>
            </a:extLst>
          </p:cNvPr>
          <p:cNvSpPr txBox="1"/>
          <p:nvPr/>
        </p:nvSpPr>
        <p:spPr>
          <a:xfrm>
            <a:off x="908957" y="1917839"/>
            <a:ext cx="8011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Polish notation </a:t>
            </a:r>
            <a:r>
              <a:rPr lang="en-US" dirty="0"/>
              <a:t>refers to the </a:t>
            </a:r>
            <a:r>
              <a:rPr lang="en-US" b="1" dirty="0"/>
              <a:t>Prefix expression</a:t>
            </a:r>
            <a:r>
              <a:rPr lang="en-US" dirty="0"/>
              <a:t>. </a:t>
            </a:r>
            <a:r>
              <a:rPr lang="en-US" dirty="0" err="1"/>
              <a:t>i.e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+ AB  ; - CD ; * EF ; /GH 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30E8FA0-59B3-0E61-65C0-A3A63C22D5AF}"/>
              </a:ext>
            </a:extLst>
          </p:cNvPr>
          <p:cNvSpPr/>
          <p:nvPr/>
        </p:nvSpPr>
        <p:spPr bwMode="auto">
          <a:xfrm>
            <a:off x="849084" y="4204310"/>
            <a:ext cx="326571" cy="1911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25E2103-439E-F78C-106D-F077CE6DCBBD}"/>
              </a:ext>
            </a:extLst>
          </p:cNvPr>
          <p:cNvSpPr/>
          <p:nvPr/>
        </p:nvSpPr>
        <p:spPr bwMode="auto">
          <a:xfrm>
            <a:off x="849085" y="4676091"/>
            <a:ext cx="326571" cy="1911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8C0BB2D-3BE8-9088-6290-A5EAC3E6DEBB}"/>
              </a:ext>
            </a:extLst>
          </p:cNvPr>
          <p:cNvSpPr txBox="1">
            <a:spLocks/>
          </p:cNvSpPr>
          <p:nvPr/>
        </p:nvSpPr>
        <p:spPr bwMode="auto">
          <a:xfrm>
            <a:off x="4691742" y="3475945"/>
            <a:ext cx="3848100" cy="20090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Monotype Sorts" pitchFamily="2" charset="2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912813" indent="-341313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3pPr>
            <a:lvl4pPr marL="13700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4pPr>
            <a:lvl5pPr marL="18272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22844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6pPr>
            <a:lvl7pPr marL="27416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7pPr>
            <a:lvl8pPr marL="31988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8pPr>
            <a:lvl9pPr marL="36560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  A  + ( B * C )</a:t>
            </a:r>
          </a:p>
          <a:p>
            <a:pPr marL="0" indent="0">
              <a:buFont typeface="Monotype Sorts" pitchFamily="2" charset="2"/>
              <a:buNone/>
            </a:pPr>
            <a:r>
              <a:rPr lang="en-US" kern="0" dirty="0"/>
              <a:t>        A + [* BC ]</a:t>
            </a:r>
          </a:p>
          <a:p>
            <a:pPr marL="0" indent="0">
              <a:buFont typeface="Monotype Sorts" pitchFamily="2" charset="2"/>
              <a:buNone/>
            </a:pPr>
            <a:r>
              <a:rPr lang="en-US" kern="0" dirty="0"/>
              <a:t> </a:t>
            </a:r>
            <a:r>
              <a:rPr lang="en-IN" kern="0" dirty="0"/>
              <a:t>         + A *BC </a:t>
            </a:r>
          </a:p>
          <a:p>
            <a:pPr marL="0" indent="0">
              <a:buFont typeface="Monotype Sorts" pitchFamily="2" charset="2"/>
              <a:buNone/>
            </a:pPr>
            <a:endParaRPr lang="en-IN" kern="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2DD31AE-6106-A525-9D30-C29710B1979B}"/>
              </a:ext>
            </a:extLst>
          </p:cNvPr>
          <p:cNvSpPr/>
          <p:nvPr/>
        </p:nvSpPr>
        <p:spPr bwMode="auto">
          <a:xfrm>
            <a:off x="4914900" y="4214024"/>
            <a:ext cx="326571" cy="1911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4006E97-E55C-9154-6A7E-090F78CFA5EE}"/>
              </a:ext>
            </a:extLst>
          </p:cNvPr>
          <p:cNvSpPr/>
          <p:nvPr/>
        </p:nvSpPr>
        <p:spPr bwMode="auto">
          <a:xfrm>
            <a:off x="4906734" y="4704330"/>
            <a:ext cx="326571" cy="1911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4F4FDB-CA83-3612-A420-9F4D6675EA2D}"/>
              </a:ext>
            </a:extLst>
          </p:cNvPr>
          <p:cNvSpPr txBox="1">
            <a:spLocks/>
          </p:cNvSpPr>
          <p:nvPr/>
        </p:nvSpPr>
        <p:spPr bwMode="auto">
          <a:xfrm>
            <a:off x="533399" y="5777887"/>
            <a:ext cx="8098971" cy="10045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Monotype Sorts" pitchFamily="2" charset="2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912813" indent="-341313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3pPr>
            <a:lvl4pPr marL="13700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4pPr>
            <a:lvl5pPr marL="18272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22844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6pPr>
            <a:lvl7pPr marL="27416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7pPr>
            <a:lvl8pPr marL="31988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8pPr>
            <a:lvl9pPr marL="36560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( A  + B) * ( C + D)         [+ AB ] * [+CD] </a:t>
            </a:r>
          </a:p>
          <a:p>
            <a:r>
              <a:rPr lang="en-US" kern="0" dirty="0"/>
              <a:t>       * +AB+CD</a:t>
            </a:r>
          </a:p>
          <a:p>
            <a:pPr marL="0" indent="0">
              <a:buFont typeface="Monotype Sorts" pitchFamily="2" charset="2"/>
              <a:buNone/>
            </a:pPr>
            <a:endParaRPr lang="en-IN" kern="0" dirty="0"/>
          </a:p>
          <a:p>
            <a:pPr marL="0" indent="0">
              <a:buFont typeface="Monotype Sorts" pitchFamily="2" charset="2"/>
              <a:buNone/>
            </a:pPr>
            <a:endParaRPr lang="en-IN" kern="0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2F64F67-2474-A96A-5533-4597D30981AF}"/>
              </a:ext>
            </a:extLst>
          </p:cNvPr>
          <p:cNvSpPr/>
          <p:nvPr/>
        </p:nvSpPr>
        <p:spPr bwMode="auto">
          <a:xfrm>
            <a:off x="4101193" y="5983738"/>
            <a:ext cx="326571" cy="1911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5DFC660-E592-6EA5-41BD-B837670A5FD9}"/>
              </a:ext>
            </a:extLst>
          </p:cNvPr>
          <p:cNvSpPr/>
          <p:nvPr/>
        </p:nvSpPr>
        <p:spPr bwMode="auto">
          <a:xfrm>
            <a:off x="1020533" y="6381410"/>
            <a:ext cx="326571" cy="1911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414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A4008-C33C-AA77-1EEA-3E0012A39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Conversion Infix to Prefix 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pt-BR" dirty="0"/>
              <a:t>( A + B ) * C + ( D - E ) / F + G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FE19C-E58F-1CE7-3A10-77CAF97B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F89AF4-AE74-4A18-A73F-DA848125FE19}" type="slidenum">
              <a:rPr lang="en-US" smtClean="0"/>
              <a:pPr>
                <a:defRPr/>
              </a:pPr>
              <a:t>6</a:t>
            </a:fld>
            <a:endParaRPr lang="en-US" b="0" dirty="0">
              <a:latin typeface="Times New Roman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ECA166-798E-F96D-0EC0-2BD027435BF5}"/>
              </a:ext>
            </a:extLst>
          </p:cNvPr>
          <p:cNvCxnSpPr>
            <a:cxnSpLocks/>
          </p:cNvCxnSpPr>
          <p:nvPr/>
        </p:nvCxnSpPr>
        <p:spPr bwMode="auto">
          <a:xfrm>
            <a:off x="4147457" y="1992086"/>
            <a:ext cx="0" cy="4898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E280B92-BAB6-7E60-71A4-82444220C1E1}"/>
              </a:ext>
            </a:extLst>
          </p:cNvPr>
          <p:cNvSpPr txBox="1"/>
          <p:nvPr/>
        </p:nvSpPr>
        <p:spPr>
          <a:xfrm>
            <a:off x="968828" y="3246198"/>
            <a:ext cx="1426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*+ABC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81D66C-040F-0419-76FA-29E3FD13734F}"/>
              </a:ext>
            </a:extLst>
          </p:cNvPr>
          <p:cNvSpPr txBox="1"/>
          <p:nvPr/>
        </p:nvSpPr>
        <p:spPr>
          <a:xfrm>
            <a:off x="3543300" y="3208096"/>
            <a:ext cx="2971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/F-DE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F2A3C-8F7E-680B-1473-CD6506CD1354}"/>
              </a:ext>
            </a:extLst>
          </p:cNvPr>
          <p:cNvSpPr txBox="1"/>
          <p:nvPr/>
        </p:nvSpPr>
        <p:spPr>
          <a:xfrm>
            <a:off x="3105149" y="5072304"/>
            <a:ext cx="384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++*+ABC/F-DEG 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56D5E5-E7F7-68AC-B5F1-08A024A5EA63}"/>
              </a:ext>
            </a:extLst>
          </p:cNvPr>
          <p:cNvSpPr txBox="1"/>
          <p:nvPr/>
        </p:nvSpPr>
        <p:spPr>
          <a:xfrm>
            <a:off x="1883228" y="4458546"/>
            <a:ext cx="384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+*+ABC/F-DE </a:t>
            </a:r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074F5BF-5DC0-1C8D-905E-B41F86A6EFFC}"/>
              </a:ext>
            </a:extLst>
          </p:cNvPr>
          <p:cNvCxnSpPr>
            <a:cxnSpLocks/>
          </p:cNvCxnSpPr>
          <p:nvPr/>
        </p:nvCxnSpPr>
        <p:spPr bwMode="auto">
          <a:xfrm>
            <a:off x="1426028" y="2122714"/>
            <a:ext cx="0" cy="4898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6D64213-73FE-2DA9-4D8D-F68951B63562}"/>
              </a:ext>
            </a:extLst>
          </p:cNvPr>
          <p:cNvSpPr txBox="1"/>
          <p:nvPr/>
        </p:nvSpPr>
        <p:spPr>
          <a:xfrm>
            <a:off x="968828" y="2685357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+AB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611B09-5D0F-50FB-DDBC-0C7616EFC11F}"/>
              </a:ext>
            </a:extLst>
          </p:cNvPr>
          <p:cNvSpPr txBox="1"/>
          <p:nvPr/>
        </p:nvSpPr>
        <p:spPr>
          <a:xfrm>
            <a:off x="3755573" y="255834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-DE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2F6BF9-E91C-6CB8-FBD1-3945ADBE6FAB}"/>
              </a:ext>
            </a:extLst>
          </p:cNvPr>
          <p:cNvSpPr txBox="1"/>
          <p:nvPr/>
        </p:nvSpPr>
        <p:spPr>
          <a:xfrm>
            <a:off x="930732" y="3954068"/>
            <a:ext cx="1426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*+ABC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950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7" grpId="0"/>
      <p:bldP spid="18" grpId="0"/>
      <p:bldP spid="21" grpId="0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4AA14C-5C4D-9FE7-74CB-3B83B6047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2256" y="3488191"/>
            <a:ext cx="3848100" cy="2009095"/>
          </a:xfrm>
          <a:solidFill>
            <a:schemeClr val="tx2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r>
              <a:rPr lang="en-US" dirty="0"/>
              <a:t>( A  + B) * C</a:t>
            </a:r>
          </a:p>
          <a:p>
            <a:pPr marL="0" indent="0">
              <a:buNone/>
            </a:pPr>
            <a:r>
              <a:rPr lang="en-US" dirty="0"/>
              <a:t>        [ AB +]  * C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IN" dirty="0"/>
              <a:t>          AB+C*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05912A-6784-493E-D116-E0BC5873A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742" y="3488192"/>
            <a:ext cx="3848100" cy="281463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E3F11-6838-DC2A-803E-12186D8514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F89AF4-AE74-4A18-A73F-DA848125FE19}" type="slidenum">
              <a:rPr lang="en-US" smtClean="0"/>
              <a:pPr>
                <a:defRPr/>
              </a:pPr>
              <a:t>7</a:t>
            </a:fld>
            <a:endParaRPr lang="en-US" b="0" dirty="0">
              <a:latin typeface="Times New Roman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EDBF0A2-7D11-05F5-6B1B-067386233F4F}"/>
              </a:ext>
            </a:extLst>
          </p:cNvPr>
          <p:cNvSpPr txBox="1">
            <a:spLocks noGrp="1"/>
          </p:cNvSpPr>
          <p:nvPr>
            <p:ph type="title"/>
          </p:nvPr>
        </p:nvSpPr>
        <p:spPr bwMode="auto">
          <a:xfrm>
            <a:off x="685800" y="874262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2pPr>
            <a:lvl3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3pPr>
            <a:lvl4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4pPr>
            <a:lvl5pPr algn="l" rtl="0" eaLnBrk="0" fontAlgn="base" hangingPunct="0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5pPr>
            <a:lvl6pPr marL="457200" algn="l" rtl="0" eaLnBrk="1" fontAlgn="base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6pPr>
            <a:lvl7pPr marL="914400" algn="l" rtl="0" eaLnBrk="1" fontAlgn="base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7pPr>
            <a:lvl8pPr marL="1371600" algn="l" rtl="0" eaLnBrk="1" fontAlgn="base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8pPr>
            <a:lvl9pPr marL="1828800" algn="l" rtl="0" eaLnBrk="1" fontAlgn="base" hangingPunct="1">
              <a:lnSpc>
                <a:spcPts val="39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3399"/>
                </a:solidFill>
                <a:latin typeface="Arial Narrow" pitchFamily="34" charset="0"/>
              </a:defRPr>
            </a:lvl9pPr>
          </a:lstStyle>
          <a:p>
            <a:r>
              <a:rPr lang="en-US" kern="0" dirty="0"/>
              <a:t>Arithmetic Expression : Reverse Polish Conversion </a:t>
            </a:r>
            <a:endParaRPr lang="en-IN" kern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AC4C43-6C93-4EE2-0622-DF45C7171D3F}"/>
              </a:ext>
            </a:extLst>
          </p:cNvPr>
          <p:cNvSpPr txBox="1"/>
          <p:nvPr/>
        </p:nvSpPr>
        <p:spPr>
          <a:xfrm>
            <a:off x="908957" y="1917839"/>
            <a:ext cx="80118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Polish notation </a:t>
            </a:r>
            <a:r>
              <a:rPr lang="en-US" dirty="0"/>
              <a:t>refers to the </a:t>
            </a:r>
            <a:r>
              <a:rPr lang="en-US" b="1" dirty="0"/>
              <a:t>Postfix expression</a:t>
            </a:r>
            <a:r>
              <a:rPr lang="en-US" dirty="0"/>
              <a:t>. </a:t>
            </a:r>
            <a:r>
              <a:rPr lang="en-US" dirty="0" err="1"/>
              <a:t>i.e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 AB+  ;  CD -  ;  EF *; GH/ 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130E8FA0-59B3-0E61-65C0-A3A63C22D5AF}"/>
              </a:ext>
            </a:extLst>
          </p:cNvPr>
          <p:cNvSpPr/>
          <p:nvPr/>
        </p:nvSpPr>
        <p:spPr bwMode="auto">
          <a:xfrm>
            <a:off x="849084" y="4204310"/>
            <a:ext cx="326571" cy="1911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25E2103-439E-F78C-106D-F077CE6DCBBD}"/>
              </a:ext>
            </a:extLst>
          </p:cNvPr>
          <p:cNvSpPr/>
          <p:nvPr/>
        </p:nvSpPr>
        <p:spPr bwMode="auto">
          <a:xfrm>
            <a:off x="849085" y="4676091"/>
            <a:ext cx="326571" cy="1911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8C0BB2D-3BE8-9088-6290-A5EAC3E6DEBB}"/>
              </a:ext>
            </a:extLst>
          </p:cNvPr>
          <p:cNvSpPr txBox="1">
            <a:spLocks/>
          </p:cNvSpPr>
          <p:nvPr/>
        </p:nvSpPr>
        <p:spPr bwMode="auto">
          <a:xfrm>
            <a:off x="4691742" y="3475945"/>
            <a:ext cx="3848100" cy="200909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Monotype Sorts" pitchFamily="2" charset="2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912813" indent="-341313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3pPr>
            <a:lvl4pPr marL="13700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4pPr>
            <a:lvl5pPr marL="18272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22844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6pPr>
            <a:lvl7pPr marL="27416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7pPr>
            <a:lvl8pPr marL="31988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8pPr>
            <a:lvl9pPr marL="36560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  A  + ( B * C )</a:t>
            </a:r>
          </a:p>
          <a:p>
            <a:pPr marL="0" indent="0">
              <a:buFont typeface="Monotype Sorts" pitchFamily="2" charset="2"/>
              <a:buNone/>
            </a:pPr>
            <a:r>
              <a:rPr lang="en-US" kern="0" dirty="0"/>
              <a:t>        A + [ BC* ]</a:t>
            </a:r>
          </a:p>
          <a:p>
            <a:pPr marL="0" indent="0">
              <a:buFont typeface="Monotype Sorts" pitchFamily="2" charset="2"/>
              <a:buNone/>
            </a:pPr>
            <a:r>
              <a:rPr lang="en-US" kern="0" dirty="0"/>
              <a:t> </a:t>
            </a:r>
            <a:r>
              <a:rPr lang="en-IN" kern="0" dirty="0"/>
              <a:t>         ABC*+ </a:t>
            </a:r>
          </a:p>
          <a:p>
            <a:pPr marL="0" indent="0">
              <a:buFont typeface="Monotype Sorts" pitchFamily="2" charset="2"/>
              <a:buNone/>
            </a:pPr>
            <a:endParaRPr lang="en-IN" kern="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2DD31AE-6106-A525-9D30-C29710B1979B}"/>
              </a:ext>
            </a:extLst>
          </p:cNvPr>
          <p:cNvSpPr/>
          <p:nvPr/>
        </p:nvSpPr>
        <p:spPr bwMode="auto">
          <a:xfrm>
            <a:off x="4914900" y="4214024"/>
            <a:ext cx="326571" cy="1911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4006E97-E55C-9154-6A7E-090F78CFA5EE}"/>
              </a:ext>
            </a:extLst>
          </p:cNvPr>
          <p:cNvSpPr/>
          <p:nvPr/>
        </p:nvSpPr>
        <p:spPr bwMode="auto">
          <a:xfrm>
            <a:off x="4906734" y="4704330"/>
            <a:ext cx="326571" cy="1911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34F4FDB-CA83-3612-A420-9F4D6675EA2D}"/>
              </a:ext>
            </a:extLst>
          </p:cNvPr>
          <p:cNvSpPr txBox="1">
            <a:spLocks/>
          </p:cNvSpPr>
          <p:nvPr/>
        </p:nvSpPr>
        <p:spPr bwMode="auto">
          <a:xfrm>
            <a:off x="533399" y="5777887"/>
            <a:ext cx="8098971" cy="10045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Monotype Sorts" pitchFamily="2" charset="2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2pPr>
            <a:lvl3pPr marL="912813" indent="-341313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3pPr>
            <a:lvl4pPr marL="13700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800">
                <a:solidFill>
                  <a:schemeClr val="tx1"/>
                </a:solidFill>
                <a:latin typeface="+mn-lt"/>
              </a:defRPr>
            </a:lvl4pPr>
            <a:lvl5pPr marL="1827213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5pPr>
            <a:lvl6pPr marL="22844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6pPr>
            <a:lvl7pPr marL="27416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7pPr>
            <a:lvl8pPr marL="31988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8pPr>
            <a:lvl9pPr marL="3656013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( A  + B) * ( C + D)         [ AB +] * [CD+] </a:t>
            </a:r>
          </a:p>
          <a:p>
            <a:r>
              <a:rPr lang="en-US" kern="0" dirty="0"/>
              <a:t>       AB+CD+*</a:t>
            </a:r>
          </a:p>
          <a:p>
            <a:pPr marL="0" indent="0">
              <a:buFont typeface="Monotype Sorts" pitchFamily="2" charset="2"/>
              <a:buNone/>
            </a:pPr>
            <a:endParaRPr lang="en-IN" kern="0" dirty="0"/>
          </a:p>
          <a:p>
            <a:pPr marL="0" indent="0">
              <a:buFont typeface="Monotype Sorts" pitchFamily="2" charset="2"/>
              <a:buNone/>
            </a:pPr>
            <a:endParaRPr lang="en-IN" kern="0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2F64F67-2474-A96A-5533-4597D30981AF}"/>
              </a:ext>
            </a:extLst>
          </p:cNvPr>
          <p:cNvSpPr/>
          <p:nvPr/>
        </p:nvSpPr>
        <p:spPr bwMode="auto">
          <a:xfrm>
            <a:off x="4101193" y="5983738"/>
            <a:ext cx="326571" cy="1911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65DFC660-E592-6EA5-41BD-B837670A5FD9}"/>
              </a:ext>
            </a:extLst>
          </p:cNvPr>
          <p:cNvSpPr/>
          <p:nvPr/>
        </p:nvSpPr>
        <p:spPr bwMode="auto">
          <a:xfrm>
            <a:off x="1020533" y="6381410"/>
            <a:ext cx="326571" cy="1911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IN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0699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A4008-C33C-AA77-1EEA-3E0012A39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Conversion Infix to Postfix 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r>
              <a:rPr lang="pt-BR" dirty="0"/>
              <a:t>( A + B ) * C + ( D - E ) / F + G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FE19C-E58F-1CE7-3A10-77CAF97B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F89AF4-AE74-4A18-A73F-DA848125FE19}" type="slidenum">
              <a:rPr lang="en-US" smtClean="0"/>
              <a:pPr>
                <a:defRPr/>
              </a:pPr>
              <a:t>8</a:t>
            </a:fld>
            <a:endParaRPr lang="en-US" b="0" dirty="0">
              <a:latin typeface="Times New Roman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ECA166-798E-F96D-0EC0-2BD027435BF5}"/>
              </a:ext>
            </a:extLst>
          </p:cNvPr>
          <p:cNvCxnSpPr>
            <a:cxnSpLocks/>
          </p:cNvCxnSpPr>
          <p:nvPr/>
        </p:nvCxnSpPr>
        <p:spPr bwMode="auto">
          <a:xfrm>
            <a:off x="4147457" y="1992086"/>
            <a:ext cx="0" cy="4898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E280B92-BAB6-7E60-71A4-82444220C1E1}"/>
              </a:ext>
            </a:extLst>
          </p:cNvPr>
          <p:cNvSpPr txBox="1"/>
          <p:nvPr/>
        </p:nvSpPr>
        <p:spPr>
          <a:xfrm>
            <a:off x="968828" y="3246198"/>
            <a:ext cx="1426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AB+C*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81D66C-040F-0419-76FA-29E3FD13734F}"/>
              </a:ext>
            </a:extLst>
          </p:cNvPr>
          <p:cNvSpPr txBox="1"/>
          <p:nvPr/>
        </p:nvSpPr>
        <p:spPr>
          <a:xfrm>
            <a:off x="3543300" y="3208096"/>
            <a:ext cx="2971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DE-F/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F2A3C-8F7E-680B-1473-CD6506CD1354}"/>
              </a:ext>
            </a:extLst>
          </p:cNvPr>
          <p:cNvSpPr txBox="1"/>
          <p:nvPr/>
        </p:nvSpPr>
        <p:spPr>
          <a:xfrm>
            <a:off x="3105149" y="5072304"/>
            <a:ext cx="384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AB+</a:t>
            </a:r>
            <a:r>
              <a:rPr lang="en-IN" dirty="0"/>
              <a:t>C*DE-F/+G+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56D5E5-E7F7-68AC-B5F1-08A024A5EA63}"/>
              </a:ext>
            </a:extLst>
          </p:cNvPr>
          <p:cNvSpPr txBox="1"/>
          <p:nvPr/>
        </p:nvSpPr>
        <p:spPr>
          <a:xfrm>
            <a:off x="1883228" y="4458546"/>
            <a:ext cx="384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AB+C*DE-F/+ </a:t>
            </a:r>
            <a:endParaRPr lang="en-IN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074F5BF-5DC0-1C8D-905E-B41F86A6EFFC}"/>
              </a:ext>
            </a:extLst>
          </p:cNvPr>
          <p:cNvCxnSpPr>
            <a:cxnSpLocks/>
          </p:cNvCxnSpPr>
          <p:nvPr/>
        </p:nvCxnSpPr>
        <p:spPr bwMode="auto">
          <a:xfrm>
            <a:off x="1426028" y="2122714"/>
            <a:ext cx="0" cy="48985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6D64213-73FE-2DA9-4D8D-F68951B63562}"/>
              </a:ext>
            </a:extLst>
          </p:cNvPr>
          <p:cNvSpPr txBox="1"/>
          <p:nvPr/>
        </p:nvSpPr>
        <p:spPr>
          <a:xfrm>
            <a:off x="968828" y="2685357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AB+</a:t>
            </a:r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611B09-5D0F-50FB-DDBC-0C7616EFC11F}"/>
              </a:ext>
            </a:extLst>
          </p:cNvPr>
          <p:cNvSpPr txBox="1"/>
          <p:nvPr/>
        </p:nvSpPr>
        <p:spPr>
          <a:xfrm>
            <a:off x="3755573" y="2558343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DE-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B2F6BF9-E91C-6CB8-FBD1-3945ADBE6FAB}"/>
              </a:ext>
            </a:extLst>
          </p:cNvPr>
          <p:cNvSpPr txBox="1"/>
          <p:nvPr/>
        </p:nvSpPr>
        <p:spPr>
          <a:xfrm>
            <a:off x="930732" y="3954068"/>
            <a:ext cx="1426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AB+C*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649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7" grpId="0"/>
      <p:bldP spid="18" grpId="0"/>
      <p:bldP spid="21" grpId="0"/>
      <p:bldP spid="22" grpId="0"/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5630B-76FD-7A91-95C8-7021E48E6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3257" y="2590006"/>
            <a:ext cx="5645829" cy="1362075"/>
          </a:xfrm>
        </p:spPr>
        <p:txBody>
          <a:bodyPr/>
          <a:lstStyle/>
          <a:p>
            <a:pPr algn="ctr"/>
            <a:r>
              <a:rPr lang="en-US" dirty="0"/>
              <a:t>    INFIX to </a:t>
            </a:r>
            <a:r>
              <a:rPr lang="en-US" dirty="0" err="1"/>
              <a:t>PostFix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expression Evaluation Algorithm  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A02E9-D7C5-EF7B-754E-034A0CE0AB4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609E96-5D22-45FC-A4BC-6CA00F9D97B5}" type="slidenum">
              <a:rPr lang="en-US" smtClean="0"/>
              <a:pPr>
                <a:defRPr/>
              </a:pPr>
              <a:t>9</a:t>
            </a:fld>
            <a:endParaRPr lang="en-US" b="0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153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2A921-0A58-04DB-2AD0-981B7C973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610B4B"/>
                </a:solidFill>
                <a:effectLst/>
                <a:latin typeface="erdana"/>
              </a:rPr>
              <a:t>Evaluation of postfix expression using stack.</a:t>
            </a:r>
            <a:br>
              <a:rPr lang="en-US" b="0" i="0" dirty="0">
                <a:solidFill>
                  <a:srgbClr val="610B4B"/>
                </a:solidFill>
                <a:effectLst/>
                <a:latin typeface="erdana"/>
              </a:rPr>
            </a:b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006CE8-94FA-5C2A-5D5E-0A26DCDA97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372D4-FCC8-4486-998F-2070CC2E3611}" type="slidenum">
              <a:rPr lang="en-US" smtClean="0"/>
              <a:pPr>
                <a:defRPr/>
              </a:pPr>
              <a:t>10</a:t>
            </a:fld>
            <a:endParaRPr lang="en-US" b="0" dirty="0">
              <a:latin typeface="Times New Roman" pitchFamily="18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9E071E3D-DA74-4222-66F8-61CDE187A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24" y="942856"/>
            <a:ext cx="8096768" cy="5909310"/>
          </a:xfrm>
          <a:prstGeom prst="rect">
            <a:avLst/>
          </a:prstGeom>
          <a:solidFill>
            <a:srgbClr val="F7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hangingPunct="0"/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hangingPunct="0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1: If the current token is an opening bracket, '(‘, </a:t>
            </a:r>
          </a:p>
          <a:p>
            <a:pPr algn="just" eaLnBrk="0" hangingPunct="0"/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into the stack.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2: If the current token is a closing bracket, ')’,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tokens from the stack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	until the corresponding opening bracket ‘(‘ is removed.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Append each operator at the end of the postfix expression.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STEP 3: If the current token is an operand,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append it at the end of the postfix expression.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 4: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If the current token is an operator,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on the top of the stack. Before doing that,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first 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from the stack till we have a lower precedence operator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on top, or the stack becomes empty.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Append each operator at the end of the postfix expression.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027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F3C57-EF6E-5A5B-359D-A2C56EAB5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: A * ( B * C + D * E ) + F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5BD0EF-4741-CC00-A7B1-A2EFCE72EC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3372D4-FCC8-4486-998F-2070CC2E3611}" type="slidenum">
              <a:rPr lang="en-US" smtClean="0"/>
              <a:pPr>
                <a:defRPr/>
              </a:pPr>
              <a:t>11</a:t>
            </a:fld>
            <a:endParaRPr lang="en-US" b="0" dirty="0">
              <a:latin typeface="Times New Roman" pitchFamily="18" charset="0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A21353B-474D-76D5-38EA-CA64AC086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7496666"/>
              </p:ext>
            </p:extLst>
          </p:nvPr>
        </p:nvGraphicFramePr>
        <p:xfrm>
          <a:off x="1524000" y="1397000"/>
          <a:ext cx="6096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55823451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4657226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9214137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Current Token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STACK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Postfix String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3010559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1FDB19F-7F9B-2C8F-DFED-3A1FF4043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1747020"/>
              </p:ext>
            </p:extLst>
          </p:nvPr>
        </p:nvGraphicFramePr>
        <p:xfrm>
          <a:off x="1524000" y="1945640"/>
          <a:ext cx="6096000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3414525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675096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397302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579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3101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67917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2302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76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97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640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7933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5832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A4008-C33C-AA77-1EEA-3E0012A39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Conversion Infix to Postfix </a:t>
            </a:r>
            <a:br>
              <a:rPr lang="en-US" dirty="0"/>
            </a:br>
            <a:r>
              <a:rPr lang="en-US" dirty="0"/>
              <a:t> </a:t>
            </a:r>
            <a:r>
              <a:rPr lang="pt-BR" b="0" dirty="0"/>
              <a:t>(A+B)*C+(D-E)/F+G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1FE19C-E58F-1CE7-3A10-77CAF97B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F89AF4-AE74-4A18-A73F-DA848125FE19}" type="slidenum">
              <a:rPr lang="en-US" smtClean="0"/>
              <a:pPr>
                <a:defRPr/>
              </a:pPr>
              <a:t>12</a:t>
            </a:fld>
            <a:endParaRPr lang="en-US" b="0" dirty="0">
              <a:latin typeface="Times New Roman" pitchFamily="18" charset="0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FECA166-798E-F96D-0EC0-2BD027435BF5}"/>
              </a:ext>
            </a:extLst>
          </p:cNvPr>
          <p:cNvCxnSpPr/>
          <p:nvPr/>
        </p:nvCxnSpPr>
        <p:spPr bwMode="auto">
          <a:xfrm>
            <a:off x="4147457" y="1992086"/>
            <a:ext cx="0" cy="58782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DA883D-9AB3-CE64-95EF-D17C20B880E0}"/>
              </a:ext>
            </a:extLst>
          </p:cNvPr>
          <p:cNvSpPr txBox="1"/>
          <p:nvPr/>
        </p:nvSpPr>
        <p:spPr>
          <a:xfrm>
            <a:off x="3750129" y="2732612"/>
            <a:ext cx="914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EF^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280B92-BAB6-7E60-71A4-82444220C1E1}"/>
              </a:ext>
            </a:extLst>
          </p:cNvPr>
          <p:cNvSpPr txBox="1"/>
          <p:nvPr/>
        </p:nvSpPr>
        <p:spPr>
          <a:xfrm>
            <a:off x="3712031" y="3219897"/>
            <a:ext cx="1426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EF^D/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81D66C-040F-0419-76FA-29E3FD13734F}"/>
              </a:ext>
            </a:extLst>
          </p:cNvPr>
          <p:cNvSpPr txBox="1"/>
          <p:nvPr/>
        </p:nvSpPr>
        <p:spPr>
          <a:xfrm>
            <a:off x="3744687" y="3707863"/>
            <a:ext cx="2971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EF^D/G*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678382-933B-35B2-1AC9-6A915684AC8A}"/>
              </a:ext>
            </a:extLst>
          </p:cNvPr>
          <p:cNvSpPr txBox="1"/>
          <p:nvPr/>
        </p:nvSpPr>
        <p:spPr>
          <a:xfrm>
            <a:off x="3543300" y="4158044"/>
            <a:ext cx="297179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BC* - EF^D/G*</a:t>
            </a:r>
            <a:endParaRPr lang="en-IN" dirty="0"/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FDBA44-113E-3C5B-5AFA-05846DE979B9}"/>
              </a:ext>
            </a:extLst>
          </p:cNvPr>
          <p:cNvSpPr txBox="1"/>
          <p:nvPr/>
        </p:nvSpPr>
        <p:spPr>
          <a:xfrm>
            <a:off x="3543299" y="4793198"/>
            <a:ext cx="384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BC* EF^D/G – 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2F2A3C-8F7E-680B-1473-CD6506CD1354}"/>
              </a:ext>
            </a:extLst>
          </p:cNvPr>
          <p:cNvSpPr txBox="1"/>
          <p:nvPr/>
        </p:nvSpPr>
        <p:spPr>
          <a:xfrm>
            <a:off x="3543299" y="5747656"/>
            <a:ext cx="384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ABC* EF^D/G – </a:t>
            </a:r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56D5E5-E7F7-68AC-B5F1-08A024A5EA63}"/>
              </a:ext>
            </a:extLst>
          </p:cNvPr>
          <p:cNvSpPr txBox="1"/>
          <p:nvPr/>
        </p:nvSpPr>
        <p:spPr>
          <a:xfrm>
            <a:off x="3445328" y="5151046"/>
            <a:ext cx="3848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BC* EF^D/G – H*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3128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3" grpId="0"/>
      <p:bldP spid="14" grpId="0"/>
      <p:bldP spid="17" grpId="0"/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4C593-40F2-4094-BCB1-21D6C1A69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94F72-E643-4AC1-AC36-1779B83610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29561-9F47-4BC4-83B4-86330AC251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FB1F5F-4B7D-40FE-AE87-C9C750581EC7}" type="slidenum">
              <a:rPr lang="en-US" smtClean="0"/>
              <a:pPr>
                <a:defRPr/>
              </a:pPr>
              <a:t>13</a:t>
            </a:fld>
            <a:endParaRPr lang="en-US" b="0" dirty="0">
              <a:latin typeface="Times New Roman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848D6A-6FFD-425F-AA26-EDCB2BC9BDBC}"/>
              </a:ext>
            </a:extLst>
          </p:cNvPr>
          <p:cNvSpPr/>
          <p:nvPr/>
        </p:nvSpPr>
        <p:spPr bwMode="auto">
          <a:xfrm>
            <a:off x="2850078" y="2446317"/>
            <a:ext cx="3716977" cy="1686296"/>
          </a:xfrm>
          <a:prstGeom prst="rect">
            <a:avLst/>
          </a:prstGeom>
          <a:solidFill>
            <a:srgbClr val="79A6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N" sz="8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321705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8"/>
  <p:tag name="MMPROD_UIDATA" val="&lt;database version=&quot;6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&quot;/&gt;&lt;property id=&quot;20307&quot; value=&quot;374&quot;/&gt;&lt;/object&gt;&lt;object type=&quot;3&quot; unique_id=&quot;10005&quot;&gt;&lt;property id=&quot;20148&quot; value=&quot;5&quot;/&gt;&lt;property id=&quot;20300&quot; value=&quot;Slide 2&quot;/&gt;&lt;property id=&quot;20307&quot; value=&quot;376&quot;/&gt;&lt;/object&gt;&lt;object type=&quot;3&quot; unique_id=&quot;10006&quot;&gt;&lt;property id=&quot;20148&quot; value=&quot;5&quot;/&gt;&lt;property id=&quot;20300&quot; value=&quot;Slide 3 - &amp;quot;Objectives&amp;quot;&quot;/&gt;&lt;property id=&quot;20307&quot; value=&quot;257&quot;/&gt;&lt;/object&gt;&lt;object type=&quot;3&quot; unique_id=&quot;10007&quot;&gt;&lt;property id=&quot;20148&quot; value=&quot;5&quot;/&gt;&lt;property id=&quot;20300&quot; value=&quot;Slide 4 - &amp;quot;Combining Data from Multiple Tables&amp;quot;&quot;/&gt;&lt;property id=&quot;20307&quot; value=&quot;260&quot;/&gt;&lt;/object&gt;&lt;object type=&quot;3&quot; unique_id=&quot;10008&quot;&gt;&lt;property id=&quot;20148&quot; value=&quot;5&quot;/&gt;&lt;property id=&quot;20300&quot; value=&quot;Slide 5 - &amp;quot;Combining Data from Multiple Tables&amp;quot;&quot;/&gt;&lt;property id=&quot;20307&quot; value=&quot;259&quot;/&gt;&lt;/object&gt;&lt;object type=&quot;3&quot; unique_id=&quot;10009&quot;&gt;&lt;property id=&quot;20148&quot; value=&quot;5&quot;/&gt;&lt;property id=&quot;20300&quot; value=&quot;Slide 6&quot;/&gt;&lt;property id=&quot;20307&quot; value=&quot;445&quot;/&gt;&lt;/object&gt;&lt;object type=&quot;3&quot; unique_id=&quot;10012&quot;&gt;&lt;property id=&quot;20148&quot; value=&quot;5&quot;/&gt;&lt;property id=&quot;20300&quot; value=&quot;Slide 9 - &amp;quot;Types of Joins&amp;quot;&quot;/&gt;&lt;property id=&quot;20307&quot; value=&quot;261&quot;/&gt;&lt;/object&gt;&lt;object type=&quot;3&quot; unique_id=&quot;10013&quot;&gt;&lt;property id=&quot;20148&quot; value=&quot;5&quot;/&gt;&lt;property id=&quot;20300&quot; value=&quot;Slide 10 - &amp;quot;Types of Joins&amp;quot;&quot;/&gt;&lt;property id=&quot;20307&quot; value=&quot;262&quot;/&gt;&lt;/object&gt;&lt;object type=&quot;3&quot; unique_id=&quot;10014&quot;&gt;&lt;property id=&quot;20148&quot; value=&quot;5&quot;/&gt;&lt;property id=&quot;20300&quot; value=&quot;Slide 11 - &amp;quot;Types of Joins&amp;quot;&quot;/&gt;&lt;property id=&quot;20307&quot; value=&quot;372&quot;/&gt;&lt;/object&gt;&lt;object type=&quot;3&quot; unique_id=&quot;10015&quot;&gt;&lt;property id=&quot;20148&quot; value=&quot;5&quot;/&gt;&lt;property id=&quot;20300&quot; value=&quot;Slide 12 - &amp;quot;Cartesian Product&amp;quot;&quot;/&gt;&lt;property id=&quot;20307&quot; value=&quot;264&quot;/&gt;&lt;/object&gt;&lt;object type=&quot;3&quot; unique_id=&quot;10016&quot;&gt;&lt;property id=&quot;20148&quot; value=&quot;5&quot;/&gt;&lt;property id=&quot;20300&quot; value=&quot;Slide 13 - &amp;quot;Cartesian Product&amp;quot;&quot;/&gt;&lt;property id=&quot;20307&quot; value=&quot;386&quot;/&gt;&lt;/object&gt;&lt;object type=&quot;3&quot; unique_id=&quot;10017&quot;&gt;&lt;property id=&quot;20148&quot; value=&quot;5&quot;/&gt;&lt;property id=&quot;20300&quot; value=&quot;Slide 14 - &amp;quot;Cartesian Product&amp;quot;&quot;/&gt;&lt;property id=&quot;20307&quot; value=&quot;390&quot;/&gt;&lt;/object&gt;&lt;object type=&quot;3&quot; unique_id=&quot;10018&quot;&gt;&lt;property id=&quot;20148&quot; value=&quot;5&quot;/&gt;&lt;property id=&quot;20300&quot; value=&quot;Slide 15 - &amp;quot;Cartesian Product&amp;quot;&quot;/&gt;&lt;property id=&quot;20307&quot; value=&quot;389&quot;/&gt;&lt;/object&gt;&lt;object type=&quot;3&quot; unique_id=&quot;10019&quot;&gt;&lt;property id=&quot;20148&quot; value=&quot;5&quot;/&gt;&lt;property id=&quot;20300&quot; value=&quot;Slide 16 - &amp;quot;Cartesian Product&amp;quot;&quot;/&gt;&lt;property id=&quot;20307&quot; value=&quot;388&quot;/&gt;&lt;/object&gt;&lt;object type=&quot;3&quot; unique_id=&quot;10020&quot;&gt;&lt;property id=&quot;20148&quot; value=&quot;5&quot;/&gt;&lt;property id=&quot;20300&quot; value=&quot;Slide 17 - &amp;quot;Cartesian Product&amp;quot;&quot;/&gt;&lt;property id=&quot;20307&quot; value=&quot;381&quot;/&gt;&lt;/object&gt;&lt;object type=&quot;3&quot; unique_id=&quot;10021&quot;&gt;&lt;property id=&quot;20148&quot; value=&quot;5&quot;/&gt;&lt;property id=&quot;20300&quot; value=&quot;Slide 18 - &amp;quot;Cartesian Product&amp;quot;&quot;/&gt;&lt;property id=&quot;20307&quot; value=&quot;384&quot;/&gt;&lt;/object&gt;&lt;object type=&quot;3&quot; unique_id=&quot;10022&quot;&gt;&lt;property id=&quot;20148&quot; value=&quot;5&quot;/&gt;&lt;property id=&quot;20300&quot; value=&quot;Slide 19 - &amp;quot;Cartesian Product&amp;quot;&quot;/&gt;&lt;property id=&quot;20307&quot; value=&quot;383&quot;/&gt;&lt;/object&gt;&lt;object type=&quot;3&quot; unique_id=&quot;10023&quot;&gt;&lt;property id=&quot;20148&quot; value=&quot;5&quot;/&gt;&lt;property id=&quot;20300&quot; value=&quot;Slide 20 - &amp;quot;Cartesian Product&amp;quot;&quot;/&gt;&lt;property id=&quot;20307&quot; value=&quot;382&quot;/&gt;&lt;/object&gt;&lt;object type=&quot;3&quot; unique_id=&quot;10024&quot;&gt;&lt;property id=&quot;20148&quot; value=&quot;5&quot;/&gt;&lt;property id=&quot;20300&quot; value=&quot;Slide 21 - &amp;quot;Cartesian Product&amp;quot;&quot;/&gt;&lt;property id=&quot;20307&quot; value=&quot;380&quot;/&gt;&lt;/object&gt;&lt;object type=&quot;3&quot; unique_id=&quot;10025&quot;&gt;&lt;property id=&quot;20148&quot; value=&quot;5&quot;/&gt;&lt;property id=&quot;20300&quot; value=&quot;Slide 22 - &amp;quot;Cartesian Product&amp;quot;&quot;/&gt;&lt;property id=&quot;20307&quot; value=&quot;274&quot;/&gt;&lt;/object&gt;&lt;object type=&quot;3&quot; unique_id=&quot;10026&quot;&gt;&lt;property id=&quot;20148&quot; value=&quot;5&quot;/&gt;&lt;property id=&quot;20300&quot; value=&quot;Slide 23 - &amp;quot;Cartesian Product&amp;quot;&quot;/&gt;&lt;property id=&quot;20307&quot; value=&quot;397&quot;/&gt;&lt;/object&gt;&lt;object type=&quot;3&quot; unique_id=&quot;10027&quot;&gt;&lt;property id=&quot;20148&quot; value=&quot;5&quot;/&gt;&lt;property id=&quot;20300&quot; value=&quot;Slide 24 - &amp;quot;Cartesian Product&amp;quot;&quot;/&gt;&lt;property id=&quot;20307&quot; value=&quot;391&quot;/&gt;&lt;/object&gt;&lt;object type=&quot;3&quot; unique_id=&quot;10028&quot;&gt;&lt;property id=&quot;20148&quot; value=&quot;5&quot;/&gt;&lt;property id=&quot;20300&quot; value=&quot;Slide 25 - &amp;quot;Cartesian Product&amp;quot;&quot;/&gt;&lt;property id=&quot;20307&quot; value=&quot;392&quot;/&gt;&lt;/object&gt;&lt;object type=&quot;3&quot; unique_id=&quot;10029&quot;&gt;&lt;property id=&quot;20148&quot; value=&quot;5&quot;/&gt;&lt;property id=&quot;20300&quot; value=&quot;Slide 26 - &amp;quot;Cartesian Product&amp;quot;&quot;/&gt;&lt;property id=&quot;20307&quot; value=&quot;393&quot;/&gt;&lt;/object&gt;&lt;object type=&quot;3&quot; unique_id=&quot;10030&quot;&gt;&lt;property id=&quot;20148&quot; value=&quot;5&quot;/&gt;&lt;property id=&quot;20300&quot; value=&quot;Slide 27 - &amp;quot;Cartesian Product&amp;quot;&quot;/&gt;&lt;property id=&quot;20307&quot; value=&quot;396&quot;/&gt;&lt;/object&gt;&lt;object type=&quot;3&quot; unique_id=&quot;10034&quot;&gt;&lt;property id=&quot;20148&quot; value=&quot;5&quot;/&gt;&lt;property id=&quot;20300&quot; value=&quot;Slide 31 - &amp;quot;Inner Joins&amp;quot;&quot;/&gt;&lt;property id=&quot;20307&quot; value=&quot;276&quot;/&gt;&lt;/object&gt;&lt;object type=&quot;3&quot; unique_id=&quot;10035&quot;&gt;&lt;property id=&quot;20148&quot; value=&quot;5&quot;/&gt;&lt;property id=&quot;20300&quot; value=&quot;Slide 32 - &amp;quot;Inner Joins&amp;quot;&quot;/&gt;&lt;property id=&quot;20307&quot; value=&quot;407&quot;/&gt;&lt;/object&gt;&lt;object type=&quot;3&quot; unique_id=&quot;10036&quot;&gt;&lt;property id=&quot;20148&quot; value=&quot;5&quot;/&gt;&lt;property id=&quot;20300&quot; value=&quot;Slide 33 - &amp;quot;Inner Joins&amp;quot;&quot;/&gt;&lt;property id=&quot;20307&quot; value=&quot;277&quot;/&gt;&lt;/object&gt;&lt;object type=&quot;3&quot; unique_id=&quot;10037&quot;&gt;&lt;property id=&quot;20148&quot; value=&quot;5&quot;/&gt;&lt;property id=&quot;20300&quot; value=&quot;Slide 34 - &amp;quot;Inner Joins: Cartesian Product Built&amp;quot;&quot;/&gt;&lt;property id=&quot;20307&quot; value=&quot;278&quot;/&gt;&lt;/object&gt;&lt;object type=&quot;3&quot; unique_id=&quot;10040&quot;&gt;&lt;property id=&quot;20148&quot; value=&quot;5&quot;/&gt;&lt;property id=&quot;20300&quot; value=&quot;Slide 37 - &amp;quot;Inner Joins&amp;quot;&quot;/&gt;&lt;property id=&quot;20307&quot; value=&quot;282&quot;/&gt;&lt;/object&gt;&lt;object type=&quot;3&quot; unique_id=&quot;10042&quot;&gt;&lt;property id=&quot;20148&quot; value=&quot;5&quot;/&gt;&lt;property id=&quot;20300&quot; value=&quot;Slide 38 - &amp;quot;Inner Joins&amp;quot;&quot;/&gt;&lt;property id=&quot;20307&quot; value=&quot;404&quot;/&gt;&lt;/object&gt;&lt;object type=&quot;3&quot; unique_id=&quot;10043&quot;&gt;&lt;property id=&quot;20148&quot; value=&quot;5&quot;/&gt;&lt;property id=&quot;20300&quot; value=&quot;Slide 40&quot;/&gt;&lt;property id=&quot;20307&quot; value=&quot;448&quot;/&gt;&lt;/object&gt;&lt;object type=&quot;3&quot; unique_id=&quot;10044&quot;&gt;&lt;property id=&quot;20148&quot; value=&quot;5&quot;/&gt;&lt;property id=&quot;20300&quot; value=&quot;Slide 41 - &amp;quot;Setup for the Poll&amp;quot;&quot;/&gt;&lt;property id=&quot;20307&quot; value=&quot;444&quot;/&gt;&lt;/object&gt;&lt;object type=&quot;3&quot; unique_id=&quot;10047&quot;&gt;&lt;property id=&quot;20148&quot; value=&quot;5&quot;/&gt;&lt;property id=&quot;20300&quot; value=&quot;Slide 44 - &amp;quot;Business Scenario&amp;quot;&quot;/&gt;&lt;property id=&quot;20307&quot; value=&quot;285&quot;/&gt;&lt;/object&gt;&lt;object type=&quot;3&quot; unique_id=&quot;10048&quot;&gt;&lt;property id=&quot;20148&quot; value=&quot;5&quot;/&gt;&lt;property id=&quot;20300&quot; value=&quot;Slide 45 - &amp;quot;Business Scenario&amp;quot;&quot;/&gt;&lt;property id=&quot;20307&quot; value=&quot;417&quot;/&gt;&lt;/object&gt;&lt;object type=&quot;3&quot; unique_id=&quot;10049&quot;&gt;&lt;property id=&quot;20148&quot; value=&quot;5&quot;/&gt;&lt;property id=&quot;20300&quot; value=&quot;Slide 46 - &amp;quot;The CATX Function&amp;quot;&quot;/&gt;&lt;property id=&quot;20307&quot; value=&quot;439&quot;/&gt;&lt;/object&gt;&lt;object type=&quot;3&quot; unique_id=&quot;10050&quot;&gt;&lt;property id=&quot;20148&quot; value=&quot;5&quot;/&gt;&lt;property id=&quot;20300&quot; value=&quot;Slide 47 - &amp;quot;The CATX Function&amp;quot;&quot;/&gt;&lt;property id=&quot;20307&quot; value=&quot;440&quot;/&gt;&lt;/object&gt;&lt;object type=&quot;3&quot; unique_id=&quot;10051&quot;&gt;&lt;property id=&quot;20148&quot; value=&quot;5&quot;/&gt;&lt;property id=&quot;20300&quot; value=&quot;Slide 48 - &amp;quot;Inner Joins&amp;quot;&quot;/&gt;&lt;property id=&quot;20307&quot; value=&quot;286&quot;/&gt;&lt;/object&gt;&lt;object type=&quot;3&quot; unique_id=&quot;10052&quot;&gt;&lt;property id=&quot;20148&quot; value=&quot;5&quot;/&gt;&lt;property id=&quot;20300&quot; value=&quot;Slide 49 - &amp;quot;Inner Joins&amp;quot;&quot;/&gt;&lt;property id=&quot;20307&quot; value=&quot;287&quot;/&gt;&lt;/object&gt;&lt;object type=&quot;3&quot; unique_id=&quot;10053&quot;&gt;&lt;property id=&quot;20148&quot; value=&quot;5&quot;/&gt;&lt;property id=&quot;20300&quot; value=&quot;Slide 50 - &amp;quot;Inner Join Alternate Syntax&amp;quot;&quot;/&gt;&lt;property id=&quot;20307&quot; value=&quot;409&quot;/&gt;&lt;/object&gt;&lt;object type=&quot;3&quot; unique_id=&quot;10054&quot;&gt;&lt;property id=&quot;20148&quot; value=&quot;5&quot;/&gt;&lt;property id=&quot;20300&quot; value=&quot;Slide 51 - &amp;quot;Inner Join Alternate Syntax&amp;quot;&quot;/&gt;&lt;property id=&quot;20307&quot; value=&quot;408&quot;/&gt;&lt;/object&gt;&lt;object type=&quot;3&quot; unique_id=&quot;10055&quot;&gt;&lt;property id=&quot;20148&quot; value=&quot;5&quot;/&gt;&lt;property id=&quot;20300&quot; value=&quot;Slide 52&quot;/&gt;&lt;property id=&quot;20307&quot; value=&quot;449&quot;/&gt;&lt;/object&gt;&lt;object type=&quot;3&quot; unique_id=&quot;10058&quot;&gt;&lt;property id=&quot;20148&quot; value=&quot;5&quot;/&gt;&lt;property id=&quot;20300&quot; value=&quot;Slide 55&quot;/&gt;&lt;property id=&quot;20307&quot; value=&quot;346&quot;/&gt;&lt;/object&gt;&lt;object type=&quot;3&quot; unique_id=&quot;10059&quot;&gt;&lt;property id=&quot;20148&quot; value=&quot;5&quot;/&gt;&lt;property id=&quot;20300&quot; value=&quot;Slide 56 - &amp;quot;Outer Joins&amp;quot;&quot;/&gt;&lt;property id=&quot;20307&quot; value=&quot;348&quot;/&gt;&lt;/object&gt;&lt;object type=&quot;3&quot; unique_id=&quot;10060&quot;&gt;&lt;property id=&quot;20148&quot; value=&quot;5&quot;/&gt;&lt;property id=&quot;20300&quot; value=&quot;Slide 57 - &amp;quot;Outer Joins&amp;quot;&quot;/&gt;&lt;property id=&quot;20307&quot; value=&quot;373&quot;/&gt;&lt;/object&gt;&lt;object type=&quot;3&quot; unique_id=&quot;10061&quot;&gt;&lt;property id=&quot;20148&quot; value=&quot;5&quot;/&gt;&lt;property id=&quot;20300&quot; value=&quot;Slide 58 - &amp;quot;Compare Inner Joins And Outer Joins&amp;quot;&quot;/&gt;&lt;property id=&quot;20307&quot; value=&quot;359&quot;/&gt;&lt;/object&gt;&lt;object type=&quot;3&quot; unique_id=&quot;10062&quot;&gt;&lt;property id=&quot;20148&quot; value=&quot;5&quot;/&gt;&lt;property id=&quot;20300&quot; value=&quot;Slide 59 - &amp;quot;Outer Joins&amp;quot;&quot;/&gt;&lt;property id=&quot;20307&quot; value=&quot;289&quot;/&gt;&lt;/object&gt;&lt;object type=&quot;3&quot; unique_id=&quot;10063&quot;&gt;&lt;property id=&quot;20148&quot; value=&quot;5&quot;/&gt;&lt;property id=&quot;20300&quot; value=&quot;Slide 60 - &amp;quot;Determining Left and Right&amp;quot;&quot;/&gt;&lt;property id=&quot;20307&quot; value=&quot;360&quot;/&gt;&lt;/object&gt;&lt;object type=&quot;3&quot; unique_id=&quot;10064&quot;&gt;&lt;property id=&quot;20148&quot; value=&quot;5&quot;/&gt;&lt;property id=&quot;20300&quot; value=&quot;Slide 61 - &amp;quot;Left Join&amp;quot;&quot;/&gt;&lt;property id=&quot;20307&quot; value=&quot;290&quot;/&gt;&lt;/object&gt;&lt;object type=&quot;3&quot; unique_id=&quot;10065&quot;&gt;&lt;property id=&quot;20148&quot; value=&quot;5&quot;/&gt;&lt;property id=&quot;20300&quot; value=&quot;Slide 62 - &amp;quot;Right Join&amp;quot;&quot;/&gt;&lt;property id=&quot;20307&quot; value=&quot;410&quot;/&gt;&lt;/object&gt;&lt;object type=&quot;3&quot; unique_id=&quot;10066&quot;&gt;&lt;property id=&quot;20148&quot; value=&quot;5&quot;/&gt;&lt;property id=&quot;20300&quot; value=&quot;Slide 63 - &amp;quot;Full Join&amp;quot;&quot;/&gt;&lt;property id=&quot;20307&quot; value=&quot;411&quot;/&gt;&lt;/object&gt;&lt;object type=&quot;3&quot; unique_id=&quot;10068&quot;&gt;&lt;property id=&quot;20148&quot; value=&quot;5&quot;/&gt;&lt;property id=&quot;20300&quot; value=&quot;Slide 73 - &amp;quot;Outer Joins&amp;quot;&quot;/&gt;&lt;property id=&quot;20307&quot; value=&quot;294&quot;/&gt;&lt;/object&gt;&lt;object type=&quot;3&quot; unique_id=&quot;10069&quot;&gt;&lt;property id=&quot;20148&quot; value=&quot;5&quot;/&gt;&lt;property id=&quot;20300&quot; value=&quot;Slide 74 - &amp;quot;Outer Joins&amp;quot;&quot;/&gt;&lt;property id=&quot;20307&quot; value=&quot;295&quot;/&gt;&lt;/object&gt;&lt;object type=&quot;3&quot; unique_id=&quot;10070&quot;&gt;&lt;property id=&quot;20148&quot; value=&quot;5&quot;/&gt;&lt;property id=&quot;20300&quot; value=&quot;Slide 75 - &amp;quot;Using a Table Alias&amp;quot;&quot;/&gt;&lt;property id=&quot;20307&quot; value=&quot;296&quot;/&gt;&lt;/object&gt;&lt;object type=&quot;3&quot; unique_id=&quot;10071&quot;&gt;&lt;property id=&quot;20148&quot; value=&quot;5&quot;/&gt;&lt;property id=&quot;20300&quot; value=&quot;Slide 76 - &amp;quot;Using a Table Alias&amp;quot;&quot;/&gt;&lt;property id=&quot;20307&quot; value=&quot;412&quot;/&gt;&lt;/object&gt;&lt;object type=&quot;3&quot; unique_id=&quot;10072&quot;&gt;&lt;property id=&quot;20148&quot; value=&quot;5&quot;/&gt;&lt;property id=&quot;20300&quot; value=&quot;Slide 77 - &amp;quot;DATA Step Merge (Review)&amp;quot;&quot;/&gt;&lt;property id=&quot;20307&quot; value=&quot;298&quot;/&gt;&lt;/object&gt;&lt;object type=&quot;3&quot; unique_id=&quot;10073&quot;&gt;&lt;property id=&quot;20148&quot; value=&quot;5&quot;/&gt;&lt;property id=&quot;20300&quot; value=&quot;Slide 78 - &amp;quot;SQL Join versus DATA Step Merge&amp;quot;&quot;/&gt;&lt;property id=&quot;20307&quot; value=&quot;336&quot;/&gt;&lt;/object&gt;&lt;object type=&quot;3&quot; unique_id=&quot;10074&quot;&gt;&lt;property id=&quot;20148&quot; value=&quot;5&quot;/&gt;&lt;property id=&quot;20300&quot; value=&quot;Slide 80 - &amp;quot;SQL Join versus DATA Step Merge&amp;quot;&quot;/&gt;&lt;property id=&quot;20307&quot; value=&quot;418&quot;/&gt;&lt;/object&gt;&lt;object type=&quot;3&quot; unique_id=&quot;10075&quot;&gt;&lt;property id=&quot;20148&quot; value=&quot;5&quot;/&gt;&lt;property id=&quot;20300&quot; value=&quot;Slide 81 - &amp;quot;SQL Join versus DATA Step Merge&amp;quot;&quot;/&gt;&lt;property id=&quot;20307&quot; value=&quot;361&quot;/&gt;&lt;/object&gt;&lt;object type=&quot;3&quot; unique_id=&quot;10076&quot;&gt;&lt;property id=&quot;20148&quot; value=&quot;5&quot;/&gt;&lt;property id=&quot;20300&quot; value=&quot;Slide 82&quot;/&gt;&lt;property id=&quot;20307&quot; value=&quot;345&quot;/&gt;&lt;/object&gt;&lt;object type=&quot;3&quot; unique_id=&quot;10078&quot;&gt;&lt;property id=&quot;20148&quot; value=&quot;5&quot;/&gt;&lt;property id=&quot;20300&quot; value=&quot;Slide 84&quot;/&gt;&lt;property id=&quot;20307&quot; value=&quot;377&quot;/&gt;&lt;/object&gt;&lt;object type=&quot;3&quot; unique_id=&quot;10079&quot;&gt;&lt;property id=&quot;20148&quot; value=&quot;5&quot;/&gt;&lt;property id=&quot;20300&quot; value=&quot;Slide 86 - &amp;quot;In-Line Views&amp;quot;&quot;/&gt;&lt;property id=&quot;20307&quot; value=&quot;306&quot;/&gt;&lt;/object&gt;&lt;object type=&quot;3&quot; unique_id=&quot;10080&quot;&gt;&lt;property id=&quot;20148&quot; value=&quot;5&quot;/&gt;&lt;property id=&quot;20300&quot; value=&quot;Slide 87 - &amp;quot;In-Line Views&amp;quot;&quot;/&gt;&lt;property id=&quot;20307&quot; value=&quot;370&quot;/&gt;&lt;/object&gt;&lt;object type=&quot;3&quot; unique_id=&quot;10081&quot;&gt;&lt;property id=&quot;20148&quot; value=&quot;5&quot;/&gt;&lt;property id=&quot;20300&quot; value=&quot;Slide 89 - &amp;quot;Considerations&amp;quot;&quot;/&gt;&lt;property id=&quot;20307&quot; value=&quot;307&quot;/&gt;&lt;/object&gt;&lt;object type=&quot;3&quot; unique_id=&quot;10082&quot;&gt;&lt;property id=&quot;20148&quot; value=&quot;5&quot;/&gt;&lt;property id=&quot;20300&quot; value=&quot;Slide 90 - &amp;quot;In-Line Views&amp;quot;&quot;/&gt;&lt;property id=&quot;20307&quot; value=&quot;369&quot;/&gt;&lt;/object&gt;&lt;object type=&quot;3&quot; unique_id=&quot;10083&quot;&gt;&lt;property id=&quot;20148&quot; value=&quot;5&quot;/&gt;&lt;property id=&quot;20300&quot; value=&quot;Slide 91 - &amp;quot;In-Line Views&amp;quot;&quot;/&gt;&lt;property id=&quot;20307&quot; value=&quot;420&quot;/&gt;&lt;/object&gt;&lt;object type=&quot;3&quot; unique_id=&quot;10084&quot;&gt;&lt;property id=&quot;20148&quot; value=&quot;5&quot;/&gt;&lt;property id=&quot;20300&quot; value=&quot;Slide 92 - &amp;quot;In-Line Views&amp;quot;&quot;/&gt;&lt;property id=&quot;20307&quot; value=&quot;416&quot;/&gt;&lt;/object&gt;&lt;object type=&quot;3&quot; unique_id=&quot;10085&quot;&gt;&lt;property id=&quot;20148&quot; value=&quot;5&quot;/&gt;&lt;property id=&quot;20300&quot; value=&quot;Slide 93 - &amp;quot;In-Line Views&amp;quot;&quot;/&gt;&lt;property id=&quot;20307&quot; value=&quot;352&quot;/&gt;&lt;/object&gt;&lt;object type=&quot;3&quot; unique_id=&quot;10086&quot;&gt;&lt;property id=&quot;20148&quot; value=&quot;5&quot;/&gt;&lt;property id=&quot;20300&quot; value=&quot;Slide 94 - &amp;quot;In-Line Views&amp;quot;&quot;/&gt;&lt;property id=&quot;20307&quot; value=&quot;308&quot;/&gt;&lt;/object&gt;&lt;object type=&quot;3&quot; unique_id=&quot;10087&quot;&gt;&lt;property id=&quot;20148&quot; value=&quot;5&quot;/&gt;&lt;property id=&quot;20300&quot; value=&quot;Slide 95&quot;/&gt;&lt;property id=&quot;20307&quot; value=&quot;347&quot;/&gt;&lt;/object&gt;&lt;object type=&quot;3&quot; unique_id=&quot;10088&quot;&gt;&lt;property id=&quot;20148&quot; value=&quot;5&quot;/&gt;&lt;property id=&quot;20300&quot; value=&quot;Slide 96 - &amp;quot;Business Scenario&amp;quot;&quot;/&gt;&lt;property id=&quot;20307&quot; value=&quot;313&quot;/&gt;&lt;/object&gt;&lt;object type=&quot;3&quot; unique_id=&quot;10089&quot;&gt;&lt;property id=&quot;20148&quot; value=&quot;5&quot;/&gt;&lt;property id=&quot;20300&quot; value=&quot;Slide 97 - &amp;quot;Planning the Complex Query&amp;quot;&quot;/&gt;&lt;property id=&quot;20307&quot; value=&quot;421&quot;/&gt;&lt;/object&gt;&lt;object type=&quot;3&quot; unique_id=&quot;10090&quot;&gt;&lt;property id=&quot;20148&quot; value=&quot;5&quot;/&gt;&lt;property id=&quot;20300&quot; value=&quot;Slide 98 - &amp;quot;Complex Query: Step 1 Considerations&amp;quot;&quot;/&gt;&lt;property id=&quot;20307&quot; value=&quot;362&quot;/&gt;&lt;/object&gt;&lt;object type=&quot;3&quot; unique_id=&quot;10091&quot;&gt;&lt;property id=&quot;20148&quot; value=&quot;5&quot;/&gt;&lt;property id=&quot;20300&quot; value=&quot;Slide 99 - &amp;quot;Coding the Complex Query&amp;quot;&quot;/&gt;&lt;property id=&quot;20307&quot; value=&quot;315&quot;/&gt;&lt;/object&gt;&lt;object type=&quot;3&quot; unique_id=&quot;10092&quot;&gt;&lt;property id=&quot;20148&quot; value=&quot;5&quot;/&gt;&lt;property id=&quot;20300&quot; value=&quot;Slide 100 - &amp;quot;Coding the Complex Query&amp;quot;&quot;/&gt;&lt;property id=&quot;20307&quot; value=&quot;316&quot;/&gt;&lt;/object&gt;&lt;object type=&quot;3&quot; unique_id=&quot;10093&quot;&gt;&lt;property id=&quot;20148&quot; value=&quot;5&quot;/&gt;&lt;property id=&quot;20300&quot; value=&quot;Slide 101 - &amp;quot;Complex Query: Step 2 Considerations&amp;quot;&quot;/&gt;&lt;property id=&quot;20307&quot; value=&quot;422&quot;/&gt;&lt;/object&gt;&lt;object type=&quot;3&quot; unique_id=&quot;10094&quot;&gt;&lt;property id=&quot;20148&quot; value=&quot;5&quot;/&gt;&lt;property id=&quot;20300&quot; value=&quot;Slide 105 - &amp;quot;Coding the Complex Query&amp;quot;&quot;/&gt;&lt;property id=&quot;20307&quot; value=&quot;349&quot;/&gt;&lt;/object&gt;&lt;object type=&quot;3&quot; unique_id=&quot;10095&quot;&gt;&lt;property id=&quot;20148&quot; value=&quot;5&quot;/&gt;&lt;property id=&quot;20300&quot; value=&quot;Slide 106 - &amp;quot;Coding the Complex Query&amp;quot;&quot;/&gt;&lt;property id=&quot;20307&quot; value=&quot;425&quot;/&gt;&lt;/object&gt;&lt;object type=&quot;3&quot; unique_id=&quot;10096&quot;&gt;&lt;property id=&quot;20148&quot; value=&quot;5&quot;/&gt;&lt;property id=&quot;20300&quot; value=&quot;Slide 107 - &amp;quot;Coding the Complex Query&amp;quot;&quot;/&gt;&lt;property id=&quot;20307&quot; value=&quot;318&quot;/&gt;&lt;/object&gt;&lt;object type=&quot;3&quot; unique_id=&quot;10098&quot;&gt;&lt;property id=&quot;20148&quot; value=&quot;5&quot;/&gt;&lt;property id=&quot;20300&quot; value=&quot;Slide 112 - &amp;quot;Coding the Complex Query&amp;quot;&quot;/&gt;&lt;property id=&quot;20307&quot; value=&quot;424&quot;/&gt;&lt;/object&gt;&lt;object type=&quot;3&quot; unique_id=&quot;10099&quot;&gt;&lt;property id=&quot;20148&quot; value=&quot;5&quot;/&gt;&lt;property id=&quot;20300&quot; value=&quot;Slide 113 - &amp;quot;Coding the Complex Query&amp;quot;&quot;/&gt;&lt;property id=&quot;20307&quot; value=&quot;426&quot;/&gt;&lt;/object&gt;&lt;object type=&quot;3&quot; unique_id=&quot;10100&quot;&gt;&lt;property id=&quot;20148&quot; value=&quot;5&quot;/&gt;&lt;property id=&quot;20300&quot; value=&quot;Slide 114 - &amp;quot;Coding the Complex Query&amp;quot;&quot;/&gt;&lt;property id=&quot;20307&quot; value=&quot;320&quot;/&gt;&lt;/object&gt;&lt;object type=&quot;3&quot; unique_id=&quot;10101&quot;&gt;&lt;property id=&quot;20148&quot; value=&quot;5&quot;/&gt;&lt;property id=&quot;20300&quot; value=&quot;Slide 115 - &amp;quot;Coding the Complex Query&amp;quot;&quot;/&gt;&lt;property id=&quot;20307&quot; value=&quot;323&quot;/&gt;&lt;/object&gt;&lt;object type=&quot;3&quot; unique_id=&quot;10102&quot;&gt;&lt;property id=&quot;20148&quot; value=&quot;5&quot;/&gt;&lt;property id=&quot;20300&quot; value=&quot;Slide 116&quot;/&gt;&lt;property id=&quot;20307&quot; value=&quot;343&quot;/&gt;&lt;/object&gt;&lt;object type=&quot;3&quot; unique_id=&quot;10104&quot;&gt;&lt;property id=&quot;20148&quot; value=&quot;5&quot;/&gt;&lt;property id=&quot;20300&quot; value=&quot;Slide 28&quot;/&gt;&lt;property id=&quot;20307&quot; value=&quot;450&quot;/&gt;&lt;/object&gt;&lt;object type=&quot;3&quot; unique_id=&quot;10105&quot;&gt;&lt;property id=&quot;20148&quot; value=&quot;5&quot;/&gt;&lt;property id=&quot;20300&quot; value=&quot;Slide 7 - &amp;quot;5.01 Multiple Choice Poll&amp;quot;&quot;/&gt;&lt;property id=&quot;20307&quot; value=&quot;473&quot;/&gt;&lt;/object&gt;&lt;object type=&quot;3&quot; unique_id=&quot;10106&quot;&gt;&lt;property id=&quot;20148&quot; value=&quot;5&quot;/&gt;&lt;property id=&quot;20300&quot; value=&quot;Slide 8 - &amp;quot;5.01 Multiple Choice Poll – Correct Answer&amp;quot;&quot;/&gt;&lt;property id=&quot;20307&quot; value=&quot;474&quot;/&gt;&lt;/object&gt;&lt;object type=&quot;3&quot; unique_id=&quot;10107&quot;&gt;&lt;property id=&quot;20148&quot; value=&quot;5&quot;/&gt;&lt;property id=&quot;20300&quot; value=&quot;Slide 29 - &amp;quot;5.02 Quiz&amp;quot;&quot;/&gt;&lt;property id=&quot;20307&quot; value=&quot;475&quot;/&gt;&lt;/object&gt;&lt;object type=&quot;3&quot; unique_id=&quot;10108&quot;&gt;&lt;property id=&quot;20148&quot; value=&quot;5&quot;/&gt;&lt;property id=&quot;20300&quot; value=&quot;Slide 30 - &amp;quot;5.02 Quiz – Correct Answer&amp;quot;&quot;/&gt;&lt;property id=&quot;20307&quot; value=&quot;476&quot;/&gt;&lt;/object&gt;&lt;object type=&quot;3&quot; unique_id=&quot;10109&quot;&gt;&lt;property id=&quot;20148&quot; value=&quot;5&quot;/&gt;&lt;property id=&quot;20300&quot; value=&quot;Slide 35 - &amp;quot;Inner Joins: WHERE Clause Restricts Rows&amp;quot;&quot;/&gt;&lt;property id=&quot;20307&quot; value=&quot;451&quot;/&gt;&lt;/object&gt;&lt;object type=&quot;3&quot; unique_id=&quot;10110&quot;&gt;&lt;property id=&quot;20148&quot; value=&quot;5&quot;/&gt;&lt;property id=&quot;20300&quot; value=&quot;Slide 36 - &amp;quot;Inner Joins: Results Are Returned&amp;quot;&quot;/&gt;&lt;property id=&quot;20307&quot; value=&quot;452&quot;/&gt;&lt;/object&gt;&lt;object type=&quot;3&quot; unique_id=&quot;10111&quot;&gt;&lt;property id=&quot;20148&quot; value=&quot;5&quot;/&gt;&lt;property id=&quot;20300&quot; value=&quot;Slide 39 - &amp;quot;Inner Joins&amp;quot;&quot;/&gt;&lt;property id=&quot;20307&quot; value=&quot;454&quot;/&gt;&lt;/object&gt;&lt;object type=&quot;3&quot; unique_id=&quot;10112&quot;&gt;&lt;property id=&quot;20148&quot; value=&quot;5&quot;/&gt;&lt;property id=&quot;20300&quot; value=&quot;Slide 42 - &amp;quot;5.03 Multiple Choice Poll&amp;quot;&quot;/&gt;&lt;property id=&quot;20307&quot; value=&quot;477&quot;/&gt;&lt;/object&gt;&lt;object type=&quot;3&quot; unique_id=&quot;10113&quot;&gt;&lt;property id=&quot;20148&quot; value=&quot;5&quot;/&gt;&lt;property id=&quot;20300&quot; value=&quot;Slide 43 - &amp;quot;5.03 Multiple Choice Poll – Correct Answer&amp;quot;&quot;/&gt;&lt;property id=&quot;20307&quot; value=&quot;478&quot;/&gt;&lt;/object&gt;&lt;object type=&quot;3&quot; unique_id=&quot;10114&quot;&gt;&lt;property id=&quot;20148&quot; value=&quot;5&quot;/&gt;&lt;property id=&quot;20300&quot; value=&quot;Slide 53 - &amp;quot;5.04 Multiple Choice Poll&amp;quot;&quot;/&gt;&lt;property id=&quot;20307&quot; value=&quot;479&quot;/&gt;&lt;/object&gt;&lt;object type=&quot;3&quot; unique_id=&quot;10115&quot;&gt;&lt;property id=&quot;20148&quot; value=&quot;5&quot;/&gt;&lt;property id=&quot;20300&quot; value=&quot;Slide 54 - &amp;quot;5.04 Multiple Choice Poll – Correct Answer&amp;quot;&quot;/&gt;&lt;property id=&quot;20307&quot; value=&quot;480&quot;/&gt;&lt;/object&gt;&lt;object type=&quot;3&quot; unique_id=&quot;10116&quot;&gt;&lt;property id=&quot;20148&quot; value=&quot;5&quot;/&gt;&lt;property id=&quot;20300&quot; value=&quot;Slide 64 - &amp;quot;Business Scenario&amp;quot;&quot;/&gt;&lt;property id=&quot;20307&quot; value=&quot;458&quot;/&gt;&lt;/object&gt;&lt;object type=&quot;3&quot; unique_id=&quot;10117&quot;&gt;&lt;property id=&quot;20148&quot; value=&quot;5&quot;/&gt;&lt;property id=&quot;20300&quot; value=&quot;Slide 65 - &amp;quot;Business Scenario&amp;quot;&quot;/&gt;&lt;property id=&quot;20307&quot; value=&quot;468&quot;/&gt;&lt;/object&gt;&lt;object type=&quot;3&quot; unique_id=&quot;10118&quot;&gt;&lt;property id=&quot;20148&quot; value=&quot;5&quot;/&gt;&lt;property id=&quot;20300&quot; value=&quot;Slide 67 - &amp;quot;Business Scenario&amp;quot;&quot;/&gt;&lt;property id=&quot;20307&quot; value=&quot;469&quot;/&gt;&lt;/object&gt;&lt;object type=&quot;3&quot; unique_id=&quot;10120&quot;&gt;&lt;property id=&quot;20148&quot; value=&quot;5&quot;/&gt;&lt;property id=&quot;20300&quot; value=&quot;Slide 68 - &amp;quot;Business Scenario&amp;quot;&quot;/&gt;&lt;property id=&quot;20307&quot; value=&quot;467&quot;/&gt;&lt;/object&gt;&lt;object type=&quot;3&quot; unique_id=&quot;10121&quot;&gt;&lt;property id=&quot;20148&quot; value=&quot;5&quot;/&gt;&lt;property id=&quot;20300&quot; value=&quot;Slide 79 - &amp;quot;Review of the COALESCE Function&amp;quot;&quot;/&gt;&lt;property id=&quot;20307&quot; value=&quot;453&quot;/&gt;&lt;/object&gt;&lt;object type=&quot;3&quot; unique_id=&quot;10122&quot;&gt;&lt;property id=&quot;20148&quot; value=&quot;5&quot;/&gt;&lt;property id=&quot;20300&quot; value=&quot;Slide 83 - &amp;quot;&amp;#x0D;&amp;#x0A;Exercise&amp;quot;&quot;/&gt;&lt;property id=&quot;20307&quot; value=&quot;481&quot;/&gt;&lt;/object&gt;&lt;object type=&quot;3&quot; unique_id=&quot;10123&quot;&gt;&lt;property id=&quot;20148&quot; value=&quot;5&quot;/&gt;&lt;property id=&quot;20300&quot; value=&quot;Slide 85 - &amp;quot;Objectives&amp;quot;&quot;/&gt;&lt;property id=&quot;20307&quot; value=&quot;457&quot;/&gt;&lt;/object&gt;&lt;object type=&quot;3&quot; unique_id=&quot;10124&quot;&gt;&lt;property id=&quot;20148&quot; value=&quot;5&quot;/&gt;&lt;property id=&quot;20300&quot; value=&quot;Slide 88 - &amp;quot;Business Scenario&amp;quot;&quot;/&gt;&lt;property id=&quot;20307&quot; value=&quot;471&quot;/&gt;&lt;/object&gt;&lt;object type=&quot;3&quot; unique_id=&quot;10125&quot;&gt;&lt;property id=&quot;20148&quot; value=&quot;5&quot;/&gt;&lt;property id=&quot;20300&quot; value=&quot;Slide 108 - &amp;quot;Complex Query: Step 3 Considerations&amp;quot;&quot;/&gt;&lt;property id=&quot;20307&quot; value=&quot;472&quot;/&gt;&lt;/object&gt;&lt;object type=&quot;3&quot; unique_id=&quot;10126&quot;&gt;&lt;property id=&quot;20148&quot; value=&quot;5&quot;/&gt;&lt;property id=&quot;20300&quot; value=&quot;Slide 117 - &amp;quot;&amp;#x0D;&amp;#x0A;Exercise&amp;quot;&quot;/&gt;&lt;property id=&quot;20307&quot; value=&quot;482&quot;/&gt;&lt;/object&gt;&lt;object type=&quot;3&quot; unique_id=&quot;15058&quot;&gt;&lt;property id=&quot;20148&quot; value=&quot;5&quot;/&gt;&lt;property id=&quot;20300&quot; value=&quot;Slide 66 - &amp;quot;Business Scenario&amp;quot;&quot;/&gt;&lt;property id=&quot;20307&quot; value=&quot;483&quot;/&gt;&lt;/object&gt;&lt;object type=&quot;3&quot; unique_id=&quot;15059&quot;&gt;&lt;property id=&quot;20148&quot; value=&quot;5&quot;/&gt;&lt;property id=&quot;20300&quot; value=&quot;Slide 69 - &amp;quot;Business Scenario&amp;quot;&quot;/&gt;&lt;property id=&quot;20307&quot; value=&quot;484&quot;/&gt;&lt;/object&gt;&lt;object type=&quot;3&quot; unique_id=&quot;15060&quot;&gt;&lt;property id=&quot;20148&quot; value=&quot;5&quot;/&gt;&lt;property id=&quot;20300&quot; value=&quot;Slide 70&quot;/&gt;&lt;property id=&quot;20307&quot; value=&quot;485&quot;/&gt;&lt;/object&gt;&lt;object type=&quot;3&quot; unique_id=&quot;15061&quot;&gt;&lt;property id=&quot;20148&quot; value=&quot;5&quot;/&gt;&lt;property id=&quot;20300&quot; value=&quot;Slide 71 - &amp;quot;5.05 Multiple Choice Poll&amp;quot;&quot;/&gt;&lt;property id=&quot;20307&quot; value=&quot;486&quot;/&gt;&lt;/object&gt;&lt;object type=&quot;3&quot; unique_id=&quot;15062&quot;&gt;&lt;property id=&quot;20148&quot; value=&quot;5&quot;/&gt;&lt;property id=&quot;20300&quot; value=&quot;Slide 72 - &amp;quot;5.05 Multiple Choice Poll – Correct Answer&amp;quot;&quot;/&gt;&lt;property id=&quot;20307&quot; value=&quot;487&quot;/&gt;&lt;/object&gt;&lt;object type=&quot;3&quot; unique_id=&quot;15063&quot;&gt;&lt;property id=&quot;20148&quot; value=&quot;5&quot;/&gt;&lt;property id=&quot;20300&quot; value=&quot;Slide 102&quot;/&gt;&lt;property id=&quot;20307&quot; value=&quot;499&quot;/&gt;&lt;/object&gt;&lt;object type=&quot;3&quot; unique_id=&quot;15064&quot;&gt;&lt;property id=&quot;20148&quot; value=&quot;5&quot;/&gt;&lt;property id=&quot;20300&quot; value=&quot;Slide 103 - &amp;quot;5.06 Multiple Choice Poll&amp;quot;&quot;/&gt;&lt;property id=&quot;20307&quot; value=&quot;500&quot;/&gt;&lt;/object&gt;&lt;object type=&quot;3&quot; unique_id=&quot;15065&quot;&gt;&lt;property id=&quot;20148&quot; value=&quot;5&quot;/&gt;&lt;property id=&quot;20300&quot; value=&quot;Slide 104 - &amp;quot;5.06 Multiple Choice Poll – Correct Answer&amp;quot;&quot;/&gt;&lt;property id=&quot;20307&quot; value=&quot;501&quot;/&gt;&lt;/object&gt;&lt;object type=&quot;3&quot; unique_id=&quot;15066&quot;&gt;&lt;property id=&quot;20148&quot; value=&quot;5&quot;/&gt;&lt;property id=&quot;20300&quot; value=&quot;Slide 109&quot;/&gt;&lt;property id=&quot;20307&quot; value=&quot;502&quot;/&gt;&lt;/object&gt;&lt;object type=&quot;3&quot; unique_id=&quot;15067&quot;&gt;&lt;property id=&quot;20148&quot; value=&quot;5&quot;/&gt;&lt;property id=&quot;20300&quot; value=&quot;Slide 110 - &amp;quot;5.07 Poll&amp;quot;&quot;/&gt;&lt;property id=&quot;20307&quot; value=&quot;503&quot;/&gt;&lt;/object&gt;&lt;object type=&quot;3&quot; unique_id=&quot;15068&quot;&gt;&lt;property id=&quot;20148&quot; value=&quot;5&quot;/&gt;&lt;property id=&quot;20300&quot; value=&quot;Slide 111 - &amp;quot;5.07 Poll – Correct Answer&amp;quot;&quot;/&gt;&lt;property id=&quot;20307&quot; value=&quot;504&quot;/&gt;&lt;/object&gt;&lt;/object&gt;&lt;/object&gt;&lt;/database&gt;"/>
  <p:tag name="CHAPTERTITLE" val="SQL Joins"/>
  <p:tag name="CHAPTERNUMBER" val="5"/>
  <p:tag name="CHAPTERLABEL" val="Chapter"/>
  <p:tag name="SECTIONLABEL" val="Section"/>
  <p:tag name="APPENDIXLABEL" val="Appendix"/>
  <p:tag name="PPTADDIN" val="c:\Program Files\PowerServ\Templates\CDSPptAddin_2006.ppa"/>
  <p:tag name="PPTOBJECTDEFINITION" val="CD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TYPE" val="Organizer"/>
  <p:tag name="SECTIONCOUNT" val="2"/>
  <p:tag name="SHAPETABLE" val="Group 78"/>
</p:tagLst>
</file>

<file path=ppt/theme/theme1.xml><?xml version="1.0" encoding="utf-8"?>
<a:theme xmlns:a="http://schemas.openxmlformats.org/drawingml/2006/main" name="CDS_2006">
  <a:themeElements>
    <a:clrScheme name="">
      <a:dk1>
        <a:srgbClr val="000000"/>
      </a:dk1>
      <a:lt1>
        <a:srgbClr val="FFF2BE"/>
      </a:lt1>
      <a:dk2>
        <a:srgbClr val="003399"/>
      </a:dk2>
      <a:lt2>
        <a:srgbClr val="808080"/>
      </a:lt2>
      <a:accent1>
        <a:srgbClr val="CC9700"/>
      </a:accent1>
      <a:accent2>
        <a:srgbClr val="FFCC00"/>
      </a:accent2>
      <a:accent3>
        <a:srgbClr val="FFF7DB"/>
      </a:accent3>
      <a:accent4>
        <a:srgbClr val="000000"/>
      </a:accent4>
      <a:accent5>
        <a:srgbClr val="E2C9AA"/>
      </a:accent5>
      <a:accent6>
        <a:srgbClr val="E7B900"/>
      </a:accent6>
      <a:hlink>
        <a:srgbClr val="003366"/>
      </a:hlink>
      <a:folHlink>
        <a:srgbClr val="666699"/>
      </a:folHlink>
    </a:clrScheme>
    <a:fontScheme name="Office Theme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8">
        <a:dk1>
          <a:srgbClr val="000000"/>
        </a:dk1>
        <a:lt1>
          <a:srgbClr val="FFFFFF"/>
        </a:lt1>
        <a:dk2>
          <a:srgbClr val="003399"/>
        </a:dk2>
        <a:lt2>
          <a:srgbClr val="808080"/>
        </a:lt2>
        <a:accent1>
          <a:srgbClr val="003399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AAADCA"/>
        </a:accent5>
        <a:accent6>
          <a:srgbClr val="E7B900"/>
        </a:accent6>
        <a:hlink>
          <a:srgbClr val="003366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4601</TotalTime>
  <Words>769</Words>
  <Application>Microsoft Office PowerPoint</Application>
  <PresentationFormat>On-screen Show (4:3)</PresentationFormat>
  <Paragraphs>126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Arial Narrow</vt:lpstr>
      <vt:lpstr>erdana</vt:lpstr>
      <vt:lpstr>Monotype Sorts</vt:lpstr>
      <vt:lpstr>Times New Roman</vt:lpstr>
      <vt:lpstr>Wingdings</vt:lpstr>
      <vt:lpstr>CDS_2006</vt:lpstr>
      <vt:lpstr>PowerPoint Presentation</vt:lpstr>
      <vt:lpstr>PowerPoint Presentation</vt:lpstr>
      <vt:lpstr>PowerPoint Presentation</vt:lpstr>
      <vt:lpstr>Arithmetic Expression</vt:lpstr>
      <vt:lpstr>Arithmetic Expression : Polish Conversion </vt:lpstr>
      <vt:lpstr>Example: Conversion Infix to Prefix    ( A + B ) * C + ( D - E ) / F + G</vt:lpstr>
      <vt:lpstr>Arithmetic Expression : Reverse Polish Conversion </vt:lpstr>
      <vt:lpstr>Example: Conversion Infix to Postfix    ( A + B ) * C + ( D - E ) / F + G</vt:lpstr>
      <vt:lpstr>    INFIX to PostFix  expression Evaluation Algorithm  </vt:lpstr>
      <vt:lpstr>Evaluation of postfix expression using stack. </vt:lpstr>
      <vt:lpstr>Example : A * ( B * C + D * E ) + F</vt:lpstr>
      <vt:lpstr>Example: Conversion Infix to Postfix   (A+B)*C+(D-E)/F+G</vt:lpstr>
      <vt:lpstr>PowerPoint Presentation</vt:lpstr>
    </vt:vector>
  </TitlesOfParts>
  <Company>SAS Institute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 SQL Joins</dc:title>
  <dc:creator>Johnny Johnson</dc:creator>
  <cp:lastModifiedBy>makaut department</cp:lastModifiedBy>
  <cp:revision>730</cp:revision>
  <dcterms:created xsi:type="dcterms:W3CDTF">2004-05-11T12:34:02Z</dcterms:created>
  <dcterms:modified xsi:type="dcterms:W3CDTF">2023-09-26T07:45:54Z</dcterms:modified>
</cp:coreProperties>
</file>