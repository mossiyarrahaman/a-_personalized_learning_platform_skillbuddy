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391" r:id="rId1"/>
  </p:sldMasterIdLst>
  <p:notesMasterIdLst>
    <p:notesMasterId r:id="rId16"/>
  </p:notesMasterIdLst>
  <p:handoutMasterIdLst>
    <p:handoutMasterId r:id="rId17"/>
  </p:handoutMasterIdLst>
  <p:sldIdLst>
    <p:sldId id="376" r:id="rId2"/>
    <p:sldId id="466" r:id="rId3"/>
    <p:sldId id="486" r:id="rId4"/>
    <p:sldId id="485" r:id="rId5"/>
    <p:sldId id="489" r:id="rId6"/>
    <p:sldId id="490" r:id="rId7"/>
    <p:sldId id="487" r:id="rId8"/>
    <p:sldId id="491" r:id="rId9"/>
    <p:sldId id="488" r:id="rId10"/>
    <p:sldId id="493" r:id="rId11"/>
    <p:sldId id="492" r:id="rId12"/>
    <p:sldId id="494" r:id="rId13"/>
    <p:sldId id="495" r:id="rId14"/>
    <p:sldId id="496" r:id="rId15"/>
  </p:sldIdLst>
  <p:sldSz cx="9144000" cy="6858000" type="screen4x3"/>
  <p:notesSz cx="6858000" cy="9144000"/>
  <p:custDataLst>
    <p:tags r:id="rId18"/>
  </p:custDataLst>
  <p:defaultTextStyle>
    <a:defPPr>
      <a:defRPr lang="en-US"/>
    </a:defPPr>
    <a:lvl1pPr algn="l" rtl="0" fontAlgn="base">
      <a:spcBef>
        <a:spcPct val="0"/>
      </a:spcBef>
      <a:spcAft>
        <a:spcPct val="0"/>
      </a:spcAft>
      <a:defRPr sz="2400" kern="1200">
        <a:solidFill>
          <a:schemeClr val="tx1"/>
        </a:solidFill>
        <a:latin typeface="Arial" charset="0"/>
        <a:ea typeface="+mn-ea"/>
        <a:cs typeface="Arial" charset="0"/>
      </a:defRPr>
    </a:lvl1pPr>
    <a:lvl2pPr marL="457200" algn="l" rtl="0" fontAlgn="base">
      <a:spcBef>
        <a:spcPct val="0"/>
      </a:spcBef>
      <a:spcAft>
        <a:spcPct val="0"/>
      </a:spcAft>
      <a:defRPr sz="2400" kern="1200">
        <a:solidFill>
          <a:schemeClr val="tx1"/>
        </a:solidFill>
        <a:latin typeface="Arial" charset="0"/>
        <a:ea typeface="+mn-ea"/>
        <a:cs typeface="Arial" charset="0"/>
      </a:defRPr>
    </a:lvl2pPr>
    <a:lvl3pPr marL="914400" algn="l" rtl="0" fontAlgn="base">
      <a:spcBef>
        <a:spcPct val="0"/>
      </a:spcBef>
      <a:spcAft>
        <a:spcPct val="0"/>
      </a:spcAft>
      <a:defRPr sz="2400" kern="1200">
        <a:solidFill>
          <a:schemeClr val="tx1"/>
        </a:solidFill>
        <a:latin typeface="Arial" charset="0"/>
        <a:ea typeface="+mn-ea"/>
        <a:cs typeface="Arial" charset="0"/>
      </a:defRPr>
    </a:lvl3pPr>
    <a:lvl4pPr marL="1371600" algn="l" rtl="0" fontAlgn="base">
      <a:spcBef>
        <a:spcPct val="0"/>
      </a:spcBef>
      <a:spcAft>
        <a:spcPct val="0"/>
      </a:spcAft>
      <a:defRPr sz="2400" kern="1200">
        <a:solidFill>
          <a:schemeClr val="tx1"/>
        </a:solidFill>
        <a:latin typeface="Arial" charset="0"/>
        <a:ea typeface="+mn-ea"/>
        <a:cs typeface="Arial" charset="0"/>
      </a:defRPr>
    </a:lvl4pPr>
    <a:lvl5pPr marL="1828800" algn="l" rtl="0" fontAlgn="base">
      <a:spcBef>
        <a:spcPct val="0"/>
      </a:spcBef>
      <a:spcAft>
        <a:spcPct val="0"/>
      </a:spcAft>
      <a:defRPr sz="2400" kern="1200">
        <a:solidFill>
          <a:schemeClr val="tx1"/>
        </a:solidFill>
        <a:latin typeface="Arial" charset="0"/>
        <a:ea typeface="+mn-ea"/>
        <a:cs typeface="Arial" charset="0"/>
      </a:defRPr>
    </a:lvl5pPr>
    <a:lvl6pPr marL="2286000" algn="l" defTabSz="914400" rtl="0" eaLnBrk="1" latinLnBrk="0" hangingPunct="1">
      <a:defRPr sz="2400" kern="1200">
        <a:solidFill>
          <a:schemeClr val="tx1"/>
        </a:solidFill>
        <a:latin typeface="Arial" charset="0"/>
        <a:ea typeface="+mn-ea"/>
        <a:cs typeface="Arial" charset="0"/>
      </a:defRPr>
    </a:lvl6pPr>
    <a:lvl7pPr marL="2743200" algn="l" defTabSz="914400" rtl="0" eaLnBrk="1" latinLnBrk="0" hangingPunct="1">
      <a:defRPr sz="2400" kern="1200">
        <a:solidFill>
          <a:schemeClr val="tx1"/>
        </a:solidFill>
        <a:latin typeface="Arial" charset="0"/>
        <a:ea typeface="+mn-ea"/>
        <a:cs typeface="Arial" charset="0"/>
      </a:defRPr>
    </a:lvl7pPr>
    <a:lvl8pPr marL="3200400" algn="l" defTabSz="914400" rtl="0" eaLnBrk="1" latinLnBrk="0" hangingPunct="1">
      <a:defRPr sz="2400" kern="1200">
        <a:solidFill>
          <a:schemeClr val="tx1"/>
        </a:solidFill>
        <a:latin typeface="Arial" charset="0"/>
        <a:ea typeface="+mn-ea"/>
        <a:cs typeface="Arial" charset="0"/>
      </a:defRPr>
    </a:lvl8pPr>
    <a:lvl9pPr marL="3657600" algn="l" defTabSz="914400" rtl="0" eaLnBrk="1" latinLnBrk="0" hangingPunct="1">
      <a:defRPr sz="24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505">
          <p15:clr>
            <a:srgbClr val="A4A3A4"/>
          </p15:clr>
        </p15:guide>
        <p15:guide id="2" orient="horz" pos="672">
          <p15:clr>
            <a:srgbClr val="A4A3A4"/>
          </p15:clr>
        </p15:guide>
        <p15:guide id="3" orient="horz" pos="714">
          <p15:clr>
            <a:srgbClr val="A4A3A4"/>
          </p15:clr>
        </p15:guide>
        <p15:guide id="4" orient="horz" pos="1584">
          <p15:clr>
            <a:srgbClr val="A4A3A4"/>
          </p15:clr>
        </p15:guide>
        <p15:guide id="5" orient="horz" pos="4224">
          <p15:clr>
            <a:srgbClr val="A4A3A4"/>
          </p15:clr>
        </p15:guide>
        <p15:guide id="6" orient="horz" pos="3072">
          <p15:clr>
            <a:srgbClr val="A4A3A4"/>
          </p15:clr>
        </p15:guide>
        <p15:guide id="7" pos="120">
          <p15:clr>
            <a:srgbClr val="A4A3A4"/>
          </p15:clr>
        </p15:guide>
        <p15:guide id="8" pos="2880">
          <p15:clr>
            <a:srgbClr val="A4A3A4"/>
          </p15:clr>
        </p15:guide>
        <p15:guide id="9" pos="5328">
          <p15:clr>
            <a:srgbClr val="A4A3A4"/>
          </p15:clr>
        </p15:guide>
        <p15:guide id="10" pos="5376">
          <p15:clr>
            <a:srgbClr val="A4A3A4"/>
          </p15:clr>
        </p15:guide>
        <p15:guide id="11" pos="432">
          <p15:clr>
            <a:srgbClr val="A4A3A4"/>
          </p15:clr>
        </p15:guide>
        <p15:guide id="12" pos="5656">
          <p15:clr>
            <a:srgbClr val="A4A3A4"/>
          </p15:clr>
        </p15:guide>
        <p15:guide id="13" pos="551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A6FF"/>
    <a:srgbClr val="FF0000"/>
    <a:srgbClr val="FFFFFF"/>
    <a:srgbClr val="F6EFE7"/>
    <a:srgbClr val="DDDDDD"/>
    <a:srgbClr val="4D4D4D"/>
    <a:srgbClr val="006600"/>
    <a:srgbClr val="800080"/>
    <a:srgbClr val="00808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89247" autoAdjust="0"/>
  </p:normalViewPr>
  <p:slideViewPr>
    <p:cSldViewPr snapToGrid="0">
      <p:cViewPr varScale="1">
        <p:scale>
          <a:sx n="60" d="100"/>
          <a:sy n="60" d="100"/>
        </p:scale>
        <p:origin x="772" y="44"/>
      </p:cViewPr>
      <p:guideLst>
        <p:guide orient="horz" pos="1505"/>
        <p:guide orient="horz" pos="672"/>
        <p:guide orient="horz" pos="714"/>
        <p:guide orient="horz" pos="1584"/>
        <p:guide orient="horz" pos="4224"/>
        <p:guide orient="horz" pos="3072"/>
        <p:guide pos="120"/>
        <p:guide pos="2880"/>
        <p:guide pos="5328"/>
        <p:guide pos="5376"/>
        <p:guide pos="432"/>
        <p:guide pos="5656"/>
        <p:guide pos="5519"/>
      </p:guideLst>
    </p:cSldViewPr>
  </p:slideViewPr>
  <p:notesTextViewPr>
    <p:cViewPr>
      <p:scale>
        <a:sx n="100" d="100"/>
        <a:sy n="100" d="100"/>
      </p:scale>
      <p:origin x="0" y="0"/>
    </p:cViewPr>
  </p:notesTextViewPr>
  <p:sorterViewPr>
    <p:cViewPr>
      <p:scale>
        <a:sx n="100" d="100"/>
        <a:sy n="100" d="100"/>
      </p:scale>
      <p:origin x="0" y="14322"/>
    </p:cViewPr>
  </p:sorterViewPr>
  <p:notesViewPr>
    <p:cSldViewPr snapToGrid="0">
      <p:cViewPr varScale="1">
        <p:scale>
          <a:sx n="84" d="100"/>
          <a:sy n="84" d="100"/>
        </p:scale>
        <p:origin x="-135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8-25T16:45:28.284"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a:cs typeface="+mn-cs"/>
              </a:defRPr>
            </a:lvl1pPr>
          </a:lstStyle>
          <a:p>
            <a:pPr>
              <a:defRPr/>
            </a:pPr>
            <a:endParaRPr lang="en-US"/>
          </a:p>
        </p:txBody>
      </p:sp>
      <p:sp>
        <p:nvSpPr>
          <p:cNvPr id="133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a:cs typeface="+mn-cs"/>
              </a:defRPr>
            </a:lvl1pPr>
          </a:lstStyle>
          <a:p>
            <a:pPr>
              <a:defRPr/>
            </a:pPr>
            <a:endParaRPr lang="en-US"/>
          </a:p>
        </p:txBody>
      </p:sp>
      <p:sp>
        <p:nvSpPr>
          <p:cNvPr id="133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a:cs typeface="+mn-cs"/>
              </a:defRPr>
            </a:lvl1pPr>
          </a:lstStyle>
          <a:p>
            <a:pPr>
              <a:defRPr/>
            </a:pPr>
            <a:endParaRPr lang="en-US"/>
          </a:p>
        </p:txBody>
      </p:sp>
      <p:sp>
        <p:nvSpPr>
          <p:cNvPr id="133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a:cs typeface="+mn-cs"/>
              </a:defRPr>
            </a:lvl1pPr>
          </a:lstStyle>
          <a:p>
            <a:pPr>
              <a:defRPr/>
            </a:pPr>
            <a:fld id="{250A086E-3B1F-44E9-8A87-C6F287D0B80F}"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a:cs typeface="+mn-cs"/>
              </a:defRPr>
            </a:lvl1pPr>
          </a:lstStyle>
          <a:p>
            <a:pPr>
              <a:defRPr/>
            </a:pPr>
            <a:endParaRPr lang="en-US"/>
          </a:p>
        </p:txBody>
      </p:sp>
      <p:sp>
        <p:nvSpPr>
          <p:cNvPr id="808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09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09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a:cs typeface="+mn-cs"/>
              </a:defRPr>
            </a:lvl1pPr>
          </a:lstStyle>
          <a:p>
            <a:pPr>
              <a:defRPr/>
            </a:pPr>
            <a:endParaRPr lang="en-US"/>
          </a:p>
        </p:txBody>
      </p:sp>
      <p:sp>
        <p:nvSpPr>
          <p:cNvPr id="809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a:cs typeface="+mn-cs"/>
              </a:defRPr>
            </a:lvl1pPr>
          </a:lstStyle>
          <a:p>
            <a:pPr>
              <a:defRPr/>
            </a:pPr>
            <a:fld id="{A229DC42-1B20-4652-BEAB-12357C6EDFEC}" type="slidenum">
              <a:rPr lang="en-US"/>
              <a:pPr>
                <a:defRPr/>
              </a:pPr>
              <a:t>‹#›</a:t>
            </a:fld>
            <a:endParaRPr lang="en-US"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a:ea typeface="+mn-ea"/>
        <a:cs typeface="+mn-cs"/>
      </a:defRPr>
    </a:lvl1pPr>
    <a:lvl2pPr marL="457200" algn="l" rtl="0" eaLnBrk="0" fontAlgn="base" hangingPunct="0">
      <a:spcBef>
        <a:spcPct val="30000"/>
      </a:spcBef>
      <a:spcAft>
        <a:spcPct val="0"/>
      </a:spcAft>
      <a:defRPr sz="1200" kern="1200">
        <a:solidFill>
          <a:schemeClr val="tx1"/>
        </a:solidFill>
        <a:latin typeface="Times New Roman"/>
        <a:ea typeface="+mn-ea"/>
        <a:cs typeface="+mn-cs"/>
      </a:defRPr>
    </a:lvl2pPr>
    <a:lvl3pPr marL="914400" algn="l" rtl="0" eaLnBrk="0" fontAlgn="base" hangingPunct="0">
      <a:spcBef>
        <a:spcPct val="30000"/>
      </a:spcBef>
      <a:spcAft>
        <a:spcPct val="0"/>
      </a:spcAft>
      <a:defRPr sz="1200" kern="1200">
        <a:solidFill>
          <a:schemeClr val="tx1"/>
        </a:solidFill>
        <a:latin typeface="Times New Roman"/>
        <a:ea typeface="+mn-ea"/>
        <a:cs typeface="+mn-cs"/>
      </a:defRPr>
    </a:lvl3pPr>
    <a:lvl4pPr marL="1371600" algn="l" rtl="0" eaLnBrk="0" fontAlgn="base" hangingPunct="0">
      <a:spcBef>
        <a:spcPct val="30000"/>
      </a:spcBef>
      <a:spcAft>
        <a:spcPct val="0"/>
      </a:spcAft>
      <a:defRPr sz="1200" kern="1200">
        <a:solidFill>
          <a:schemeClr val="tx1"/>
        </a:solidFill>
        <a:latin typeface="Times New Roman"/>
        <a:ea typeface="+mn-ea"/>
        <a:cs typeface="+mn-cs"/>
      </a:defRPr>
    </a:lvl4pPr>
    <a:lvl5pPr marL="1828800" algn="l" rtl="0" eaLnBrk="0" fontAlgn="base" hangingPunct="0">
      <a:spcBef>
        <a:spcPct val="30000"/>
      </a:spcBef>
      <a:spcAft>
        <a:spcPct val="0"/>
      </a:spcAft>
      <a:defRPr sz="1200" kern="1200">
        <a:solidFill>
          <a:schemeClr val="tx1"/>
        </a:solidFill>
        <a:latin typeface="Times New Roman"/>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1</a:t>
            </a:fld>
            <a:endParaRPr lang="en-US" dirty="0"/>
          </a:p>
        </p:txBody>
      </p:sp>
    </p:spTree>
    <p:extLst>
      <p:ext uri="{BB962C8B-B14F-4D97-AF65-F5344CB8AC3E}">
        <p14:creationId xmlns:p14="http://schemas.microsoft.com/office/powerpoint/2010/main" val="261401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Index may start at any number. For most of the compiler like C it starts at 0. We can access any element by its index number like marks[</a:t>
            </a:r>
            <a:r>
              <a:rPr lang="en-IN" dirty="0" err="1"/>
              <a:t>i</a:t>
            </a:r>
            <a:r>
              <a:rPr lang="en-IN" dirty="0"/>
              <a:t>]. </a:t>
            </a:r>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4</a:t>
            </a:fld>
            <a:endParaRPr lang="en-US" dirty="0"/>
          </a:p>
        </p:txBody>
      </p:sp>
    </p:spTree>
    <p:extLst>
      <p:ext uri="{BB962C8B-B14F-4D97-AF65-F5344CB8AC3E}">
        <p14:creationId xmlns:p14="http://schemas.microsoft.com/office/powerpoint/2010/main" val="3640499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case of dynamic Array, the reallocation procedure is computationally expensive. Normally an array is doubled whenever it needed to be resized even if only one element is to be added. Also the expansion procedure is time taking process which may slowdown the running application. </a:t>
            </a:r>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5</a:t>
            </a:fld>
            <a:endParaRPr lang="en-US" dirty="0"/>
          </a:p>
        </p:txBody>
      </p:sp>
    </p:spTree>
    <p:extLst>
      <p:ext uri="{BB962C8B-B14F-4D97-AF65-F5344CB8AC3E}">
        <p14:creationId xmlns:p14="http://schemas.microsoft.com/office/powerpoint/2010/main" val="9520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Fast access of the array elements are possible because all the values are of same types and so they result in same amount of memory to store and they are stored in contiguous memory allocation. </a:t>
            </a:r>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7</a:t>
            </a:fld>
            <a:endParaRPr lang="en-US" dirty="0"/>
          </a:p>
        </p:txBody>
      </p:sp>
    </p:spTree>
    <p:extLst>
      <p:ext uri="{BB962C8B-B14F-4D97-AF65-F5344CB8AC3E}">
        <p14:creationId xmlns:p14="http://schemas.microsoft.com/office/powerpoint/2010/main" val="2227754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Different Search algorithms are there and they depend on how the data is organised. The complexity of the search algorithm is measured in terms of number of search functions required to find the searched item.  </a:t>
            </a:r>
          </a:p>
          <a:p>
            <a:r>
              <a:rPr lang="en-IN" dirty="0"/>
              <a:t>Binary Search is very fast but it only can be performed on an sorted array. </a:t>
            </a:r>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9</a:t>
            </a:fld>
            <a:endParaRPr lang="en-US" dirty="0"/>
          </a:p>
        </p:txBody>
      </p:sp>
    </p:spTree>
    <p:extLst>
      <p:ext uri="{BB962C8B-B14F-4D97-AF65-F5344CB8AC3E}">
        <p14:creationId xmlns:p14="http://schemas.microsoft.com/office/powerpoint/2010/main" val="3038743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11</a:t>
            </a:fld>
            <a:endParaRPr lang="en-US" dirty="0"/>
          </a:p>
        </p:txBody>
      </p:sp>
    </p:spTree>
    <p:extLst>
      <p:ext uri="{BB962C8B-B14F-4D97-AF65-F5344CB8AC3E}">
        <p14:creationId xmlns:p14="http://schemas.microsoft.com/office/powerpoint/2010/main" val="3509384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12</a:t>
            </a:fld>
            <a:endParaRPr lang="en-US" dirty="0"/>
          </a:p>
        </p:txBody>
      </p:sp>
    </p:spTree>
    <p:extLst>
      <p:ext uri="{BB962C8B-B14F-4D97-AF65-F5344CB8AC3E}">
        <p14:creationId xmlns:p14="http://schemas.microsoft.com/office/powerpoint/2010/main" val="4146964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A229DC42-1B20-4652-BEAB-12357C6EDFEC}" type="slidenum">
              <a:rPr lang="en-US" smtClean="0"/>
              <a:pPr>
                <a:defRPr/>
              </a:pPr>
              <a:t>13</a:t>
            </a:fld>
            <a:endParaRPr lang="en-US" dirty="0"/>
          </a:p>
        </p:txBody>
      </p:sp>
    </p:spTree>
    <p:extLst>
      <p:ext uri="{BB962C8B-B14F-4D97-AF65-F5344CB8AC3E}">
        <p14:creationId xmlns:p14="http://schemas.microsoft.com/office/powerpoint/2010/main" val="4103261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4" descr="Ads_templateFlattened09"/>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pic>
        <p:nvPicPr>
          <p:cNvPr id="5" name="Picture 27" descr="Bar_SAS2048"/>
          <p:cNvPicPr>
            <a:picLocks noChangeAspect="1" noChangeArrowheads="1"/>
          </p:cNvPicPr>
          <p:nvPr/>
        </p:nvPicPr>
        <p:blipFill>
          <a:blip r:embed="rId3"/>
          <a:srcRect/>
          <a:stretch>
            <a:fillRect/>
          </a:stretch>
        </p:blipFill>
        <p:spPr bwMode="auto">
          <a:xfrm>
            <a:off x="0" y="0"/>
            <a:ext cx="9144000" cy="517525"/>
          </a:xfrm>
          <a:prstGeom prst="rect">
            <a:avLst/>
          </a:prstGeom>
          <a:noFill/>
          <a:ln w="9525">
            <a:noFill/>
            <a:miter lim="800000"/>
            <a:headEnd/>
            <a:tailEnd/>
          </a:ln>
        </p:spPr>
      </p:pic>
      <p:sp>
        <p:nvSpPr>
          <p:cNvPr id="10265" name="Rectangle 25"/>
          <p:cNvSpPr>
            <a:spLocks noGrp="1" noChangeArrowheads="1"/>
          </p:cNvSpPr>
          <p:nvPr>
            <p:ph type="ctrTitle"/>
          </p:nvPr>
        </p:nvSpPr>
        <p:spPr>
          <a:xfrm>
            <a:off x="3581400" y="3124200"/>
            <a:ext cx="5410200" cy="609600"/>
          </a:xfrm>
        </p:spPr>
        <p:txBody>
          <a:bodyPr anchor="b"/>
          <a:lstStyle>
            <a:lvl1pPr>
              <a:defRPr sz="4400">
                <a:solidFill>
                  <a:schemeClr val="tx1"/>
                </a:solidFill>
              </a:defRPr>
            </a:lvl1pPr>
          </a:lstStyle>
          <a:p>
            <a:r>
              <a:rPr lang="en-US"/>
              <a:t>Click to edit Master title style</a:t>
            </a:r>
          </a:p>
        </p:txBody>
      </p:sp>
      <p:sp>
        <p:nvSpPr>
          <p:cNvPr id="10266" name="Rectangle 26"/>
          <p:cNvSpPr>
            <a:spLocks noGrp="1" noChangeArrowheads="1"/>
          </p:cNvSpPr>
          <p:nvPr>
            <p:ph type="subTitle" idx="1"/>
          </p:nvPr>
        </p:nvSpPr>
        <p:spPr>
          <a:xfrm>
            <a:off x="3505200" y="4191000"/>
            <a:ext cx="5486400" cy="1752600"/>
          </a:xfrm>
        </p:spPr>
        <p:txBody>
          <a:bodyPr/>
          <a:lstStyle>
            <a:lvl1pPr>
              <a:defRPr sz="3600" b="1">
                <a:solidFill>
                  <a:srgbClr val="003399"/>
                </a:solidFill>
                <a:latin typeface="Arial Narrow" pitchFamily="34" charset="0"/>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pPr>
              <a:defRPr/>
            </a:pPr>
            <a:fld id="{D5FB1F5F-4B7D-40FE-AE87-C9C750581EC7}" type="slidenum">
              <a:rPr lang="en-US"/>
              <a:pPr>
                <a:defRPr/>
              </a:pPr>
              <a:t>‹#›</a:t>
            </a:fld>
            <a:endParaRPr lang="en-US" b="0"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pPr>
              <a:defRPr/>
            </a:pPr>
            <a:fld id="{08609E96-5D22-45FC-A4BC-6CA00F9D97B5}" type="slidenum">
              <a:rPr lang="en-US"/>
              <a:pPr>
                <a:defRPr/>
              </a:pPr>
              <a:t>‹#›</a:t>
            </a:fld>
            <a:endParaRPr lang="en-US" b="0"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71563"/>
            <a:ext cx="38481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071563"/>
            <a:ext cx="38481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pPr>
              <a:defRPr/>
            </a:pPr>
            <a:fld id="{A1F89AF4-AE74-4A18-A73F-DA848125FE19}" type="slidenum">
              <a:rPr lang="en-US"/>
              <a:pPr>
                <a:defRPr/>
              </a:pPr>
              <a:t>‹#›</a:t>
            </a:fld>
            <a:endParaRPr lang="en-US" b="0"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pPr>
              <a:defRPr/>
            </a:pPr>
            <a:fld id="{AC0E98C7-471B-4D95-9F06-E539355DFCE4}" type="slidenum">
              <a:rPr lang="en-US"/>
              <a:pPr>
                <a:defRPr/>
              </a:pPr>
              <a:t>‹#›</a:t>
            </a:fld>
            <a:endParaRPr lang="en-US" b="0" dirty="0">
              <a:latin typeface="Times New Roman"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pPr>
              <a:defRPr/>
            </a:pPr>
            <a:fld id="{CA3372D4-FCC8-4486-998F-2070CC2E3611}" type="slidenum">
              <a:rPr lang="en-US"/>
              <a:pPr>
                <a:defRPr/>
              </a:pPr>
              <a:t>‹#›</a:t>
            </a:fld>
            <a:endParaRPr lang="en-US" b="0" dirty="0">
              <a:latin typeface="Times New Roman"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pPr>
              <a:defRPr/>
            </a:pPr>
            <a:fld id="{09BD4FE6-88A2-4F72-99BD-87E2846895BD}" type="slidenum">
              <a:rPr lang="en-US"/>
              <a:pPr>
                <a:defRPr/>
              </a:pPr>
              <a:t>‹#›</a:t>
            </a:fld>
            <a:endParaRPr lang="en-US" b="0" dirty="0">
              <a:latin typeface="Times New Roman"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pPr>
              <a:defRPr/>
            </a:pPr>
            <a:fld id="{D81DF511-BA3B-4DC5-90EB-B9A7E39D75C6}" type="slidenum">
              <a:rPr lang="en-US"/>
              <a:pPr>
                <a:defRPr/>
              </a:pPr>
              <a:t>‹#›</a:t>
            </a:fld>
            <a:endParaRPr lang="en-US" b="0" dirty="0">
              <a:latin typeface="Times New Roman"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pPr>
              <a:defRPr/>
            </a:pPr>
            <a:fld id="{A351D59B-4A7E-459B-A181-28807917C047}" type="slidenum">
              <a:rPr lang="en-US"/>
              <a:pPr>
                <a:defRPr/>
              </a:pPr>
              <a:t>‹#›</a:t>
            </a:fld>
            <a:endParaRPr lang="en-US" b="0" dirty="0">
              <a:latin typeface="Times New Roman"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pPr>
              <a:defRPr/>
            </a:pPr>
            <a:fld id="{8376842E-B862-4416-8FD5-0C770C4B35E0}" type="slidenum">
              <a:rPr lang="en-US"/>
              <a:pPr>
                <a:defRPr/>
              </a:pPr>
              <a:t>‹#›</a:t>
            </a:fld>
            <a:endParaRPr lang="en-US" b="0" dirty="0">
              <a:latin typeface="Times New Roman"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457200"/>
            <a:ext cx="2114550" cy="4881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457200"/>
            <a:ext cx="6191250" cy="4881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pPr>
              <a:defRPr/>
            </a:pPr>
            <a:fld id="{9D5ADCB9-0619-4388-846B-C2DDFFC805DC}" type="slidenum">
              <a:rPr lang="en-US"/>
              <a:pPr>
                <a:defRPr/>
              </a:pPr>
              <a:t>‹#›</a:t>
            </a:fld>
            <a:endParaRPr lang="en-US" b="0"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6" name="Rectangle 42"/>
          <p:cNvSpPr>
            <a:spLocks noGrp="1" noChangeArrowheads="1"/>
          </p:cNvSpPr>
          <p:nvPr>
            <p:ph type="sldNum" sz="quarter" idx="4"/>
          </p:nvPr>
        </p:nvSpPr>
        <p:spPr bwMode="auto">
          <a:xfrm>
            <a:off x="0" y="6477000"/>
            <a:ext cx="533400" cy="3810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1">
                <a:latin typeface="+mn-lt"/>
              </a:defRPr>
            </a:lvl1pPr>
          </a:lstStyle>
          <a:p>
            <a:pPr>
              <a:defRPr/>
            </a:pPr>
            <a:fld id="{FC643807-A466-468C-BE30-BFABCABE84E3}" type="slidenum">
              <a:rPr lang="en-US"/>
              <a:pPr>
                <a:defRPr/>
              </a:pPr>
              <a:t>‹#›</a:t>
            </a:fld>
            <a:endParaRPr lang="en-US" dirty="0">
              <a:latin typeface="Times New Roman" pitchFamily="18" charset="0"/>
            </a:endParaRPr>
          </a:p>
        </p:txBody>
      </p:sp>
      <p:sp>
        <p:nvSpPr>
          <p:cNvPr id="1027" name="Rectangle 44"/>
          <p:cNvSpPr>
            <a:spLocks noGrp="1" noChangeArrowheads="1"/>
          </p:cNvSpPr>
          <p:nvPr>
            <p:ph type="title"/>
          </p:nvPr>
        </p:nvSpPr>
        <p:spPr bwMode="auto">
          <a:xfrm>
            <a:off x="685800" y="457200"/>
            <a:ext cx="84582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Title text should go here--one line only</a:t>
            </a:r>
            <a:br>
              <a:rPr lang="en-US"/>
            </a:br>
            <a:endParaRPr lang="en-US"/>
          </a:p>
        </p:txBody>
      </p:sp>
      <p:sp>
        <p:nvSpPr>
          <p:cNvPr id="1028" name="Rectangle 45"/>
          <p:cNvSpPr>
            <a:spLocks noGrp="1" noChangeArrowheads="1"/>
          </p:cNvSpPr>
          <p:nvPr>
            <p:ph type="body" idx="1"/>
          </p:nvPr>
        </p:nvSpPr>
        <p:spPr bwMode="auto">
          <a:xfrm>
            <a:off x="685800" y="1071563"/>
            <a:ext cx="7848600" cy="42672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br>
              <a:rPr lang="en-US"/>
            </a:br>
            <a:endParaRPr lang="en-US"/>
          </a:p>
          <a:p>
            <a:pPr lvl="1"/>
            <a:r>
              <a:rPr lang="en-US"/>
              <a:t>Second level</a:t>
            </a:r>
          </a:p>
          <a:p>
            <a:pPr lvl="2"/>
            <a:r>
              <a:rPr lang="en-US"/>
              <a:t>Third level</a:t>
            </a:r>
          </a:p>
          <a:p>
            <a:pPr lvl="3"/>
            <a:r>
              <a:rPr lang="en-US"/>
              <a:t>fourth level</a:t>
            </a:r>
          </a:p>
          <a:p>
            <a:pPr lvl="4"/>
            <a:r>
              <a:rPr lang="en-US"/>
              <a:t>fifth level</a:t>
            </a:r>
          </a:p>
          <a:p>
            <a:pPr lvl="4"/>
            <a:r>
              <a:rPr lang="en-US"/>
              <a:t>sixth level</a:t>
            </a:r>
          </a:p>
          <a:p>
            <a:pPr lvl="4"/>
            <a:r>
              <a:rPr lang="en-US"/>
              <a:t>seventh level</a:t>
            </a:r>
          </a:p>
          <a:p>
            <a:pPr lvl="4"/>
            <a:r>
              <a:rPr lang="en-US"/>
              <a:t>eighth level</a:t>
            </a:r>
          </a:p>
        </p:txBody>
      </p:sp>
      <p:sp>
        <p:nvSpPr>
          <p:cNvPr id="1070" name="Rectangle 46"/>
          <p:cNvSpPr>
            <a:spLocks noChangeArrowheads="1"/>
          </p:cNvSpPr>
          <p:nvPr/>
        </p:nvSpPr>
        <p:spPr bwMode="auto">
          <a:xfrm>
            <a:off x="0" y="6477000"/>
            <a:ext cx="533400" cy="381000"/>
          </a:xfrm>
          <a:prstGeom prst="rect">
            <a:avLst/>
          </a:prstGeom>
          <a:noFill/>
          <a:ln w="9525">
            <a:noFill/>
            <a:miter lim="800000"/>
            <a:headEnd/>
            <a:tailEnd/>
          </a:ln>
          <a:effectLst/>
        </p:spPr>
        <p:txBody>
          <a:bodyPr wrap="none" lIns="92075" tIns="46038" rIns="92075" bIns="46038" anchor="ctr"/>
          <a:lstStyle/>
          <a:p>
            <a:pPr algn="r">
              <a:defRPr/>
            </a:pPr>
            <a:fld id="{DF90E795-93C2-4687-B080-ACD2E1FE0091}" type="slidenum">
              <a:rPr lang="en-US" sz="1400" b="1"/>
              <a:pPr algn="r">
                <a:defRPr/>
              </a:pPr>
              <a:t>‹#›</a:t>
            </a:fld>
            <a:endParaRPr lang="en-US" sz="1400">
              <a:latin typeface="Arial"/>
            </a:endParaRPr>
          </a:p>
        </p:txBody>
      </p:sp>
      <p:pic>
        <p:nvPicPr>
          <p:cNvPr id="1030" name="Picture 47" descr="bar_blank"/>
          <p:cNvPicPr>
            <a:picLocks noChangeAspect="1" noChangeArrowheads="1"/>
          </p:cNvPicPr>
          <p:nvPr/>
        </p:nvPicPr>
        <p:blipFill>
          <a:blip r:embed="rId13"/>
          <a:srcRect t="38889"/>
          <a:stretch>
            <a:fillRect/>
          </a:stretch>
        </p:blipFill>
        <p:spPr bwMode="auto">
          <a:xfrm>
            <a:off x="0" y="0"/>
            <a:ext cx="9144000" cy="3143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520" r:id="rId1"/>
    <p:sldLayoutId id="2147485521" r:id="rId2"/>
    <p:sldLayoutId id="2147485522" r:id="rId3"/>
    <p:sldLayoutId id="2147485523" r:id="rId4"/>
    <p:sldLayoutId id="2147485524" r:id="rId5"/>
    <p:sldLayoutId id="2147485525" r:id="rId6"/>
    <p:sldLayoutId id="2147485526" r:id="rId7"/>
    <p:sldLayoutId id="2147485527" r:id="rId8"/>
    <p:sldLayoutId id="2147485528" r:id="rId9"/>
    <p:sldLayoutId id="2147485529" r:id="rId10"/>
    <p:sldLayoutId id="2147485530" r:id="rId11"/>
  </p:sldLayoutIdLst>
  <p:hf hdr="0" dt="0"/>
  <p:txStyles>
    <p:titleStyle>
      <a:lvl1pPr algn="l" rtl="0" eaLnBrk="0" fontAlgn="base" hangingPunct="0">
        <a:lnSpc>
          <a:spcPts val="3900"/>
        </a:lnSpc>
        <a:spcBef>
          <a:spcPct val="0"/>
        </a:spcBef>
        <a:spcAft>
          <a:spcPct val="0"/>
        </a:spcAft>
        <a:defRPr sz="3600" b="1">
          <a:solidFill>
            <a:srgbClr val="003399"/>
          </a:solidFill>
          <a:latin typeface="+mj-lt"/>
          <a:ea typeface="+mj-ea"/>
          <a:cs typeface="+mj-cs"/>
        </a:defRPr>
      </a:lvl1pPr>
      <a:lvl2pPr algn="l" rtl="0" eaLnBrk="0" fontAlgn="base" hangingPunct="0">
        <a:lnSpc>
          <a:spcPts val="3900"/>
        </a:lnSpc>
        <a:spcBef>
          <a:spcPct val="0"/>
        </a:spcBef>
        <a:spcAft>
          <a:spcPct val="0"/>
        </a:spcAft>
        <a:defRPr sz="3600" b="1">
          <a:solidFill>
            <a:srgbClr val="003399"/>
          </a:solidFill>
          <a:latin typeface="Arial Narrow" pitchFamily="34" charset="0"/>
        </a:defRPr>
      </a:lvl2pPr>
      <a:lvl3pPr algn="l" rtl="0" eaLnBrk="0" fontAlgn="base" hangingPunct="0">
        <a:lnSpc>
          <a:spcPts val="3900"/>
        </a:lnSpc>
        <a:spcBef>
          <a:spcPct val="0"/>
        </a:spcBef>
        <a:spcAft>
          <a:spcPct val="0"/>
        </a:spcAft>
        <a:defRPr sz="3600" b="1">
          <a:solidFill>
            <a:srgbClr val="003399"/>
          </a:solidFill>
          <a:latin typeface="Arial Narrow" pitchFamily="34" charset="0"/>
        </a:defRPr>
      </a:lvl3pPr>
      <a:lvl4pPr algn="l" rtl="0" eaLnBrk="0" fontAlgn="base" hangingPunct="0">
        <a:lnSpc>
          <a:spcPts val="3900"/>
        </a:lnSpc>
        <a:spcBef>
          <a:spcPct val="0"/>
        </a:spcBef>
        <a:spcAft>
          <a:spcPct val="0"/>
        </a:spcAft>
        <a:defRPr sz="3600" b="1">
          <a:solidFill>
            <a:srgbClr val="003399"/>
          </a:solidFill>
          <a:latin typeface="Arial Narrow" pitchFamily="34" charset="0"/>
        </a:defRPr>
      </a:lvl4pPr>
      <a:lvl5pPr algn="l" rtl="0" eaLnBrk="0" fontAlgn="base" hangingPunct="0">
        <a:lnSpc>
          <a:spcPts val="3900"/>
        </a:lnSpc>
        <a:spcBef>
          <a:spcPct val="0"/>
        </a:spcBef>
        <a:spcAft>
          <a:spcPct val="0"/>
        </a:spcAft>
        <a:defRPr sz="3600" b="1">
          <a:solidFill>
            <a:srgbClr val="003399"/>
          </a:solidFill>
          <a:latin typeface="Arial Narrow" pitchFamily="34" charset="0"/>
        </a:defRPr>
      </a:lvl5pPr>
      <a:lvl6pPr marL="457200" algn="l" rtl="0" eaLnBrk="1" fontAlgn="base" hangingPunct="1">
        <a:lnSpc>
          <a:spcPts val="3900"/>
        </a:lnSpc>
        <a:spcBef>
          <a:spcPct val="0"/>
        </a:spcBef>
        <a:spcAft>
          <a:spcPct val="0"/>
        </a:spcAft>
        <a:defRPr sz="3600" b="1">
          <a:solidFill>
            <a:srgbClr val="003399"/>
          </a:solidFill>
          <a:latin typeface="Arial Narrow" pitchFamily="34" charset="0"/>
        </a:defRPr>
      </a:lvl6pPr>
      <a:lvl7pPr marL="914400" algn="l" rtl="0" eaLnBrk="1" fontAlgn="base" hangingPunct="1">
        <a:lnSpc>
          <a:spcPts val="3900"/>
        </a:lnSpc>
        <a:spcBef>
          <a:spcPct val="0"/>
        </a:spcBef>
        <a:spcAft>
          <a:spcPct val="0"/>
        </a:spcAft>
        <a:defRPr sz="3600" b="1">
          <a:solidFill>
            <a:srgbClr val="003399"/>
          </a:solidFill>
          <a:latin typeface="Arial Narrow" pitchFamily="34" charset="0"/>
        </a:defRPr>
      </a:lvl7pPr>
      <a:lvl8pPr marL="1371600" algn="l" rtl="0" eaLnBrk="1" fontAlgn="base" hangingPunct="1">
        <a:lnSpc>
          <a:spcPts val="3900"/>
        </a:lnSpc>
        <a:spcBef>
          <a:spcPct val="0"/>
        </a:spcBef>
        <a:spcAft>
          <a:spcPct val="0"/>
        </a:spcAft>
        <a:defRPr sz="3600" b="1">
          <a:solidFill>
            <a:srgbClr val="003399"/>
          </a:solidFill>
          <a:latin typeface="Arial Narrow" pitchFamily="34" charset="0"/>
        </a:defRPr>
      </a:lvl8pPr>
      <a:lvl9pPr marL="1828800" algn="l" rtl="0" eaLnBrk="1" fontAlgn="base" hangingPunct="1">
        <a:lnSpc>
          <a:spcPts val="3900"/>
        </a:lnSpc>
        <a:spcBef>
          <a:spcPct val="0"/>
        </a:spcBef>
        <a:spcAft>
          <a:spcPct val="0"/>
        </a:spcAft>
        <a:defRPr sz="3600" b="1">
          <a:solidFill>
            <a:srgbClr val="003399"/>
          </a:solidFill>
          <a:latin typeface="Arial Narrow" pitchFamily="34"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
        <a:defRPr sz="2400">
          <a:solidFill>
            <a:schemeClr val="tx1"/>
          </a:solidFill>
          <a:latin typeface="+mn-lt"/>
          <a:ea typeface="+mn-ea"/>
          <a:cs typeface="+mn-cs"/>
        </a:defRPr>
      </a:lvl1pPr>
      <a:lvl2pPr marL="457200" indent="-3429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latin typeface="+mn-lt"/>
        </a:defRPr>
      </a:lvl2pPr>
      <a:lvl3pPr marL="912813" indent="-341313" algn="l" rtl="0" eaLnBrk="0" fontAlgn="base" hangingPunct="0">
        <a:spcBef>
          <a:spcPct val="20000"/>
        </a:spcBef>
        <a:spcAft>
          <a:spcPct val="0"/>
        </a:spcAft>
        <a:buChar char="–"/>
        <a:defRPr sz="2400">
          <a:solidFill>
            <a:schemeClr val="tx1"/>
          </a:solidFill>
          <a:latin typeface="+mn-lt"/>
        </a:defRPr>
      </a:lvl3pPr>
      <a:lvl4pPr marL="1370013" indent="-342900" algn="l" rtl="0" eaLnBrk="0" fontAlgn="base" hangingPunct="0">
        <a:spcBef>
          <a:spcPct val="20000"/>
        </a:spcBef>
        <a:spcAft>
          <a:spcPct val="0"/>
        </a:spcAft>
        <a:buFont typeface="Wingdings" pitchFamily="2" charset="2"/>
        <a:buChar char="§"/>
        <a:defRPr sz="2400">
          <a:solidFill>
            <a:schemeClr val="tx1"/>
          </a:solidFill>
          <a:latin typeface="+mn-lt"/>
        </a:defRPr>
      </a:lvl4pPr>
      <a:lvl5pPr marL="1827213" indent="-342900" algn="l" rtl="0" eaLnBrk="0" fontAlgn="base" hangingPunct="0">
        <a:spcBef>
          <a:spcPct val="20000"/>
        </a:spcBef>
        <a:spcAft>
          <a:spcPct val="0"/>
        </a:spcAft>
        <a:buChar char="»"/>
        <a:defRPr sz="2400">
          <a:solidFill>
            <a:schemeClr val="tx1"/>
          </a:solidFill>
          <a:latin typeface="+mn-lt"/>
        </a:defRPr>
      </a:lvl5pPr>
      <a:lvl6pPr marL="2284413" indent="-342900" algn="l" rtl="0" eaLnBrk="1" fontAlgn="base" hangingPunct="1">
        <a:spcBef>
          <a:spcPct val="20000"/>
        </a:spcBef>
        <a:spcAft>
          <a:spcPct val="0"/>
        </a:spcAft>
        <a:buChar char="»"/>
        <a:defRPr sz="2400">
          <a:solidFill>
            <a:schemeClr val="tx1"/>
          </a:solidFill>
          <a:latin typeface="+mn-lt"/>
        </a:defRPr>
      </a:lvl6pPr>
      <a:lvl7pPr marL="2741613" indent="-342900" algn="l" rtl="0" eaLnBrk="1" fontAlgn="base" hangingPunct="1">
        <a:spcBef>
          <a:spcPct val="20000"/>
        </a:spcBef>
        <a:spcAft>
          <a:spcPct val="0"/>
        </a:spcAft>
        <a:buChar char="»"/>
        <a:defRPr sz="2400">
          <a:solidFill>
            <a:schemeClr val="tx1"/>
          </a:solidFill>
          <a:latin typeface="+mn-lt"/>
        </a:defRPr>
      </a:lvl7pPr>
      <a:lvl8pPr marL="3198813" indent="-342900" algn="l" rtl="0" eaLnBrk="1" fontAlgn="base" hangingPunct="1">
        <a:spcBef>
          <a:spcPct val="20000"/>
        </a:spcBef>
        <a:spcAft>
          <a:spcPct val="0"/>
        </a:spcAft>
        <a:buChar char="»"/>
        <a:defRPr sz="2400">
          <a:solidFill>
            <a:schemeClr val="tx1"/>
          </a:solidFill>
          <a:latin typeface="+mn-lt"/>
        </a:defRPr>
      </a:lvl8pPr>
      <a:lvl9pPr marL="3656013" indent="-342900" algn="l" rtl="0" eaLnBrk="1" fontAlgn="base" hangingPunct="1">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pPr>
              <a:defRPr/>
            </a:pPr>
            <a:fld id="{6F93D27A-8666-48E3-B0CD-58980F74B32C}" type="slidenum">
              <a:rPr lang="en-US"/>
              <a:pPr>
                <a:defRPr/>
              </a:pPr>
              <a:t>1</a:t>
            </a:fld>
            <a:endParaRPr lang="en-US" b="0" dirty="0">
              <a:latin typeface="Times New Roman" pitchFamily="18" charset="0"/>
            </a:endParaRPr>
          </a:p>
        </p:txBody>
      </p:sp>
      <p:sp>
        <p:nvSpPr>
          <p:cNvPr id="14339" name="Module Title"/>
          <p:cNvSpPr>
            <a:spLocks noChangeArrowheads="1"/>
          </p:cNvSpPr>
          <p:nvPr/>
        </p:nvSpPr>
        <p:spPr bwMode="auto">
          <a:xfrm>
            <a:off x="0" y="0"/>
            <a:ext cx="9144000" cy="2256503"/>
          </a:xfrm>
          <a:prstGeom prst="rect">
            <a:avLst/>
          </a:prstGeom>
          <a:noFill/>
          <a:ln w="9525">
            <a:noFill/>
            <a:miter lim="800000"/>
            <a:headEnd/>
            <a:tailEnd/>
          </a:ln>
        </p:spPr>
        <p:txBody>
          <a:bodyPr lIns="0" tIns="0" rIns="0" bIns="0"/>
          <a:lstStyle/>
          <a:p>
            <a:pPr algn="ctr" eaLnBrk="0" hangingPunct="0">
              <a:lnSpc>
                <a:spcPts val="3900"/>
              </a:lnSpc>
            </a:pPr>
            <a:endParaRPr lang="en-US" sz="8000" b="1" dirty="0">
              <a:solidFill>
                <a:srgbClr val="003399"/>
              </a:solidFill>
              <a:latin typeface="Arial Narrow" pitchFamily="34" charset="0"/>
            </a:endParaRPr>
          </a:p>
          <a:p>
            <a:pPr algn="ctr" eaLnBrk="0" hangingPunct="0">
              <a:lnSpc>
                <a:spcPts val="3900"/>
              </a:lnSpc>
            </a:pPr>
            <a:endParaRPr lang="en-US" sz="8000" b="1" dirty="0">
              <a:solidFill>
                <a:srgbClr val="003399"/>
              </a:solidFill>
              <a:latin typeface="Arial Narrow" pitchFamily="34" charset="0"/>
            </a:endParaRPr>
          </a:p>
          <a:p>
            <a:pPr algn="ctr" eaLnBrk="0" hangingPunct="0">
              <a:lnSpc>
                <a:spcPts val="3900"/>
              </a:lnSpc>
            </a:pPr>
            <a:endParaRPr lang="en-US" sz="8000" b="1" dirty="0">
              <a:solidFill>
                <a:srgbClr val="003399"/>
              </a:solidFill>
              <a:latin typeface="Arial Narrow" pitchFamily="34" charset="0"/>
            </a:endParaRPr>
          </a:p>
          <a:p>
            <a:pPr algn="ctr" eaLnBrk="0" hangingPunct="0">
              <a:lnSpc>
                <a:spcPts val="3900"/>
              </a:lnSpc>
            </a:pPr>
            <a:endParaRPr lang="en-US" sz="8000" b="1" dirty="0">
              <a:solidFill>
                <a:srgbClr val="003399"/>
              </a:solidFill>
              <a:latin typeface="Arial Narrow" pitchFamily="34" charset="0"/>
            </a:endParaRPr>
          </a:p>
          <a:p>
            <a:pPr algn="ctr" eaLnBrk="0" hangingPunct="0">
              <a:lnSpc>
                <a:spcPts val="3900"/>
              </a:lnSpc>
            </a:pPr>
            <a:endParaRPr lang="en-US" sz="7200" b="1" dirty="0">
              <a:solidFill>
                <a:srgbClr val="003399"/>
              </a:solidFill>
              <a:latin typeface="Arial Narrow" pitchFamily="34" charset="0"/>
            </a:endParaRPr>
          </a:p>
          <a:p>
            <a:pPr algn="ctr" eaLnBrk="0" hangingPunct="0">
              <a:lnSpc>
                <a:spcPts val="3900"/>
              </a:lnSpc>
            </a:pPr>
            <a:r>
              <a:rPr lang="en-US" sz="7200" b="1" dirty="0">
                <a:solidFill>
                  <a:srgbClr val="003399"/>
                </a:solidFill>
                <a:latin typeface="Arial Narrow" pitchFamily="34" charset="0"/>
              </a:rPr>
              <a:t>Data Structure Using C:</a:t>
            </a:r>
          </a:p>
          <a:p>
            <a:pPr algn="ctr" eaLnBrk="0" hangingPunct="0">
              <a:lnSpc>
                <a:spcPts val="3900"/>
              </a:lnSpc>
            </a:pPr>
            <a:endParaRPr lang="en-US" sz="8000" b="1" dirty="0">
              <a:solidFill>
                <a:srgbClr val="003399"/>
              </a:solidFill>
              <a:latin typeface="Arial Narrow" pitchFamily="34" charset="0"/>
            </a:endParaRPr>
          </a:p>
          <a:p>
            <a:pPr algn="ctr" eaLnBrk="0" hangingPunct="0">
              <a:lnSpc>
                <a:spcPts val="3900"/>
              </a:lnSpc>
            </a:pPr>
            <a:r>
              <a:rPr lang="en-US" sz="6600" b="1" dirty="0">
                <a:solidFill>
                  <a:srgbClr val="003399"/>
                </a:solidFill>
                <a:latin typeface="Arial Narrow" pitchFamily="34" charset="0"/>
              </a:rPr>
              <a:t>Array</a:t>
            </a:r>
            <a:endParaRPr lang="en-US" sz="6000" b="1" dirty="0">
              <a:solidFill>
                <a:srgbClr val="003399"/>
              </a:solidFill>
              <a:latin typeface="Arial Narrow" pitchFamily="34" charset="0"/>
            </a:endParaRPr>
          </a:p>
        </p:txBody>
      </p:sp>
      <p:sp>
        <p:nvSpPr>
          <p:cNvPr id="14340" name="MO Picture" hidden="1"/>
          <p:cNvSpPr>
            <a:spLocks noChangeArrowheads="1"/>
          </p:cNvSpPr>
          <p:nvPr/>
        </p:nvSpPr>
        <p:spPr bwMode="auto">
          <a:xfrm>
            <a:off x="0" y="0"/>
            <a:ext cx="0" cy="0"/>
          </a:xfrm>
          <a:prstGeom prst="rect">
            <a:avLst/>
          </a:prstGeom>
          <a:solidFill>
            <a:schemeClr val="accent1"/>
          </a:solidFill>
          <a:ln w="28575">
            <a:solidFill>
              <a:schemeClr val="tx1"/>
            </a:solidFill>
            <a:miter lim="800000"/>
            <a:headEnd/>
            <a:tailEnd type="none" w="med" len="lg"/>
          </a:ln>
        </p:spPr>
        <p:txBody>
          <a:bodyPr wrap="none" anchor="ctr"/>
          <a:lstStyle/>
          <a:p>
            <a:pPr algn="ctr" eaLnBrk="0" hangingPunct="0"/>
            <a:r>
              <a:rPr lang="en-US">
                <a:latin typeface="Times New Roman" pitchFamily="18" charset="0"/>
              </a:rPr>
              <a:t>2</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endParaRPr lang="en-IN" dirty="0"/>
          </a:p>
          <a:p>
            <a:r>
              <a:rPr lang="en-IN" dirty="0"/>
              <a:t>Variables are used to store data </a:t>
            </a:r>
          </a:p>
          <a:p>
            <a:endParaRPr lang="en-IN" dirty="0"/>
          </a:p>
          <a:p>
            <a:endParaRPr lang="en-IN" dirty="0"/>
          </a:p>
          <a:p>
            <a:r>
              <a:rPr lang="en-IN" dirty="0"/>
              <a:t>Here, an Integer type of variable ‘a’ is used to store the value ‘10’ . </a:t>
            </a:r>
          </a:p>
          <a:p>
            <a:r>
              <a:rPr lang="en-IN" dirty="0"/>
              <a:t>Now, if it is required to store a collection of elements (similar type) it can be done under a single variable name – using an </a:t>
            </a:r>
            <a:r>
              <a:rPr lang="en-IN" b="1" i="1" dirty="0">
                <a:solidFill>
                  <a:schemeClr val="tx2">
                    <a:lumMod val="60000"/>
                    <a:lumOff val="40000"/>
                  </a:schemeClr>
                </a:solidFill>
              </a:rPr>
              <a:t>array</a:t>
            </a:r>
            <a:r>
              <a:rPr lang="en-IN" b="1" dirty="0">
                <a:solidFill>
                  <a:schemeClr val="tx2">
                    <a:lumMod val="60000"/>
                    <a:lumOff val="40000"/>
                  </a:schemeClr>
                </a:solidFill>
              </a:rPr>
              <a:t>. </a:t>
            </a:r>
          </a:p>
          <a:p>
            <a:r>
              <a:rPr lang="en-IN" dirty="0"/>
              <a:t>Example : marks of a student   25,27, 29, 30, 29</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2</a:t>
            </a:fld>
            <a:endParaRPr lang="en-US" b="0" dirty="0">
              <a:latin typeface="Times New Roman" pitchFamily="18" charset="0"/>
            </a:endParaRPr>
          </a:p>
        </p:txBody>
      </p:sp>
      <p:sp>
        <p:nvSpPr>
          <p:cNvPr id="6" name="TextBox 5">
            <a:extLst>
              <a:ext uri="{FF2B5EF4-FFF2-40B4-BE49-F238E27FC236}">
                <a16:creationId xmlns:a16="http://schemas.microsoft.com/office/drawing/2014/main" id="{21468EE9-5AD9-44DE-B72C-6470F2759942}"/>
              </a:ext>
            </a:extLst>
          </p:cNvPr>
          <p:cNvSpPr txBox="1"/>
          <p:nvPr/>
        </p:nvSpPr>
        <p:spPr>
          <a:xfrm>
            <a:off x="2908004" y="2169042"/>
            <a:ext cx="1663996" cy="461665"/>
          </a:xfrm>
          <a:prstGeom prst="rect">
            <a:avLst/>
          </a:prstGeom>
          <a:solidFill>
            <a:schemeClr val="accent2">
              <a:lumMod val="40000"/>
              <a:lumOff val="60000"/>
            </a:schemeClr>
          </a:solidFill>
          <a:ln>
            <a:solidFill>
              <a:schemeClr val="accent3">
                <a:lumMod val="25000"/>
              </a:schemeClr>
            </a:solidFill>
          </a:ln>
        </p:spPr>
        <p:txBody>
          <a:bodyPr wrap="square" rtlCol="0">
            <a:spAutoFit/>
          </a:bodyPr>
          <a:lstStyle/>
          <a:p>
            <a:r>
              <a:rPr lang="en-IN" dirty="0"/>
              <a:t>int a = 10;</a:t>
            </a:r>
          </a:p>
        </p:txBody>
      </p:sp>
      <p:sp>
        <p:nvSpPr>
          <p:cNvPr id="7" name="Rectangle: Rounded Corners 6">
            <a:extLst>
              <a:ext uri="{FF2B5EF4-FFF2-40B4-BE49-F238E27FC236}">
                <a16:creationId xmlns:a16="http://schemas.microsoft.com/office/drawing/2014/main" id="{595328F2-96DA-4975-B520-AB67357071D6}"/>
              </a:ext>
            </a:extLst>
          </p:cNvPr>
          <p:cNvSpPr/>
          <p:nvPr/>
        </p:nvSpPr>
        <p:spPr bwMode="auto">
          <a:xfrm>
            <a:off x="6879265" y="1903228"/>
            <a:ext cx="595423" cy="531628"/>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10</a:t>
            </a:r>
          </a:p>
        </p:txBody>
      </p:sp>
      <p:sp>
        <p:nvSpPr>
          <p:cNvPr id="8" name="Rectangle: Rounded Corners 7">
            <a:extLst>
              <a:ext uri="{FF2B5EF4-FFF2-40B4-BE49-F238E27FC236}">
                <a16:creationId xmlns:a16="http://schemas.microsoft.com/office/drawing/2014/main" id="{674170CF-C6EB-431B-ADFC-E3330B6FD42C}"/>
              </a:ext>
            </a:extLst>
          </p:cNvPr>
          <p:cNvSpPr/>
          <p:nvPr/>
        </p:nvSpPr>
        <p:spPr bwMode="auto">
          <a:xfrm>
            <a:off x="4245935" y="6098989"/>
            <a:ext cx="533400" cy="46783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25</a:t>
            </a:r>
          </a:p>
        </p:txBody>
      </p:sp>
      <p:sp>
        <p:nvSpPr>
          <p:cNvPr id="10" name="Rectangle: Rounded Corners 9">
            <a:extLst>
              <a:ext uri="{FF2B5EF4-FFF2-40B4-BE49-F238E27FC236}">
                <a16:creationId xmlns:a16="http://schemas.microsoft.com/office/drawing/2014/main" id="{9E4A16D8-8F60-4FB5-9DA4-77F4916ECF09}"/>
              </a:ext>
            </a:extLst>
          </p:cNvPr>
          <p:cNvSpPr/>
          <p:nvPr/>
        </p:nvSpPr>
        <p:spPr bwMode="auto">
          <a:xfrm>
            <a:off x="4817435" y="6098990"/>
            <a:ext cx="533400" cy="46783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27</a:t>
            </a:r>
          </a:p>
        </p:txBody>
      </p:sp>
      <p:sp>
        <p:nvSpPr>
          <p:cNvPr id="12" name="Rectangle: Rounded Corners 11">
            <a:extLst>
              <a:ext uri="{FF2B5EF4-FFF2-40B4-BE49-F238E27FC236}">
                <a16:creationId xmlns:a16="http://schemas.microsoft.com/office/drawing/2014/main" id="{2A09DC7B-D696-4E76-B0F1-83D53046BF13}"/>
              </a:ext>
            </a:extLst>
          </p:cNvPr>
          <p:cNvSpPr/>
          <p:nvPr/>
        </p:nvSpPr>
        <p:spPr bwMode="auto">
          <a:xfrm>
            <a:off x="5388935" y="6098991"/>
            <a:ext cx="533400" cy="46783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29</a:t>
            </a:r>
            <a:endParaRPr kumimoji="0" lang="en-IN" sz="2400" b="0" i="0" u="none" strike="noStrike" cap="none" normalizeH="0" baseline="0" dirty="0">
              <a:ln>
                <a:noFill/>
              </a:ln>
              <a:solidFill>
                <a:schemeClr val="tx1"/>
              </a:solidFill>
              <a:effectLst/>
              <a:latin typeface="Times New Roman" pitchFamily="18" charset="0"/>
            </a:endParaRPr>
          </a:p>
        </p:txBody>
      </p:sp>
      <p:sp>
        <p:nvSpPr>
          <p:cNvPr id="14" name="Rectangle: Rounded Corners 13">
            <a:extLst>
              <a:ext uri="{FF2B5EF4-FFF2-40B4-BE49-F238E27FC236}">
                <a16:creationId xmlns:a16="http://schemas.microsoft.com/office/drawing/2014/main" id="{5FFA27E1-B3E8-482B-8D6E-286E8E49D8F2}"/>
              </a:ext>
            </a:extLst>
          </p:cNvPr>
          <p:cNvSpPr/>
          <p:nvPr/>
        </p:nvSpPr>
        <p:spPr bwMode="auto">
          <a:xfrm>
            <a:off x="5960435" y="6098991"/>
            <a:ext cx="533400" cy="46783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30</a:t>
            </a:r>
          </a:p>
        </p:txBody>
      </p:sp>
      <p:sp>
        <p:nvSpPr>
          <p:cNvPr id="16" name="Rectangle: Rounded Corners 15">
            <a:extLst>
              <a:ext uri="{FF2B5EF4-FFF2-40B4-BE49-F238E27FC236}">
                <a16:creationId xmlns:a16="http://schemas.microsoft.com/office/drawing/2014/main" id="{12258BA4-67DD-4FF7-8D9E-FE16F95189D3}"/>
              </a:ext>
            </a:extLst>
          </p:cNvPr>
          <p:cNvSpPr/>
          <p:nvPr/>
        </p:nvSpPr>
        <p:spPr bwMode="auto">
          <a:xfrm>
            <a:off x="6531935" y="6098991"/>
            <a:ext cx="533400" cy="46783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18" name="TextBox 17">
            <a:extLst>
              <a:ext uri="{FF2B5EF4-FFF2-40B4-BE49-F238E27FC236}">
                <a16:creationId xmlns:a16="http://schemas.microsoft.com/office/drawing/2014/main" id="{86F44B42-4CBD-4C03-893A-A3A8BD34D9BB}"/>
              </a:ext>
            </a:extLst>
          </p:cNvPr>
          <p:cNvSpPr txBox="1"/>
          <p:nvPr/>
        </p:nvSpPr>
        <p:spPr>
          <a:xfrm>
            <a:off x="1813072" y="5270317"/>
            <a:ext cx="4865725" cy="461665"/>
          </a:xfrm>
          <a:prstGeom prst="rect">
            <a:avLst/>
          </a:prstGeom>
          <a:solidFill>
            <a:schemeClr val="accent2">
              <a:lumMod val="40000"/>
              <a:lumOff val="60000"/>
            </a:schemeClr>
          </a:solidFill>
          <a:ln>
            <a:solidFill>
              <a:schemeClr val="accent3">
                <a:lumMod val="25000"/>
              </a:schemeClr>
            </a:solidFill>
          </a:ln>
        </p:spPr>
        <p:txBody>
          <a:bodyPr wrap="square" rtlCol="0">
            <a:spAutoFit/>
          </a:bodyPr>
          <a:lstStyle/>
          <a:p>
            <a:r>
              <a:rPr lang="en-IN" dirty="0"/>
              <a:t>int marks[10] = [25,27,29,30,29];</a:t>
            </a:r>
          </a:p>
        </p:txBody>
      </p:sp>
      <p:sp>
        <p:nvSpPr>
          <p:cNvPr id="19" name="Oval 18">
            <a:extLst>
              <a:ext uri="{FF2B5EF4-FFF2-40B4-BE49-F238E27FC236}">
                <a16:creationId xmlns:a16="http://schemas.microsoft.com/office/drawing/2014/main" id="{0CFC0C45-752E-4DDE-A32B-DC8581770C60}"/>
              </a:ext>
            </a:extLst>
          </p:cNvPr>
          <p:cNvSpPr/>
          <p:nvPr/>
        </p:nvSpPr>
        <p:spPr bwMode="auto">
          <a:xfrm>
            <a:off x="6445988" y="1903228"/>
            <a:ext cx="696432" cy="531628"/>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a:t>
            </a:r>
          </a:p>
        </p:txBody>
      </p:sp>
      <p:sp>
        <p:nvSpPr>
          <p:cNvPr id="21" name="Oval 20">
            <a:extLst>
              <a:ext uri="{FF2B5EF4-FFF2-40B4-BE49-F238E27FC236}">
                <a16:creationId xmlns:a16="http://schemas.microsoft.com/office/drawing/2014/main" id="{36D2E5BF-0F7D-46C2-8BF4-C8D3CDAD3A54}"/>
              </a:ext>
            </a:extLst>
          </p:cNvPr>
          <p:cNvSpPr/>
          <p:nvPr/>
        </p:nvSpPr>
        <p:spPr bwMode="auto">
          <a:xfrm>
            <a:off x="3795822" y="5964865"/>
            <a:ext cx="655675" cy="601957"/>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a:t>
            </a:r>
          </a:p>
        </p:txBody>
      </p:sp>
    </p:spTree>
    <p:extLst>
      <p:ext uri="{BB962C8B-B14F-4D97-AF65-F5344CB8AC3E}">
        <p14:creationId xmlns:p14="http://schemas.microsoft.com/office/powerpoint/2010/main" val="424342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What is an Array?</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r>
              <a:rPr lang="en-IN" dirty="0"/>
              <a:t>Array is an ordered collection of items of </a:t>
            </a:r>
            <a:r>
              <a:rPr lang="en-IN" i="1" dirty="0">
                <a:solidFill>
                  <a:schemeClr val="tx2">
                    <a:lumMod val="60000"/>
                    <a:lumOff val="40000"/>
                  </a:schemeClr>
                </a:solidFill>
              </a:rPr>
              <a:t>same</a:t>
            </a:r>
            <a:r>
              <a:rPr lang="en-IN" i="1" dirty="0"/>
              <a:t> types </a:t>
            </a:r>
            <a:r>
              <a:rPr lang="en-IN" dirty="0"/>
              <a:t>stored in </a:t>
            </a:r>
            <a:r>
              <a:rPr lang="en-IN" i="1" dirty="0">
                <a:solidFill>
                  <a:schemeClr val="tx2">
                    <a:lumMod val="60000"/>
                    <a:lumOff val="40000"/>
                  </a:schemeClr>
                </a:solidFill>
              </a:rPr>
              <a:t>contiguous</a:t>
            </a:r>
            <a:r>
              <a:rPr lang="en-IN" dirty="0"/>
              <a:t> memory locations.</a:t>
            </a:r>
          </a:p>
          <a:p>
            <a:pPr marL="0" indent="0">
              <a:buNone/>
            </a:pPr>
            <a:r>
              <a:rPr lang="en-IN" dirty="0"/>
              <a:t> </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3</a:t>
            </a:fld>
            <a:endParaRPr lang="en-US" b="0" dirty="0">
              <a:latin typeface="Times New Roman" pitchFamily="18" charset="0"/>
            </a:endParaRPr>
          </a:p>
        </p:txBody>
      </p:sp>
      <p:graphicFrame>
        <p:nvGraphicFramePr>
          <p:cNvPr id="9" name="Table 7">
            <a:extLst>
              <a:ext uri="{FF2B5EF4-FFF2-40B4-BE49-F238E27FC236}">
                <a16:creationId xmlns:a16="http://schemas.microsoft.com/office/drawing/2014/main" id="{36D80D4B-47C2-4F10-8DA0-BF470C7A171A}"/>
              </a:ext>
            </a:extLst>
          </p:cNvPr>
          <p:cNvGraphicFramePr>
            <a:graphicFrameLocks noGrp="1"/>
          </p:cNvGraphicFramePr>
          <p:nvPr>
            <p:extLst>
              <p:ext uri="{D42A27DB-BD31-4B8C-83A1-F6EECF244321}">
                <p14:modId xmlns:p14="http://schemas.microsoft.com/office/powerpoint/2010/main" val="2626886605"/>
              </p:ext>
            </p:extLst>
          </p:nvPr>
        </p:nvGraphicFramePr>
        <p:xfrm>
          <a:off x="7137990" y="2372040"/>
          <a:ext cx="1527544" cy="42680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426800">
                <a:tc>
                  <a:txBody>
                    <a:bodyPr/>
                    <a:lstStyle/>
                    <a:p>
                      <a:r>
                        <a:rPr lang="en-IN" dirty="0">
                          <a:solidFill>
                            <a:schemeClr val="tx1"/>
                          </a:solidFill>
                        </a:rPr>
                        <a:t>       25</a:t>
                      </a:r>
                    </a:p>
                  </a:txBody>
                  <a:tcPr>
                    <a:solidFill>
                      <a:srgbClr val="F6EFE7"/>
                    </a:solidFill>
                  </a:tcPr>
                </a:tc>
                <a:extLst>
                  <a:ext uri="{0D108BD9-81ED-4DB2-BD59-A6C34878D82A}">
                    <a16:rowId xmlns:a16="http://schemas.microsoft.com/office/drawing/2014/main" val="1531105938"/>
                  </a:ext>
                </a:extLst>
              </a:tr>
              <a:tr h="426800">
                <a:tc>
                  <a:txBody>
                    <a:bodyPr/>
                    <a:lstStyle/>
                    <a:p>
                      <a:r>
                        <a:rPr lang="en-IN" dirty="0"/>
                        <a:t>       27</a:t>
                      </a:r>
                    </a:p>
                  </a:txBody>
                  <a:tcPr/>
                </a:tc>
                <a:extLst>
                  <a:ext uri="{0D108BD9-81ED-4DB2-BD59-A6C34878D82A}">
                    <a16:rowId xmlns:a16="http://schemas.microsoft.com/office/drawing/2014/main" val="1771576885"/>
                  </a:ext>
                </a:extLst>
              </a:tr>
              <a:tr h="426800">
                <a:tc>
                  <a:txBody>
                    <a:bodyPr/>
                    <a:lstStyle/>
                    <a:p>
                      <a:r>
                        <a:rPr lang="en-IN" dirty="0"/>
                        <a:t>       29</a:t>
                      </a:r>
                    </a:p>
                  </a:txBody>
                  <a:tcPr/>
                </a:tc>
                <a:extLst>
                  <a:ext uri="{0D108BD9-81ED-4DB2-BD59-A6C34878D82A}">
                    <a16:rowId xmlns:a16="http://schemas.microsoft.com/office/drawing/2014/main" val="150265111"/>
                  </a:ext>
                </a:extLst>
              </a:tr>
              <a:tr h="426800">
                <a:tc>
                  <a:txBody>
                    <a:bodyPr/>
                    <a:lstStyle/>
                    <a:p>
                      <a:r>
                        <a:rPr lang="en-IN" dirty="0"/>
                        <a:t>       30</a:t>
                      </a:r>
                    </a:p>
                  </a:txBody>
                  <a:tcPr/>
                </a:tc>
                <a:extLst>
                  <a:ext uri="{0D108BD9-81ED-4DB2-BD59-A6C34878D82A}">
                    <a16:rowId xmlns:a16="http://schemas.microsoft.com/office/drawing/2014/main" val="4281331626"/>
                  </a:ext>
                </a:extLst>
              </a:tr>
              <a:tr h="426800">
                <a:tc>
                  <a:txBody>
                    <a:bodyPr/>
                    <a:lstStyle/>
                    <a:p>
                      <a:r>
                        <a:rPr lang="en-IN" dirty="0"/>
                        <a:t>       29</a:t>
                      </a:r>
                    </a:p>
                  </a:txBody>
                  <a:tcPr/>
                </a:tc>
                <a:extLst>
                  <a:ext uri="{0D108BD9-81ED-4DB2-BD59-A6C34878D82A}">
                    <a16:rowId xmlns:a16="http://schemas.microsoft.com/office/drawing/2014/main" val="3707931503"/>
                  </a:ext>
                </a:extLst>
              </a:tr>
              <a:tr h="426800">
                <a:tc>
                  <a:txBody>
                    <a:bodyPr/>
                    <a:lstStyle/>
                    <a:p>
                      <a:r>
                        <a:rPr lang="en-IN" dirty="0"/>
                        <a:t>       30</a:t>
                      </a:r>
                    </a:p>
                  </a:txBody>
                  <a:tcPr/>
                </a:tc>
                <a:extLst>
                  <a:ext uri="{0D108BD9-81ED-4DB2-BD59-A6C34878D82A}">
                    <a16:rowId xmlns:a16="http://schemas.microsoft.com/office/drawing/2014/main" val="1286009310"/>
                  </a:ext>
                </a:extLst>
              </a:tr>
              <a:tr h="426800">
                <a:tc>
                  <a:txBody>
                    <a:bodyPr/>
                    <a:lstStyle/>
                    <a:p>
                      <a:r>
                        <a:rPr lang="en-IN" dirty="0"/>
                        <a:t>       28</a:t>
                      </a:r>
                    </a:p>
                  </a:txBody>
                  <a:tcPr/>
                </a:tc>
                <a:extLst>
                  <a:ext uri="{0D108BD9-81ED-4DB2-BD59-A6C34878D82A}">
                    <a16:rowId xmlns:a16="http://schemas.microsoft.com/office/drawing/2014/main" val="3403054342"/>
                  </a:ext>
                </a:extLst>
              </a:tr>
              <a:tr h="426800">
                <a:tc>
                  <a:txBody>
                    <a:bodyPr/>
                    <a:lstStyle/>
                    <a:p>
                      <a:r>
                        <a:rPr lang="en-IN" dirty="0"/>
                        <a:t>       20</a:t>
                      </a:r>
                    </a:p>
                  </a:txBody>
                  <a:tcPr/>
                </a:tc>
                <a:extLst>
                  <a:ext uri="{0D108BD9-81ED-4DB2-BD59-A6C34878D82A}">
                    <a16:rowId xmlns:a16="http://schemas.microsoft.com/office/drawing/2014/main" val="209429911"/>
                  </a:ext>
                </a:extLst>
              </a:tr>
              <a:tr h="426800">
                <a:tc>
                  <a:txBody>
                    <a:bodyPr/>
                    <a:lstStyle/>
                    <a:p>
                      <a:r>
                        <a:rPr lang="en-IN" dirty="0"/>
                        <a:t>       24</a:t>
                      </a:r>
                    </a:p>
                  </a:txBody>
                  <a:tcPr/>
                </a:tc>
                <a:extLst>
                  <a:ext uri="{0D108BD9-81ED-4DB2-BD59-A6C34878D82A}">
                    <a16:rowId xmlns:a16="http://schemas.microsoft.com/office/drawing/2014/main" val="12590440"/>
                  </a:ext>
                </a:extLst>
              </a:tr>
              <a:tr h="426800">
                <a:tc>
                  <a:txBody>
                    <a:bodyPr/>
                    <a:lstStyle/>
                    <a:p>
                      <a:r>
                        <a:rPr lang="en-IN" dirty="0"/>
                        <a:t>       27</a:t>
                      </a:r>
                    </a:p>
                  </a:txBody>
                  <a:tcPr/>
                </a:tc>
                <a:extLst>
                  <a:ext uri="{0D108BD9-81ED-4DB2-BD59-A6C34878D82A}">
                    <a16:rowId xmlns:a16="http://schemas.microsoft.com/office/drawing/2014/main" val="299662284"/>
                  </a:ext>
                </a:extLst>
              </a:tr>
            </a:tbl>
          </a:graphicData>
        </a:graphic>
      </p:graphicFrame>
      <p:graphicFrame>
        <p:nvGraphicFramePr>
          <p:cNvPr id="11" name="Table 7">
            <a:extLst>
              <a:ext uri="{FF2B5EF4-FFF2-40B4-BE49-F238E27FC236}">
                <a16:creationId xmlns:a16="http://schemas.microsoft.com/office/drawing/2014/main" id="{72FA6F65-0A3C-4B47-A6A8-54EAAF0AB6CE}"/>
              </a:ext>
            </a:extLst>
          </p:cNvPr>
          <p:cNvGraphicFramePr>
            <a:graphicFrameLocks noGrp="1"/>
          </p:cNvGraphicFramePr>
          <p:nvPr/>
        </p:nvGraphicFramePr>
        <p:xfrm>
          <a:off x="3992526" y="3509724"/>
          <a:ext cx="1527544" cy="25656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513120">
                <a:tc>
                  <a:txBody>
                    <a:bodyPr/>
                    <a:lstStyle/>
                    <a:p>
                      <a:r>
                        <a:rPr lang="en-IN" dirty="0">
                          <a:solidFill>
                            <a:schemeClr val="tx1"/>
                          </a:solidFill>
                        </a:rPr>
                        <a:t>       Green</a:t>
                      </a:r>
                    </a:p>
                  </a:txBody>
                  <a:tcPr>
                    <a:solidFill>
                      <a:srgbClr val="F6EFE7"/>
                    </a:solidFill>
                  </a:tcPr>
                </a:tc>
                <a:extLst>
                  <a:ext uri="{0D108BD9-81ED-4DB2-BD59-A6C34878D82A}">
                    <a16:rowId xmlns:a16="http://schemas.microsoft.com/office/drawing/2014/main" val="1531105938"/>
                  </a:ext>
                </a:extLst>
              </a:tr>
              <a:tr h="513120">
                <a:tc>
                  <a:txBody>
                    <a:bodyPr/>
                    <a:lstStyle/>
                    <a:p>
                      <a:r>
                        <a:rPr lang="en-IN" dirty="0"/>
                        <a:t>       Yellow</a:t>
                      </a:r>
                    </a:p>
                  </a:txBody>
                  <a:tcPr/>
                </a:tc>
                <a:extLst>
                  <a:ext uri="{0D108BD9-81ED-4DB2-BD59-A6C34878D82A}">
                    <a16:rowId xmlns:a16="http://schemas.microsoft.com/office/drawing/2014/main" val="1771576885"/>
                  </a:ext>
                </a:extLst>
              </a:tr>
              <a:tr h="513120">
                <a:tc>
                  <a:txBody>
                    <a:bodyPr/>
                    <a:lstStyle/>
                    <a:p>
                      <a:r>
                        <a:rPr lang="en-IN" dirty="0"/>
                        <a:t>       Blue</a:t>
                      </a:r>
                    </a:p>
                  </a:txBody>
                  <a:tcPr/>
                </a:tc>
                <a:extLst>
                  <a:ext uri="{0D108BD9-81ED-4DB2-BD59-A6C34878D82A}">
                    <a16:rowId xmlns:a16="http://schemas.microsoft.com/office/drawing/2014/main" val="150265111"/>
                  </a:ext>
                </a:extLst>
              </a:tr>
              <a:tr h="513120">
                <a:tc>
                  <a:txBody>
                    <a:bodyPr/>
                    <a:lstStyle/>
                    <a:p>
                      <a:r>
                        <a:rPr lang="en-IN" dirty="0"/>
                        <a:t>       White</a:t>
                      </a:r>
                    </a:p>
                  </a:txBody>
                  <a:tcPr/>
                </a:tc>
                <a:extLst>
                  <a:ext uri="{0D108BD9-81ED-4DB2-BD59-A6C34878D82A}">
                    <a16:rowId xmlns:a16="http://schemas.microsoft.com/office/drawing/2014/main" val="4281331626"/>
                  </a:ext>
                </a:extLst>
              </a:tr>
              <a:tr h="513120">
                <a:tc>
                  <a:txBody>
                    <a:bodyPr/>
                    <a:lstStyle/>
                    <a:p>
                      <a:r>
                        <a:rPr lang="en-IN" dirty="0"/>
                        <a:t>       Black</a:t>
                      </a:r>
                    </a:p>
                  </a:txBody>
                  <a:tcPr/>
                </a:tc>
                <a:extLst>
                  <a:ext uri="{0D108BD9-81ED-4DB2-BD59-A6C34878D82A}">
                    <a16:rowId xmlns:a16="http://schemas.microsoft.com/office/drawing/2014/main" val="3707931503"/>
                  </a:ext>
                </a:extLst>
              </a:tr>
            </a:tbl>
          </a:graphicData>
        </a:graphic>
      </p:graphicFrame>
      <p:graphicFrame>
        <p:nvGraphicFramePr>
          <p:cNvPr id="12" name="Table 7">
            <a:extLst>
              <a:ext uri="{FF2B5EF4-FFF2-40B4-BE49-F238E27FC236}">
                <a16:creationId xmlns:a16="http://schemas.microsoft.com/office/drawing/2014/main" id="{35AAB523-B844-43E6-84DB-2AEBA75378A7}"/>
              </a:ext>
            </a:extLst>
          </p:cNvPr>
          <p:cNvGraphicFramePr>
            <a:graphicFrameLocks noGrp="1"/>
          </p:cNvGraphicFramePr>
          <p:nvPr/>
        </p:nvGraphicFramePr>
        <p:xfrm>
          <a:off x="1319324" y="3045435"/>
          <a:ext cx="1527544" cy="25656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513120">
                <a:tc>
                  <a:txBody>
                    <a:bodyPr/>
                    <a:lstStyle/>
                    <a:p>
                      <a:r>
                        <a:rPr lang="en-IN" dirty="0">
                          <a:solidFill>
                            <a:schemeClr val="tx1"/>
                          </a:solidFill>
                        </a:rPr>
                        <a:t>       25.4</a:t>
                      </a:r>
                    </a:p>
                  </a:txBody>
                  <a:tcPr>
                    <a:solidFill>
                      <a:srgbClr val="F6EFE7"/>
                    </a:solidFill>
                  </a:tcPr>
                </a:tc>
                <a:extLst>
                  <a:ext uri="{0D108BD9-81ED-4DB2-BD59-A6C34878D82A}">
                    <a16:rowId xmlns:a16="http://schemas.microsoft.com/office/drawing/2014/main" val="1531105938"/>
                  </a:ext>
                </a:extLst>
              </a:tr>
              <a:tr h="513120">
                <a:tc>
                  <a:txBody>
                    <a:bodyPr/>
                    <a:lstStyle/>
                    <a:p>
                      <a:r>
                        <a:rPr lang="en-IN" dirty="0"/>
                        <a:t>       24.3</a:t>
                      </a:r>
                    </a:p>
                  </a:txBody>
                  <a:tcPr/>
                </a:tc>
                <a:extLst>
                  <a:ext uri="{0D108BD9-81ED-4DB2-BD59-A6C34878D82A}">
                    <a16:rowId xmlns:a16="http://schemas.microsoft.com/office/drawing/2014/main" val="1771576885"/>
                  </a:ext>
                </a:extLst>
              </a:tr>
              <a:tr h="513120">
                <a:tc>
                  <a:txBody>
                    <a:bodyPr/>
                    <a:lstStyle/>
                    <a:p>
                      <a:r>
                        <a:rPr lang="en-IN" dirty="0"/>
                        <a:t>       27.5</a:t>
                      </a:r>
                    </a:p>
                  </a:txBody>
                  <a:tcPr/>
                </a:tc>
                <a:extLst>
                  <a:ext uri="{0D108BD9-81ED-4DB2-BD59-A6C34878D82A}">
                    <a16:rowId xmlns:a16="http://schemas.microsoft.com/office/drawing/2014/main" val="150265111"/>
                  </a:ext>
                </a:extLst>
              </a:tr>
              <a:tr h="513120">
                <a:tc>
                  <a:txBody>
                    <a:bodyPr/>
                    <a:lstStyle/>
                    <a:p>
                      <a:r>
                        <a:rPr lang="en-IN" dirty="0"/>
                        <a:t>       28.2</a:t>
                      </a:r>
                    </a:p>
                  </a:txBody>
                  <a:tcPr/>
                </a:tc>
                <a:extLst>
                  <a:ext uri="{0D108BD9-81ED-4DB2-BD59-A6C34878D82A}">
                    <a16:rowId xmlns:a16="http://schemas.microsoft.com/office/drawing/2014/main" val="4281331626"/>
                  </a:ext>
                </a:extLst>
              </a:tr>
              <a:tr h="513120">
                <a:tc>
                  <a:txBody>
                    <a:bodyPr/>
                    <a:lstStyle/>
                    <a:p>
                      <a:r>
                        <a:rPr lang="en-IN" dirty="0"/>
                        <a:t>       25.1</a:t>
                      </a:r>
                    </a:p>
                  </a:txBody>
                  <a:tcPr/>
                </a:tc>
                <a:extLst>
                  <a:ext uri="{0D108BD9-81ED-4DB2-BD59-A6C34878D82A}">
                    <a16:rowId xmlns:a16="http://schemas.microsoft.com/office/drawing/2014/main" val="3707931503"/>
                  </a:ext>
                </a:extLst>
              </a:tr>
            </a:tbl>
          </a:graphicData>
        </a:graphic>
      </p:graphicFrame>
      <p:graphicFrame>
        <p:nvGraphicFramePr>
          <p:cNvPr id="13" name="Table 12">
            <a:extLst>
              <a:ext uri="{FF2B5EF4-FFF2-40B4-BE49-F238E27FC236}">
                <a16:creationId xmlns:a16="http://schemas.microsoft.com/office/drawing/2014/main" id="{0568B10C-30D7-41B8-A0C8-438B334917EF}"/>
              </a:ext>
            </a:extLst>
          </p:cNvPr>
          <p:cNvGraphicFramePr>
            <a:graphicFrameLocks noGrp="1"/>
          </p:cNvGraphicFramePr>
          <p:nvPr>
            <p:extLst>
              <p:ext uri="{D42A27DB-BD31-4B8C-83A1-F6EECF244321}">
                <p14:modId xmlns:p14="http://schemas.microsoft.com/office/powerpoint/2010/main" val="1277708735"/>
              </p:ext>
            </p:extLst>
          </p:nvPr>
        </p:nvGraphicFramePr>
        <p:xfrm>
          <a:off x="2896487" y="3045434"/>
          <a:ext cx="854148" cy="2677376"/>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236212602"/>
                    </a:ext>
                  </a:extLst>
                </a:gridCol>
              </a:tblGrid>
              <a:tr h="553915">
                <a:tc>
                  <a:txBody>
                    <a:bodyPr/>
                    <a:lstStyle/>
                    <a:p>
                      <a:r>
                        <a:rPr lang="en-IN" b="0" dirty="0">
                          <a:solidFill>
                            <a:schemeClr val="tx1"/>
                          </a:solidFill>
                        </a:rPr>
                        <a:t> 1000</a:t>
                      </a:r>
                    </a:p>
                  </a:txBody>
                  <a:tcPr>
                    <a:noFill/>
                  </a:tcPr>
                </a:tc>
                <a:extLst>
                  <a:ext uri="{0D108BD9-81ED-4DB2-BD59-A6C34878D82A}">
                    <a16:rowId xmlns:a16="http://schemas.microsoft.com/office/drawing/2014/main" val="3079778486"/>
                  </a:ext>
                </a:extLst>
              </a:tr>
              <a:tr h="425306">
                <a:tc>
                  <a:txBody>
                    <a:bodyPr/>
                    <a:lstStyle/>
                    <a:p>
                      <a:r>
                        <a:rPr lang="en-IN" dirty="0"/>
                        <a:t> 1004</a:t>
                      </a:r>
                    </a:p>
                  </a:txBody>
                  <a:tcPr>
                    <a:noFill/>
                  </a:tcPr>
                </a:tc>
                <a:extLst>
                  <a:ext uri="{0D108BD9-81ED-4DB2-BD59-A6C34878D82A}">
                    <a16:rowId xmlns:a16="http://schemas.microsoft.com/office/drawing/2014/main" val="1431592119"/>
                  </a:ext>
                </a:extLst>
              </a:tr>
              <a:tr h="543954">
                <a:tc>
                  <a:txBody>
                    <a:bodyPr/>
                    <a:lstStyle/>
                    <a:p>
                      <a:r>
                        <a:rPr lang="en-IN" dirty="0"/>
                        <a:t> 1008</a:t>
                      </a:r>
                    </a:p>
                  </a:txBody>
                  <a:tcPr>
                    <a:noFill/>
                  </a:tcPr>
                </a:tc>
                <a:extLst>
                  <a:ext uri="{0D108BD9-81ED-4DB2-BD59-A6C34878D82A}">
                    <a16:rowId xmlns:a16="http://schemas.microsoft.com/office/drawing/2014/main" val="4266698782"/>
                  </a:ext>
                </a:extLst>
              </a:tr>
              <a:tr h="577549">
                <a:tc>
                  <a:txBody>
                    <a:bodyPr/>
                    <a:lstStyle/>
                    <a:p>
                      <a:r>
                        <a:rPr lang="en-IN" dirty="0"/>
                        <a:t> 1010</a:t>
                      </a:r>
                    </a:p>
                  </a:txBody>
                  <a:tcPr>
                    <a:noFill/>
                  </a:tcPr>
                </a:tc>
                <a:extLst>
                  <a:ext uri="{0D108BD9-81ED-4DB2-BD59-A6C34878D82A}">
                    <a16:rowId xmlns:a16="http://schemas.microsoft.com/office/drawing/2014/main" val="660431578"/>
                  </a:ext>
                </a:extLst>
              </a:tr>
              <a:tr h="576652">
                <a:tc>
                  <a:txBody>
                    <a:bodyPr/>
                    <a:lstStyle/>
                    <a:p>
                      <a:r>
                        <a:rPr lang="en-IN" dirty="0"/>
                        <a:t> 1014</a:t>
                      </a:r>
                    </a:p>
                  </a:txBody>
                  <a:tcPr>
                    <a:noFill/>
                  </a:tcPr>
                </a:tc>
                <a:extLst>
                  <a:ext uri="{0D108BD9-81ED-4DB2-BD59-A6C34878D82A}">
                    <a16:rowId xmlns:a16="http://schemas.microsoft.com/office/drawing/2014/main" val="3325930050"/>
                  </a:ext>
                </a:extLst>
              </a:tr>
            </a:tbl>
          </a:graphicData>
        </a:graphic>
      </p:graphicFrame>
      <p:sp>
        <p:nvSpPr>
          <p:cNvPr id="14" name="TextBox 13">
            <a:extLst>
              <a:ext uri="{FF2B5EF4-FFF2-40B4-BE49-F238E27FC236}">
                <a16:creationId xmlns:a16="http://schemas.microsoft.com/office/drawing/2014/main" id="{43108D57-6D06-4EE2-A1AE-A257B00D3CB5}"/>
              </a:ext>
            </a:extLst>
          </p:cNvPr>
          <p:cNvSpPr txBox="1"/>
          <p:nvPr/>
        </p:nvSpPr>
        <p:spPr>
          <a:xfrm>
            <a:off x="925476" y="2424906"/>
            <a:ext cx="2161068" cy="461665"/>
          </a:xfrm>
          <a:prstGeom prst="rect">
            <a:avLst/>
          </a:prstGeom>
          <a:solidFill>
            <a:schemeClr val="accent3">
              <a:lumMod val="50000"/>
            </a:schemeClr>
          </a:solidFill>
        </p:spPr>
        <p:txBody>
          <a:bodyPr wrap="square" rtlCol="0">
            <a:spAutoFit/>
          </a:bodyPr>
          <a:lstStyle/>
          <a:p>
            <a:r>
              <a:rPr lang="en-IN" dirty="0"/>
              <a:t>float Temp[5];</a:t>
            </a:r>
          </a:p>
        </p:txBody>
      </p:sp>
      <p:sp>
        <p:nvSpPr>
          <p:cNvPr id="16" name="TextBox 15">
            <a:extLst>
              <a:ext uri="{FF2B5EF4-FFF2-40B4-BE49-F238E27FC236}">
                <a16:creationId xmlns:a16="http://schemas.microsoft.com/office/drawing/2014/main" id="{CAE17454-E3A0-44D8-911E-9E16340C2ACE}"/>
              </a:ext>
            </a:extLst>
          </p:cNvPr>
          <p:cNvSpPr txBox="1"/>
          <p:nvPr/>
        </p:nvSpPr>
        <p:spPr>
          <a:xfrm>
            <a:off x="3800254" y="2886611"/>
            <a:ext cx="2167270" cy="461665"/>
          </a:xfrm>
          <a:prstGeom prst="rect">
            <a:avLst/>
          </a:prstGeom>
          <a:solidFill>
            <a:schemeClr val="accent3">
              <a:lumMod val="50000"/>
            </a:schemeClr>
          </a:solidFill>
        </p:spPr>
        <p:txBody>
          <a:bodyPr wrap="square" rtlCol="0">
            <a:spAutoFit/>
          </a:bodyPr>
          <a:lstStyle/>
          <a:p>
            <a:r>
              <a:rPr lang="en-IN" dirty="0"/>
              <a:t>char colour[5];</a:t>
            </a:r>
          </a:p>
        </p:txBody>
      </p:sp>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int marks[10];</a:t>
            </a:r>
          </a:p>
        </p:txBody>
      </p:sp>
      <p:sp>
        <p:nvSpPr>
          <p:cNvPr id="5" name="Rectangle 4">
            <a:extLst>
              <a:ext uri="{FF2B5EF4-FFF2-40B4-BE49-F238E27FC236}">
                <a16:creationId xmlns:a16="http://schemas.microsoft.com/office/drawing/2014/main" id="{03F5C7B0-1E6F-4C1B-9146-D330F8C15409}"/>
              </a:ext>
            </a:extLst>
          </p:cNvPr>
          <p:cNvSpPr/>
          <p:nvPr/>
        </p:nvSpPr>
        <p:spPr bwMode="auto">
          <a:xfrm>
            <a:off x="3992526" y="1859445"/>
            <a:ext cx="1527544" cy="461665"/>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datatype</a:t>
            </a:r>
          </a:p>
        </p:txBody>
      </p:sp>
      <p:cxnSp>
        <p:nvCxnSpPr>
          <p:cNvPr id="10" name="Straight Arrow Connector 9">
            <a:extLst>
              <a:ext uri="{FF2B5EF4-FFF2-40B4-BE49-F238E27FC236}">
                <a16:creationId xmlns:a16="http://schemas.microsoft.com/office/drawing/2014/main" id="{ECC74781-CE54-4427-A1D7-B0772A24E01F}"/>
              </a:ext>
            </a:extLst>
          </p:cNvPr>
          <p:cNvCxnSpPr/>
          <p:nvPr/>
        </p:nvCxnSpPr>
        <p:spPr bwMode="auto">
          <a:xfrm flipH="1">
            <a:off x="1319324" y="2219028"/>
            <a:ext cx="2673202" cy="20587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AFD60F01-E1E1-4156-891B-8FA2CC13687F}"/>
              </a:ext>
            </a:extLst>
          </p:cNvPr>
          <p:cNvCxnSpPr/>
          <p:nvPr/>
        </p:nvCxnSpPr>
        <p:spPr bwMode="auto">
          <a:xfrm>
            <a:off x="4257010" y="2321110"/>
            <a:ext cx="0" cy="6143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778BD922-0E16-41DB-B706-31FA8921E7C2}"/>
              </a:ext>
            </a:extLst>
          </p:cNvPr>
          <p:cNvCxnSpPr>
            <a:endCxn id="18" idx="1"/>
          </p:cNvCxnSpPr>
          <p:nvPr/>
        </p:nvCxnSpPr>
        <p:spPr bwMode="auto">
          <a:xfrm>
            <a:off x="5520070" y="1988195"/>
            <a:ext cx="1151860"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3054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Parts of an Array</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a:xfrm>
            <a:off x="685800" y="1071562"/>
            <a:ext cx="7848600" cy="5180381"/>
          </a:xfrm>
        </p:spPr>
        <p:txBody>
          <a:bodyPr/>
          <a:lstStyle/>
          <a:p>
            <a:r>
              <a:rPr lang="en-IN" dirty="0"/>
              <a:t> Each data at every memory location is called an </a:t>
            </a:r>
            <a:r>
              <a:rPr lang="en-IN" i="1" dirty="0">
                <a:solidFill>
                  <a:schemeClr val="tx2">
                    <a:lumMod val="60000"/>
                    <a:lumOff val="40000"/>
                  </a:schemeClr>
                </a:solidFill>
              </a:rPr>
              <a:t>element</a:t>
            </a:r>
            <a:r>
              <a:rPr lang="en-IN" dirty="0"/>
              <a:t>. </a:t>
            </a:r>
          </a:p>
          <a:p>
            <a:endParaRPr lang="en-IN" dirty="0"/>
          </a:p>
          <a:p>
            <a:r>
              <a:rPr lang="en-IN" dirty="0"/>
              <a:t>Position of each element is called </a:t>
            </a:r>
            <a:r>
              <a:rPr lang="en-IN" i="1" dirty="0">
                <a:solidFill>
                  <a:schemeClr val="tx2">
                    <a:lumMod val="60000"/>
                    <a:lumOff val="40000"/>
                  </a:schemeClr>
                </a:solidFill>
              </a:rPr>
              <a:t>index.</a:t>
            </a:r>
          </a:p>
          <a:p>
            <a:pPr lvl="1" algn="just"/>
            <a:r>
              <a:rPr lang="en-US" sz="2000" dirty="0"/>
              <a:t>The element in the 6th position is </a:t>
            </a:r>
          </a:p>
          <a:p>
            <a:pPr marL="114300" lvl="1" indent="0" algn="just">
              <a:buNone/>
            </a:pPr>
            <a:r>
              <a:rPr lang="en-US" sz="2000" dirty="0"/>
              <a:t>    28, and we use the notation marks[6] to </a:t>
            </a:r>
          </a:p>
          <a:p>
            <a:pPr marL="114300" lvl="1" indent="0" algn="just">
              <a:buNone/>
            </a:pPr>
            <a:r>
              <a:rPr lang="en-US" sz="2000" dirty="0"/>
              <a:t>     denote this element.</a:t>
            </a:r>
            <a:endParaRPr lang="en-IN" sz="2000" i="1" dirty="0">
              <a:solidFill>
                <a:schemeClr val="tx2">
                  <a:lumMod val="60000"/>
                  <a:lumOff val="40000"/>
                </a:schemeClr>
              </a:solidFill>
            </a:endParaRPr>
          </a:p>
          <a:p>
            <a:endParaRPr lang="en-IN" dirty="0"/>
          </a:p>
          <a:p>
            <a:r>
              <a:rPr lang="en-IN" dirty="0"/>
              <a:t>Total number of elements in an</a:t>
            </a:r>
          </a:p>
          <a:p>
            <a:pPr marL="0" indent="0">
              <a:buNone/>
            </a:pPr>
            <a:r>
              <a:rPr lang="en-IN" dirty="0"/>
              <a:t>     array is the </a:t>
            </a:r>
            <a:r>
              <a:rPr lang="en-IN" i="1" dirty="0">
                <a:solidFill>
                  <a:schemeClr val="tx2">
                    <a:lumMod val="60000"/>
                    <a:lumOff val="40000"/>
                  </a:schemeClr>
                </a:solidFill>
              </a:rPr>
              <a:t>length</a:t>
            </a:r>
            <a:r>
              <a:rPr lang="en-IN" dirty="0"/>
              <a:t> of the array. </a:t>
            </a:r>
          </a:p>
          <a:p>
            <a:pPr marL="0" indent="0">
              <a:buNone/>
            </a:pPr>
            <a:endParaRPr lang="en-IN" dirty="0"/>
          </a:p>
          <a:p>
            <a:pPr marL="0" indent="0">
              <a:buNone/>
            </a:pPr>
            <a:endParaRPr lang="en-IN" dirty="0"/>
          </a:p>
          <a:p>
            <a:endParaRPr lang="en-IN" i="1" dirty="0"/>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4</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extLst>
              <p:ext uri="{D42A27DB-BD31-4B8C-83A1-F6EECF244321}">
                <p14:modId xmlns:p14="http://schemas.microsoft.com/office/powerpoint/2010/main" val="3049188598"/>
              </p:ext>
            </p:extLst>
          </p:nvPr>
        </p:nvGraphicFramePr>
        <p:xfrm>
          <a:off x="6283842" y="2372040"/>
          <a:ext cx="854148" cy="3493951"/>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r h="443904">
                <a:tc>
                  <a:txBody>
                    <a:bodyPr/>
                    <a:lstStyle/>
                    <a:p>
                      <a:r>
                        <a:rPr lang="en-IN" dirty="0"/>
                        <a:t>     [5]</a:t>
                      </a:r>
                    </a:p>
                  </a:txBody>
                  <a:tcPr>
                    <a:noFill/>
                  </a:tcPr>
                </a:tc>
                <a:extLst>
                  <a:ext uri="{0D108BD9-81ED-4DB2-BD59-A6C34878D82A}">
                    <a16:rowId xmlns:a16="http://schemas.microsoft.com/office/drawing/2014/main" val="1286009310"/>
                  </a:ext>
                </a:extLst>
              </a:tr>
              <a:tr h="443904">
                <a:tc>
                  <a:txBody>
                    <a:bodyPr/>
                    <a:lstStyle/>
                    <a:p>
                      <a:r>
                        <a:rPr lang="en-IN" dirty="0"/>
                        <a:t>     [6]</a:t>
                      </a:r>
                    </a:p>
                  </a:txBody>
                  <a:tcPr>
                    <a:noFill/>
                  </a:tcPr>
                </a:tc>
                <a:extLst>
                  <a:ext uri="{0D108BD9-81ED-4DB2-BD59-A6C34878D82A}">
                    <a16:rowId xmlns:a16="http://schemas.microsoft.com/office/drawing/2014/main" val="3403054342"/>
                  </a:ext>
                </a:extLst>
              </a:tr>
              <a:tr h="386623">
                <a:tc>
                  <a:txBody>
                    <a:bodyPr/>
                    <a:lstStyle/>
                    <a:p>
                      <a:r>
                        <a:rPr lang="en-IN" dirty="0"/>
                        <a:t>     [7]</a:t>
                      </a:r>
                    </a:p>
                  </a:txBody>
                  <a:tcPr>
                    <a:noFill/>
                  </a:tcPr>
                </a:tc>
                <a:extLst>
                  <a:ext uri="{0D108BD9-81ED-4DB2-BD59-A6C34878D82A}">
                    <a16:rowId xmlns:a16="http://schemas.microsoft.com/office/drawing/2014/main" val="209429911"/>
                  </a:ext>
                </a:extLst>
              </a:tr>
            </a:tbl>
          </a:graphicData>
        </a:graphic>
      </p:graphicFrame>
      <p:graphicFrame>
        <p:nvGraphicFramePr>
          <p:cNvPr id="9" name="Table 7">
            <a:extLst>
              <a:ext uri="{FF2B5EF4-FFF2-40B4-BE49-F238E27FC236}">
                <a16:creationId xmlns:a16="http://schemas.microsoft.com/office/drawing/2014/main" id="{36D80D4B-47C2-4F10-8DA0-BF470C7A171A}"/>
              </a:ext>
            </a:extLst>
          </p:cNvPr>
          <p:cNvGraphicFramePr>
            <a:graphicFrameLocks noGrp="1"/>
          </p:cNvGraphicFramePr>
          <p:nvPr>
            <p:extLst>
              <p:ext uri="{D42A27DB-BD31-4B8C-83A1-F6EECF244321}">
                <p14:modId xmlns:p14="http://schemas.microsoft.com/office/powerpoint/2010/main" val="3898978321"/>
              </p:ext>
            </p:extLst>
          </p:nvPr>
        </p:nvGraphicFramePr>
        <p:xfrm>
          <a:off x="7137990" y="2372040"/>
          <a:ext cx="1527544" cy="34144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426800">
                <a:tc>
                  <a:txBody>
                    <a:bodyPr/>
                    <a:lstStyle/>
                    <a:p>
                      <a:r>
                        <a:rPr lang="en-IN" dirty="0">
                          <a:solidFill>
                            <a:schemeClr val="tx1"/>
                          </a:solidFill>
                        </a:rPr>
                        <a:t>       25</a:t>
                      </a:r>
                    </a:p>
                  </a:txBody>
                  <a:tcPr>
                    <a:solidFill>
                      <a:srgbClr val="F6EFE7"/>
                    </a:solidFill>
                  </a:tcPr>
                </a:tc>
                <a:extLst>
                  <a:ext uri="{0D108BD9-81ED-4DB2-BD59-A6C34878D82A}">
                    <a16:rowId xmlns:a16="http://schemas.microsoft.com/office/drawing/2014/main" val="1531105938"/>
                  </a:ext>
                </a:extLst>
              </a:tr>
              <a:tr h="426800">
                <a:tc>
                  <a:txBody>
                    <a:bodyPr/>
                    <a:lstStyle/>
                    <a:p>
                      <a:r>
                        <a:rPr lang="en-IN" dirty="0"/>
                        <a:t>       27</a:t>
                      </a:r>
                    </a:p>
                  </a:txBody>
                  <a:tcPr/>
                </a:tc>
                <a:extLst>
                  <a:ext uri="{0D108BD9-81ED-4DB2-BD59-A6C34878D82A}">
                    <a16:rowId xmlns:a16="http://schemas.microsoft.com/office/drawing/2014/main" val="1771576885"/>
                  </a:ext>
                </a:extLst>
              </a:tr>
              <a:tr h="426800">
                <a:tc>
                  <a:txBody>
                    <a:bodyPr/>
                    <a:lstStyle/>
                    <a:p>
                      <a:r>
                        <a:rPr lang="en-IN" dirty="0"/>
                        <a:t>       29</a:t>
                      </a:r>
                    </a:p>
                  </a:txBody>
                  <a:tcPr/>
                </a:tc>
                <a:extLst>
                  <a:ext uri="{0D108BD9-81ED-4DB2-BD59-A6C34878D82A}">
                    <a16:rowId xmlns:a16="http://schemas.microsoft.com/office/drawing/2014/main" val="150265111"/>
                  </a:ext>
                </a:extLst>
              </a:tr>
              <a:tr h="426800">
                <a:tc>
                  <a:txBody>
                    <a:bodyPr/>
                    <a:lstStyle/>
                    <a:p>
                      <a:r>
                        <a:rPr lang="en-IN" dirty="0"/>
                        <a:t>       30</a:t>
                      </a:r>
                    </a:p>
                  </a:txBody>
                  <a:tcPr/>
                </a:tc>
                <a:extLst>
                  <a:ext uri="{0D108BD9-81ED-4DB2-BD59-A6C34878D82A}">
                    <a16:rowId xmlns:a16="http://schemas.microsoft.com/office/drawing/2014/main" val="4281331626"/>
                  </a:ext>
                </a:extLst>
              </a:tr>
              <a:tr h="426800">
                <a:tc>
                  <a:txBody>
                    <a:bodyPr/>
                    <a:lstStyle/>
                    <a:p>
                      <a:r>
                        <a:rPr lang="en-IN" dirty="0"/>
                        <a:t>       29</a:t>
                      </a:r>
                    </a:p>
                  </a:txBody>
                  <a:tcPr/>
                </a:tc>
                <a:extLst>
                  <a:ext uri="{0D108BD9-81ED-4DB2-BD59-A6C34878D82A}">
                    <a16:rowId xmlns:a16="http://schemas.microsoft.com/office/drawing/2014/main" val="3707931503"/>
                  </a:ext>
                </a:extLst>
              </a:tr>
              <a:tr h="426800">
                <a:tc>
                  <a:txBody>
                    <a:bodyPr/>
                    <a:lstStyle/>
                    <a:p>
                      <a:r>
                        <a:rPr lang="en-IN" dirty="0"/>
                        <a:t>       30</a:t>
                      </a:r>
                    </a:p>
                  </a:txBody>
                  <a:tcPr/>
                </a:tc>
                <a:extLst>
                  <a:ext uri="{0D108BD9-81ED-4DB2-BD59-A6C34878D82A}">
                    <a16:rowId xmlns:a16="http://schemas.microsoft.com/office/drawing/2014/main" val="1286009310"/>
                  </a:ext>
                </a:extLst>
              </a:tr>
              <a:tr h="426800">
                <a:tc>
                  <a:txBody>
                    <a:bodyPr/>
                    <a:lstStyle/>
                    <a:p>
                      <a:r>
                        <a:rPr lang="en-IN" dirty="0"/>
                        <a:t>       28</a:t>
                      </a:r>
                    </a:p>
                  </a:txBody>
                  <a:tcPr/>
                </a:tc>
                <a:extLst>
                  <a:ext uri="{0D108BD9-81ED-4DB2-BD59-A6C34878D82A}">
                    <a16:rowId xmlns:a16="http://schemas.microsoft.com/office/drawing/2014/main" val="3403054342"/>
                  </a:ext>
                </a:extLst>
              </a:tr>
              <a:tr h="426800">
                <a:tc>
                  <a:txBody>
                    <a:bodyPr/>
                    <a:lstStyle/>
                    <a:p>
                      <a:r>
                        <a:rPr lang="en-IN" dirty="0"/>
                        <a:t>       20</a:t>
                      </a:r>
                    </a:p>
                  </a:txBody>
                  <a:tcPr/>
                </a:tc>
                <a:extLst>
                  <a:ext uri="{0D108BD9-81ED-4DB2-BD59-A6C34878D82A}">
                    <a16:rowId xmlns:a16="http://schemas.microsoft.com/office/drawing/2014/main" val="209429911"/>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int marks[8];</a:t>
            </a:r>
          </a:p>
        </p:txBody>
      </p:sp>
      <p:sp>
        <p:nvSpPr>
          <p:cNvPr id="19" name="Left Brace 18">
            <a:extLst>
              <a:ext uri="{FF2B5EF4-FFF2-40B4-BE49-F238E27FC236}">
                <a16:creationId xmlns:a16="http://schemas.microsoft.com/office/drawing/2014/main" id="{C4982452-C9B9-497D-887B-B782E3B01158}"/>
              </a:ext>
            </a:extLst>
          </p:cNvPr>
          <p:cNvSpPr/>
          <p:nvPr/>
        </p:nvSpPr>
        <p:spPr bwMode="auto">
          <a:xfrm>
            <a:off x="5674242" y="2466753"/>
            <a:ext cx="343786" cy="3399238"/>
          </a:xfrm>
          <a:prstGeom prst="leftBrace">
            <a:avLst>
              <a:gd name="adj1" fmla="val 8333"/>
              <a:gd name="adj2" fmla="val 73147"/>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18456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Size of an Array</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a:xfrm>
            <a:off x="685800" y="1071562"/>
            <a:ext cx="7848600" cy="5180381"/>
          </a:xfrm>
        </p:spPr>
        <p:txBody>
          <a:bodyPr/>
          <a:lstStyle/>
          <a:p>
            <a:pPr lvl="1">
              <a:buFont typeface="Wingdings" panose="05000000000000000000" pitchFamily="2" charset="2"/>
              <a:buChar char="q"/>
            </a:pPr>
            <a:r>
              <a:rPr lang="en-IN" dirty="0"/>
              <a:t>The total size can be determined by </a:t>
            </a:r>
          </a:p>
          <a:p>
            <a:pPr marL="114300" lvl="1" indent="0">
              <a:buNone/>
            </a:pPr>
            <a:r>
              <a:rPr lang="en-IN" dirty="0"/>
              <a:t>      </a:t>
            </a:r>
            <a:r>
              <a:rPr lang="en-IN" i="1" dirty="0" err="1">
                <a:solidFill>
                  <a:schemeClr val="tx2">
                    <a:lumMod val="60000"/>
                    <a:lumOff val="40000"/>
                  </a:schemeClr>
                </a:solidFill>
              </a:rPr>
              <a:t>sizeof</a:t>
            </a:r>
            <a:r>
              <a:rPr lang="en-IN" i="1" dirty="0">
                <a:solidFill>
                  <a:schemeClr val="tx2">
                    <a:lumMod val="60000"/>
                    <a:lumOff val="40000"/>
                  </a:schemeClr>
                </a:solidFill>
              </a:rPr>
              <a:t>() </a:t>
            </a:r>
            <a:r>
              <a:rPr lang="en-IN" dirty="0"/>
              <a:t>operator. </a:t>
            </a:r>
          </a:p>
          <a:p>
            <a:pPr marL="114300" lvl="1" indent="0">
              <a:buNone/>
            </a:pPr>
            <a:endParaRPr lang="en-IN" dirty="0"/>
          </a:p>
          <a:p>
            <a:pPr lvl="1">
              <a:buFont typeface="Wingdings" panose="05000000000000000000" pitchFamily="2" charset="2"/>
              <a:buChar char="q"/>
            </a:pPr>
            <a:endParaRPr lang="en-IN" sz="2000" b="1" dirty="0">
              <a:solidFill>
                <a:schemeClr val="tx2">
                  <a:lumMod val="60000"/>
                  <a:lumOff val="40000"/>
                </a:schemeClr>
              </a:solidFill>
            </a:endParaRPr>
          </a:p>
          <a:p>
            <a:pPr lvl="1">
              <a:buFont typeface="Wingdings" panose="05000000000000000000" pitchFamily="2" charset="2"/>
              <a:buChar char="q"/>
            </a:pPr>
            <a:r>
              <a:rPr lang="en-IN" sz="2000" b="1" dirty="0">
                <a:solidFill>
                  <a:schemeClr val="tx2">
                    <a:lumMod val="60000"/>
                    <a:lumOff val="40000"/>
                  </a:schemeClr>
                </a:solidFill>
              </a:rPr>
              <a:t>Static array </a:t>
            </a:r>
            <a:r>
              <a:rPr lang="en-IN" sz="2000" dirty="0"/>
              <a:t>-  Size of the array is</a:t>
            </a:r>
          </a:p>
          <a:p>
            <a:pPr marL="114300" lvl="1" indent="0">
              <a:buNone/>
            </a:pPr>
            <a:r>
              <a:rPr lang="en-IN" sz="2000" dirty="0"/>
              <a:t>     fixed and cannot be changed during execution.</a:t>
            </a:r>
          </a:p>
          <a:p>
            <a:pPr marL="114300" lvl="1" indent="0">
              <a:buNone/>
            </a:pPr>
            <a:endParaRPr lang="en-IN" sz="2000" dirty="0"/>
          </a:p>
          <a:p>
            <a:pPr marL="114300" lvl="1" indent="0">
              <a:buNone/>
            </a:pPr>
            <a:r>
              <a:rPr lang="en-IN" sz="2000" dirty="0"/>
              <a:t> </a:t>
            </a:r>
          </a:p>
          <a:p>
            <a:pPr lvl="1">
              <a:buFont typeface="Wingdings" panose="05000000000000000000" pitchFamily="2" charset="2"/>
              <a:buChar char="q"/>
            </a:pPr>
            <a:r>
              <a:rPr lang="en-IN" sz="2000" dirty="0"/>
              <a:t> </a:t>
            </a:r>
            <a:r>
              <a:rPr lang="en-IN" sz="2000" b="1" dirty="0">
                <a:solidFill>
                  <a:schemeClr val="tx2">
                    <a:lumMod val="60000"/>
                    <a:lumOff val="40000"/>
                  </a:schemeClr>
                </a:solidFill>
              </a:rPr>
              <a:t>Dynamic Array </a:t>
            </a:r>
            <a:r>
              <a:rPr lang="en-IN" sz="2000" dirty="0"/>
              <a:t>-  Size of the array can be </a:t>
            </a:r>
          </a:p>
          <a:p>
            <a:pPr marL="114300" lvl="1" indent="0">
              <a:buNone/>
            </a:pPr>
            <a:r>
              <a:rPr lang="en-IN" sz="2000" dirty="0"/>
              <a:t>Changed during execution. </a:t>
            </a:r>
          </a:p>
          <a:p>
            <a:pPr marL="0" indent="0">
              <a:buNone/>
            </a:pPr>
            <a:endParaRPr lang="en-IN" sz="2800" dirty="0"/>
          </a:p>
          <a:p>
            <a:endParaRPr lang="en-IN" i="1" dirty="0"/>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5</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nvGraphicFramePr>
        <p:xfrm>
          <a:off x="6283842" y="2372040"/>
          <a:ext cx="854148" cy="3493951"/>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r h="443904">
                <a:tc>
                  <a:txBody>
                    <a:bodyPr/>
                    <a:lstStyle/>
                    <a:p>
                      <a:r>
                        <a:rPr lang="en-IN" dirty="0"/>
                        <a:t>     [5]</a:t>
                      </a:r>
                    </a:p>
                  </a:txBody>
                  <a:tcPr>
                    <a:noFill/>
                  </a:tcPr>
                </a:tc>
                <a:extLst>
                  <a:ext uri="{0D108BD9-81ED-4DB2-BD59-A6C34878D82A}">
                    <a16:rowId xmlns:a16="http://schemas.microsoft.com/office/drawing/2014/main" val="1286009310"/>
                  </a:ext>
                </a:extLst>
              </a:tr>
              <a:tr h="443904">
                <a:tc>
                  <a:txBody>
                    <a:bodyPr/>
                    <a:lstStyle/>
                    <a:p>
                      <a:r>
                        <a:rPr lang="en-IN" dirty="0"/>
                        <a:t>     [6]</a:t>
                      </a:r>
                    </a:p>
                  </a:txBody>
                  <a:tcPr>
                    <a:noFill/>
                  </a:tcPr>
                </a:tc>
                <a:extLst>
                  <a:ext uri="{0D108BD9-81ED-4DB2-BD59-A6C34878D82A}">
                    <a16:rowId xmlns:a16="http://schemas.microsoft.com/office/drawing/2014/main" val="3403054342"/>
                  </a:ext>
                </a:extLst>
              </a:tr>
              <a:tr h="386623">
                <a:tc>
                  <a:txBody>
                    <a:bodyPr/>
                    <a:lstStyle/>
                    <a:p>
                      <a:r>
                        <a:rPr lang="en-IN" dirty="0"/>
                        <a:t>     [7]</a:t>
                      </a:r>
                    </a:p>
                  </a:txBody>
                  <a:tcPr>
                    <a:noFill/>
                  </a:tcPr>
                </a:tc>
                <a:extLst>
                  <a:ext uri="{0D108BD9-81ED-4DB2-BD59-A6C34878D82A}">
                    <a16:rowId xmlns:a16="http://schemas.microsoft.com/office/drawing/2014/main" val="209429911"/>
                  </a:ext>
                </a:extLst>
              </a:tr>
            </a:tbl>
          </a:graphicData>
        </a:graphic>
      </p:graphicFrame>
      <p:graphicFrame>
        <p:nvGraphicFramePr>
          <p:cNvPr id="9" name="Table 7">
            <a:extLst>
              <a:ext uri="{FF2B5EF4-FFF2-40B4-BE49-F238E27FC236}">
                <a16:creationId xmlns:a16="http://schemas.microsoft.com/office/drawing/2014/main" id="{36D80D4B-47C2-4F10-8DA0-BF470C7A171A}"/>
              </a:ext>
            </a:extLst>
          </p:cNvPr>
          <p:cNvGraphicFramePr>
            <a:graphicFrameLocks noGrp="1"/>
          </p:cNvGraphicFramePr>
          <p:nvPr/>
        </p:nvGraphicFramePr>
        <p:xfrm>
          <a:off x="7137990" y="2372040"/>
          <a:ext cx="1527544" cy="34144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426800">
                <a:tc>
                  <a:txBody>
                    <a:bodyPr/>
                    <a:lstStyle/>
                    <a:p>
                      <a:r>
                        <a:rPr lang="en-IN" dirty="0">
                          <a:solidFill>
                            <a:schemeClr val="tx1"/>
                          </a:solidFill>
                        </a:rPr>
                        <a:t>       25</a:t>
                      </a:r>
                    </a:p>
                  </a:txBody>
                  <a:tcPr>
                    <a:solidFill>
                      <a:srgbClr val="F6EFE7"/>
                    </a:solidFill>
                  </a:tcPr>
                </a:tc>
                <a:extLst>
                  <a:ext uri="{0D108BD9-81ED-4DB2-BD59-A6C34878D82A}">
                    <a16:rowId xmlns:a16="http://schemas.microsoft.com/office/drawing/2014/main" val="1531105938"/>
                  </a:ext>
                </a:extLst>
              </a:tr>
              <a:tr h="426800">
                <a:tc>
                  <a:txBody>
                    <a:bodyPr/>
                    <a:lstStyle/>
                    <a:p>
                      <a:r>
                        <a:rPr lang="en-IN" dirty="0"/>
                        <a:t>       27</a:t>
                      </a:r>
                    </a:p>
                  </a:txBody>
                  <a:tcPr/>
                </a:tc>
                <a:extLst>
                  <a:ext uri="{0D108BD9-81ED-4DB2-BD59-A6C34878D82A}">
                    <a16:rowId xmlns:a16="http://schemas.microsoft.com/office/drawing/2014/main" val="1771576885"/>
                  </a:ext>
                </a:extLst>
              </a:tr>
              <a:tr h="426800">
                <a:tc>
                  <a:txBody>
                    <a:bodyPr/>
                    <a:lstStyle/>
                    <a:p>
                      <a:r>
                        <a:rPr lang="en-IN" dirty="0"/>
                        <a:t>       29</a:t>
                      </a:r>
                    </a:p>
                  </a:txBody>
                  <a:tcPr/>
                </a:tc>
                <a:extLst>
                  <a:ext uri="{0D108BD9-81ED-4DB2-BD59-A6C34878D82A}">
                    <a16:rowId xmlns:a16="http://schemas.microsoft.com/office/drawing/2014/main" val="150265111"/>
                  </a:ext>
                </a:extLst>
              </a:tr>
              <a:tr h="426800">
                <a:tc>
                  <a:txBody>
                    <a:bodyPr/>
                    <a:lstStyle/>
                    <a:p>
                      <a:r>
                        <a:rPr lang="en-IN" dirty="0"/>
                        <a:t>       30</a:t>
                      </a:r>
                    </a:p>
                  </a:txBody>
                  <a:tcPr/>
                </a:tc>
                <a:extLst>
                  <a:ext uri="{0D108BD9-81ED-4DB2-BD59-A6C34878D82A}">
                    <a16:rowId xmlns:a16="http://schemas.microsoft.com/office/drawing/2014/main" val="4281331626"/>
                  </a:ext>
                </a:extLst>
              </a:tr>
              <a:tr h="426800">
                <a:tc>
                  <a:txBody>
                    <a:bodyPr/>
                    <a:lstStyle/>
                    <a:p>
                      <a:r>
                        <a:rPr lang="en-IN" dirty="0"/>
                        <a:t>       29</a:t>
                      </a:r>
                    </a:p>
                  </a:txBody>
                  <a:tcPr/>
                </a:tc>
                <a:extLst>
                  <a:ext uri="{0D108BD9-81ED-4DB2-BD59-A6C34878D82A}">
                    <a16:rowId xmlns:a16="http://schemas.microsoft.com/office/drawing/2014/main" val="3707931503"/>
                  </a:ext>
                </a:extLst>
              </a:tr>
              <a:tr h="426800">
                <a:tc>
                  <a:txBody>
                    <a:bodyPr/>
                    <a:lstStyle/>
                    <a:p>
                      <a:r>
                        <a:rPr lang="en-IN" dirty="0"/>
                        <a:t>       30</a:t>
                      </a:r>
                    </a:p>
                  </a:txBody>
                  <a:tcPr/>
                </a:tc>
                <a:extLst>
                  <a:ext uri="{0D108BD9-81ED-4DB2-BD59-A6C34878D82A}">
                    <a16:rowId xmlns:a16="http://schemas.microsoft.com/office/drawing/2014/main" val="1286009310"/>
                  </a:ext>
                </a:extLst>
              </a:tr>
              <a:tr h="426800">
                <a:tc>
                  <a:txBody>
                    <a:bodyPr/>
                    <a:lstStyle/>
                    <a:p>
                      <a:r>
                        <a:rPr lang="en-IN" dirty="0"/>
                        <a:t>       28</a:t>
                      </a:r>
                    </a:p>
                  </a:txBody>
                  <a:tcPr/>
                </a:tc>
                <a:extLst>
                  <a:ext uri="{0D108BD9-81ED-4DB2-BD59-A6C34878D82A}">
                    <a16:rowId xmlns:a16="http://schemas.microsoft.com/office/drawing/2014/main" val="3403054342"/>
                  </a:ext>
                </a:extLst>
              </a:tr>
              <a:tr h="426800">
                <a:tc>
                  <a:txBody>
                    <a:bodyPr/>
                    <a:lstStyle/>
                    <a:p>
                      <a:r>
                        <a:rPr lang="en-IN" dirty="0"/>
                        <a:t>       20</a:t>
                      </a:r>
                    </a:p>
                  </a:txBody>
                  <a:tcPr/>
                </a:tc>
                <a:extLst>
                  <a:ext uri="{0D108BD9-81ED-4DB2-BD59-A6C34878D82A}">
                    <a16:rowId xmlns:a16="http://schemas.microsoft.com/office/drawing/2014/main" val="209429911"/>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int marks[8];</a:t>
            </a:r>
          </a:p>
        </p:txBody>
      </p:sp>
      <p:sp>
        <p:nvSpPr>
          <p:cNvPr id="5" name="Rectangle 4">
            <a:extLst>
              <a:ext uri="{FF2B5EF4-FFF2-40B4-BE49-F238E27FC236}">
                <a16:creationId xmlns:a16="http://schemas.microsoft.com/office/drawing/2014/main" id="{E850A8BF-3868-4063-935D-42B0909CB9C3}"/>
              </a:ext>
            </a:extLst>
          </p:cNvPr>
          <p:cNvSpPr/>
          <p:nvPr/>
        </p:nvSpPr>
        <p:spPr bwMode="auto">
          <a:xfrm>
            <a:off x="1261730" y="2187130"/>
            <a:ext cx="4412512" cy="461665"/>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Size = 8 X 2 bytes = 16 bytes</a:t>
            </a:r>
          </a:p>
        </p:txBody>
      </p:sp>
      <p:sp>
        <p:nvSpPr>
          <p:cNvPr id="8" name="Rectangle 7">
            <a:extLst>
              <a:ext uri="{FF2B5EF4-FFF2-40B4-BE49-F238E27FC236}">
                <a16:creationId xmlns:a16="http://schemas.microsoft.com/office/drawing/2014/main" id="{B24A3D1C-4E3D-48EB-AD4E-DC4143774031}"/>
              </a:ext>
            </a:extLst>
          </p:cNvPr>
          <p:cNvSpPr/>
          <p:nvPr/>
        </p:nvSpPr>
        <p:spPr bwMode="auto">
          <a:xfrm>
            <a:off x="808075" y="3657600"/>
            <a:ext cx="4866167" cy="461665"/>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   </a:t>
            </a:r>
            <a:r>
              <a:rPr kumimoji="0" lang="en-US" sz="2000" b="0" i="0" u="none" strike="noStrike" cap="none" normalizeH="0" baseline="0" dirty="0">
                <a:ln>
                  <a:noFill/>
                </a:ln>
                <a:solidFill>
                  <a:schemeClr val="tx1"/>
                </a:solidFill>
                <a:effectLst/>
                <a:latin typeface="Times New Roman" pitchFamily="18" charset="0"/>
              </a:rPr>
              <a:t>int marks[</a:t>
            </a:r>
            <a:r>
              <a:rPr lang="en-US" sz="2000" dirty="0">
                <a:latin typeface="Times New Roman" pitchFamily="18" charset="0"/>
              </a:rPr>
              <a:t>8</a:t>
            </a:r>
            <a:r>
              <a:rPr kumimoji="0" lang="en-US" sz="2000" b="0" i="0" u="none" strike="noStrike" cap="none" normalizeH="0" baseline="0" dirty="0">
                <a:ln>
                  <a:noFill/>
                </a:ln>
                <a:solidFill>
                  <a:schemeClr val="tx1"/>
                </a:solidFill>
                <a:effectLst/>
                <a:latin typeface="Times New Roman" pitchFamily="18" charset="0"/>
              </a:rPr>
              <a:t>] = {25,27,29,30,29,30,28,20}; </a:t>
            </a:r>
            <a:endParaRPr kumimoji="0" lang="en-US" sz="2400" b="0" i="0" u="none" strike="noStrike" cap="none" normalizeH="0" baseline="0" dirty="0">
              <a:ln>
                <a:noFill/>
              </a:ln>
              <a:solidFill>
                <a:schemeClr val="tx1"/>
              </a:solidFill>
              <a:effectLst/>
              <a:latin typeface="Times New Roman" pitchFamily="18" charset="0"/>
            </a:endParaRPr>
          </a:p>
        </p:txBody>
      </p:sp>
      <p:sp>
        <p:nvSpPr>
          <p:cNvPr id="12" name="Rectangle 11">
            <a:extLst>
              <a:ext uri="{FF2B5EF4-FFF2-40B4-BE49-F238E27FC236}">
                <a16:creationId xmlns:a16="http://schemas.microsoft.com/office/drawing/2014/main" id="{37B33080-CCB6-4F6C-8F65-EAA86B355CE8}"/>
              </a:ext>
            </a:extLst>
          </p:cNvPr>
          <p:cNvSpPr/>
          <p:nvPr/>
        </p:nvSpPr>
        <p:spPr bwMode="auto">
          <a:xfrm>
            <a:off x="990601" y="5185438"/>
            <a:ext cx="4866167" cy="1566236"/>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pitchFamily="18" charset="0"/>
              </a:rPr>
              <a:t>#</a:t>
            </a:r>
            <a:r>
              <a:rPr kumimoji="0" lang="en-US" sz="1600" b="0" i="0" u="none" strike="noStrike" cap="none" normalizeH="0" baseline="0" dirty="0">
                <a:ln>
                  <a:noFill/>
                </a:ln>
                <a:solidFill>
                  <a:schemeClr val="tx1"/>
                </a:solidFill>
                <a:effectLst/>
                <a:latin typeface="Times New Roman" pitchFamily="18" charset="0"/>
              </a:rPr>
              <a:t>define INITIAL_CAPACITY </a:t>
            </a:r>
            <a:r>
              <a:rPr kumimoji="0" lang="en-US" sz="1600" b="0" i="0" u="none" strike="noStrike" cap="none" normalizeH="0" dirty="0">
                <a:ln>
                  <a:noFill/>
                </a:ln>
                <a:solidFill>
                  <a:schemeClr val="tx1"/>
                </a:solidFill>
                <a:effectLst/>
                <a:latin typeface="Times New Roman" pitchFamily="18" charset="0"/>
              </a:rPr>
              <a:t> 5</a:t>
            </a:r>
          </a:p>
          <a:p>
            <a:pPr marL="0" marR="0" indent="0" algn="l" defTabSz="914400" rtl="0" eaLnBrk="0" fontAlgn="base" latinLnBrk="0" hangingPunct="0">
              <a:lnSpc>
                <a:spcPct val="100000"/>
              </a:lnSpc>
              <a:spcBef>
                <a:spcPct val="0"/>
              </a:spcBef>
              <a:spcAft>
                <a:spcPct val="0"/>
              </a:spcAft>
              <a:buClrTx/>
              <a:buSzTx/>
              <a:buFontTx/>
              <a:buNone/>
              <a:tabLst/>
            </a:pPr>
            <a:r>
              <a:rPr lang="en-US" sz="1600" dirty="0">
                <a:latin typeface="Times New Roman" pitchFamily="18" charset="0"/>
              </a:rPr>
              <a:t>void main(){</a:t>
            </a:r>
          </a:p>
          <a:p>
            <a:pPr marL="0" marR="0" indent="0" algn="l" defTabSz="914400" rtl="0" eaLnBrk="0" fontAlgn="base" latinLnBrk="0" hangingPunct="0">
              <a:lnSpc>
                <a:spcPct val="100000"/>
              </a:lnSpc>
              <a:spcBef>
                <a:spcPct val="0"/>
              </a:spcBef>
              <a:spcAft>
                <a:spcPct val="0"/>
              </a:spcAft>
              <a:buClrTx/>
              <a:buSzTx/>
              <a:buFontTx/>
              <a:buNone/>
              <a:tabLst/>
            </a:pPr>
            <a:r>
              <a:rPr lang="en-US" sz="1600" dirty="0">
                <a:latin typeface="Times New Roman" pitchFamily="18" charset="0"/>
              </a:rPr>
              <a:t> int* list = </a:t>
            </a:r>
            <a:r>
              <a:rPr lang="en-US" sz="1600" dirty="0">
                <a:solidFill>
                  <a:srgbClr val="FF0000"/>
                </a:solidFill>
                <a:latin typeface="Times New Roman" pitchFamily="18" charset="0"/>
              </a:rPr>
              <a:t>malloc</a:t>
            </a:r>
            <a:r>
              <a:rPr lang="en-US" sz="1600" dirty="0">
                <a:latin typeface="Times New Roman" pitchFamily="18" charset="0"/>
              </a:rPr>
              <a:t>(INITIAL_CAPACITY * </a:t>
            </a:r>
            <a:r>
              <a:rPr lang="en-US" sz="1600" dirty="0" err="1">
                <a:latin typeface="Times New Roman" pitchFamily="18" charset="0"/>
              </a:rPr>
              <a:t>sizeof</a:t>
            </a:r>
            <a:r>
              <a:rPr lang="en-US" sz="1600" dirty="0">
                <a:latin typeface="Times New Roman" pitchFamily="18" charset="0"/>
              </a:rPr>
              <a:t>(int)); </a:t>
            </a:r>
          </a:p>
          <a:p>
            <a:pPr marL="0" marR="0" indent="0" algn="l" defTabSz="914400" rtl="0" eaLnBrk="0" fontAlgn="base" latinLnBrk="0" hangingPunct="0">
              <a:lnSpc>
                <a:spcPct val="100000"/>
              </a:lnSpc>
              <a:spcBef>
                <a:spcPct val="0"/>
              </a:spcBef>
              <a:spcAft>
                <a:spcPct val="0"/>
              </a:spcAft>
              <a:buClrTx/>
              <a:buSzTx/>
              <a:buFontTx/>
              <a:buNone/>
              <a:tabLst/>
            </a:pPr>
            <a:r>
              <a:rPr lang="en-US" sz="1600" dirty="0">
                <a:latin typeface="Times New Roman" pitchFamily="18" charset="0"/>
              </a:rPr>
              <a:t>//if  more data need to be added</a:t>
            </a:r>
          </a:p>
          <a:p>
            <a:pPr marL="0" marR="0" indent="0" algn="l" defTabSz="914400" rtl="0" eaLnBrk="0" fontAlgn="base" latinLnBrk="0" hangingPunct="0">
              <a:lnSpc>
                <a:spcPct val="100000"/>
              </a:lnSpc>
              <a:spcBef>
                <a:spcPct val="0"/>
              </a:spcBef>
              <a:spcAft>
                <a:spcPct val="0"/>
              </a:spcAft>
              <a:buClrTx/>
              <a:buSzTx/>
              <a:buFontTx/>
              <a:buNone/>
              <a:tabLst/>
            </a:pPr>
            <a:r>
              <a:rPr lang="en-US" sz="1600" dirty="0" err="1">
                <a:latin typeface="Times New Roman" pitchFamily="18" charset="0"/>
              </a:rPr>
              <a:t>New_list</a:t>
            </a:r>
            <a:r>
              <a:rPr lang="en-US" sz="1600" dirty="0">
                <a:latin typeface="Times New Roman" pitchFamily="18" charset="0"/>
              </a:rPr>
              <a:t> = </a:t>
            </a:r>
            <a:r>
              <a:rPr lang="en-US" sz="1600" dirty="0" err="1">
                <a:solidFill>
                  <a:srgbClr val="FF0000"/>
                </a:solidFill>
                <a:latin typeface="Times New Roman" pitchFamily="18" charset="0"/>
              </a:rPr>
              <a:t>realloc</a:t>
            </a:r>
            <a:r>
              <a:rPr lang="en-US" sz="1600" dirty="0">
                <a:latin typeface="Times New Roman" pitchFamily="18" charset="0"/>
              </a:rPr>
              <a:t>  (list, </a:t>
            </a:r>
            <a:r>
              <a:rPr lang="en-US" sz="1600" dirty="0" err="1">
                <a:latin typeface="Times New Roman" pitchFamily="18" charset="0"/>
              </a:rPr>
              <a:t>sizeof</a:t>
            </a:r>
            <a:r>
              <a:rPr lang="en-US" sz="1600" dirty="0">
                <a:latin typeface="Times New Roman" pitchFamily="18" charset="0"/>
              </a:rPr>
              <a:t>(int)*n);</a:t>
            </a:r>
          </a:p>
          <a:p>
            <a:pPr marL="0" marR="0" indent="0" algn="l" defTabSz="914400" rtl="0" eaLnBrk="0" fontAlgn="base" latinLnBrk="0" hangingPunct="0">
              <a:lnSpc>
                <a:spcPct val="100000"/>
              </a:lnSpc>
              <a:spcBef>
                <a:spcPct val="0"/>
              </a:spcBef>
              <a:spcAft>
                <a:spcPct val="0"/>
              </a:spcAft>
              <a:buClrTx/>
              <a:buSzTx/>
              <a:buFontTx/>
              <a:buNone/>
              <a:tabLst/>
            </a:pPr>
            <a:r>
              <a:rPr lang="en-US" sz="1600"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endParaRPr lang="en-US" sz="1600" dirty="0">
              <a:latin typeface="Times New Roman" pitchFamily="18" charset="0"/>
            </a:endParaRPr>
          </a:p>
          <a:p>
            <a:pPr marL="0" marR="0" indent="0" algn="l" defTabSz="914400" rtl="0" eaLnBrk="0" fontAlgn="base" latinLnBrk="0" hangingPunct="0">
              <a:lnSpc>
                <a:spcPct val="100000"/>
              </a:lnSpc>
              <a:spcBef>
                <a:spcPct val="0"/>
              </a:spcBef>
              <a:spcAft>
                <a:spcPct val="0"/>
              </a:spcAft>
              <a:buClrTx/>
              <a:buSzTx/>
              <a:buFontTx/>
              <a:buNone/>
              <a:tabLst/>
            </a:pPr>
            <a:endParaRPr lang="en-US" sz="1600" baseline="0" dirty="0">
              <a:latin typeface="Times New Roman" pitchFamily="18"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59857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5" grpId="0" animBg="1"/>
      <p:bldP spid="8"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858B-9B2B-4FB2-B177-13E969D3CE4F}"/>
              </a:ext>
            </a:extLst>
          </p:cNvPr>
          <p:cNvSpPr>
            <a:spLocks noGrp="1"/>
          </p:cNvSpPr>
          <p:nvPr>
            <p:ph type="title"/>
          </p:nvPr>
        </p:nvSpPr>
        <p:spPr/>
        <p:txBody>
          <a:bodyPr/>
          <a:lstStyle/>
          <a:p>
            <a:r>
              <a:rPr lang="en-IN" dirty="0"/>
              <a:t>Implementation in C</a:t>
            </a:r>
          </a:p>
        </p:txBody>
      </p:sp>
      <p:sp>
        <p:nvSpPr>
          <p:cNvPr id="3" name="Content Placeholder 2">
            <a:extLst>
              <a:ext uri="{FF2B5EF4-FFF2-40B4-BE49-F238E27FC236}">
                <a16:creationId xmlns:a16="http://schemas.microsoft.com/office/drawing/2014/main" id="{3B42F575-124F-4D02-97F9-1AC936DDD7FC}"/>
              </a:ext>
            </a:extLst>
          </p:cNvPr>
          <p:cNvSpPr>
            <a:spLocks noGrp="1"/>
          </p:cNvSpPr>
          <p:nvPr>
            <p:ph idx="1"/>
          </p:nvPr>
        </p:nvSpPr>
        <p:spPr/>
        <p:txBody>
          <a:bodyPr/>
          <a:lstStyle/>
          <a:p>
            <a:r>
              <a:rPr lang="en-IN" b="1" dirty="0"/>
              <a:t>Declaration</a:t>
            </a:r>
          </a:p>
          <a:p>
            <a:pPr lvl="1"/>
            <a:r>
              <a:rPr lang="en-IN" dirty="0" err="1"/>
              <a:t>data_type</a:t>
            </a:r>
            <a:r>
              <a:rPr lang="en-IN" dirty="0"/>
              <a:t> identifier[length];</a:t>
            </a:r>
          </a:p>
          <a:p>
            <a:r>
              <a:rPr lang="en-IN" b="1" dirty="0"/>
              <a:t>Initialisation</a:t>
            </a:r>
            <a:r>
              <a:rPr lang="en-IN" dirty="0"/>
              <a:t> </a:t>
            </a:r>
          </a:p>
          <a:p>
            <a:pPr lvl="1"/>
            <a:r>
              <a:rPr lang="en-IN" dirty="0" err="1"/>
              <a:t>data_type</a:t>
            </a:r>
            <a:r>
              <a:rPr lang="en-IN" dirty="0"/>
              <a:t> identifier[length] = {list of values};</a:t>
            </a:r>
          </a:p>
          <a:p>
            <a:endParaRPr lang="en-IN" dirty="0"/>
          </a:p>
        </p:txBody>
      </p:sp>
      <p:sp>
        <p:nvSpPr>
          <p:cNvPr id="4" name="Slide Number Placeholder 3">
            <a:extLst>
              <a:ext uri="{FF2B5EF4-FFF2-40B4-BE49-F238E27FC236}">
                <a16:creationId xmlns:a16="http://schemas.microsoft.com/office/drawing/2014/main" id="{EB0EFC00-1662-4BD4-A9FD-C2AC740366CD}"/>
              </a:ext>
            </a:extLst>
          </p:cNvPr>
          <p:cNvSpPr>
            <a:spLocks noGrp="1"/>
          </p:cNvSpPr>
          <p:nvPr>
            <p:ph type="sldNum" sz="quarter" idx="10"/>
          </p:nvPr>
        </p:nvSpPr>
        <p:spPr/>
        <p:txBody>
          <a:bodyPr/>
          <a:lstStyle/>
          <a:p>
            <a:pPr>
              <a:defRPr/>
            </a:pPr>
            <a:fld id="{D5FB1F5F-4B7D-40FE-AE87-C9C750581EC7}" type="slidenum">
              <a:rPr lang="en-US" smtClean="0"/>
              <a:pPr>
                <a:defRPr/>
              </a:pPr>
              <a:t>6</a:t>
            </a:fld>
            <a:endParaRPr lang="en-US" b="0" dirty="0">
              <a:latin typeface="Times New Roman" pitchFamily="18" charset="0"/>
            </a:endParaRPr>
          </a:p>
        </p:txBody>
      </p:sp>
      <p:sp>
        <p:nvSpPr>
          <p:cNvPr id="6" name="Rectangle: Rounded Corners 5">
            <a:extLst>
              <a:ext uri="{FF2B5EF4-FFF2-40B4-BE49-F238E27FC236}">
                <a16:creationId xmlns:a16="http://schemas.microsoft.com/office/drawing/2014/main" id="{8A27E788-0F89-41A6-BFFF-46A634FE8A32}"/>
              </a:ext>
            </a:extLst>
          </p:cNvPr>
          <p:cNvSpPr/>
          <p:nvPr/>
        </p:nvSpPr>
        <p:spPr bwMode="auto">
          <a:xfrm>
            <a:off x="6008914" y="1255025"/>
            <a:ext cx="2078182" cy="685800"/>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r>
              <a:rPr lang="en-IN" dirty="0"/>
              <a:t>int List[5];</a:t>
            </a:r>
          </a:p>
        </p:txBody>
      </p:sp>
      <p:sp>
        <p:nvSpPr>
          <p:cNvPr id="7" name="Rectangle: Rounded Corners 6">
            <a:extLst>
              <a:ext uri="{FF2B5EF4-FFF2-40B4-BE49-F238E27FC236}">
                <a16:creationId xmlns:a16="http://schemas.microsoft.com/office/drawing/2014/main" id="{D28AB481-6B54-47D6-A70D-51B82E871422}"/>
              </a:ext>
            </a:extLst>
          </p:cNvPr>
          <p:cNvSpPr/>
          <p:nvPr/>
        </p:nvSpPr>
        <p:spPr bwMode="auto">
          <a:xfrm>
            <a:off x="6214754" y="2794342"/>
            <a:ext cx="2838202" cy="2286000"/>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r>
              <a:rPr lang="en-IN" dirty="0"/>
              <a:t>int List[0] = 12;</a:t>
            </a:r>
          </a:p>
          <a:p>
            <a:r>
              <a:rPr lang="en-IN" dirty="0"/>
              <a:t>int List[1] = 15;</a:t>
            </a:r>
          </a:p>
          <a:p>
            <a:r>
              <a:rPr lang="en-IN" dirty="0"/>
              <a:t>int List[2] = 16;</a:t>
            </a:r>
          </a:p>
          <a:p>
            <a:r>
              <a:rPr lang="en-IN" dirty="0"/>
              <a:t>int List[3] = 11;</a:t>
            </a:r>
          </a:p>
          <a:p>
            <a:r>
              <a:rPr lang="en-IN" dirty="0"/>
              <a:t>int List[4] = 18;</a:t>
            </a:r>
          </a:p>
          <a:p>
            <a:pPr marL="0" marR="0" indent="0" algn="l" defTabSz="914400" rtl="0" eaLnBrk="0" fontAlgn="base" latinLnBrk="0" hangingPunct="0">
              <a:lnSpc>
                <a:spcPct val="100000"/>
              </a:lnSpc>
              <a:spcBef>
                <a:spcPct val="0"/>
              </a:spcBef>
              <a:spcAft>
                <a:spcPct val="0"/>
              </a:spcAft>
              <a:buClrTx/>
              <a:buSzTx/>
              <a:buFontTx/>
              <a:buNone/>
              <a:tabLst/>
            </a:pPr>
            <a:endParaRPr kumimoji="0" lang="en-IN" sz="2400" b="1" i="0" u="none" strike="noStrike" cap="none" normalizeH="0" baseline="0" dirty="0">
              <a:ln>
                <a:noFill/>
              </a:ln>
              <a:solidFill>
                <a:schemeClr val="tx1"/>
              </a:solidFill>
              <a:effectLst/>
              <a:latin typeface="Times New Roman" pitchFamily="18" charset="0"/>
            </a:endParaRPr>
          </a:p>
        </p:txBody>
      </p:sp>
      <p:sp>
        <p:nvSpPr>
          <p:cNvPr id="8" name="Rectangle: Rounded Corners 7">
            <a:extLst>
              <a:ext uri="{FF2B5EF4-FFF2-40B4-BE49-F238E27FC236}">
                <a16:creationId xmlns:a16="http://schemas.microsoft.com/office/drawing/2014/main" id="{28150208-FEDF-4B09-A36E-D2C1AB884097}"/>
              </a:ext>
            </a:extLst>
          </p:cNvPr>
          <p:cNvSpPr/>
          <p:nvPr/>
        </p:nvSpPr>
        <p:spPr bwMode="auto">
          <a:xfrm>
            <a:off x="1005444" y="2965800"/>
            <a:ext cx="3847606" cy="1665470"/>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for (</a:t>
            </a:r>
            <a:r>
              <a:rPr lang="en-IN" dirty="0" err="1">
                <a:latin typeface="Times New Roman" pitchFamily="18" charset="0"/>
              </a:rPr>
              <a:t>i</a:t>
            </a:r>
            <a:r>
              <a:rPr lang="en-IN" dirty="0">
                <a:latin typeface="Times New Roman" pitchFamily="18" charset="0"/>
              </a:rPr>
              <a:t>=0;i&lt;5;i++)</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err="1">
                <a:latin typeface="Times New Roman" pitchFamily="18" charset="0"/>
              </a:rPr>
              <a:t>scanf</a:t>
            </a:r>
            <a:r>
              <a:rPr lang="en-IN" dirty="0">
                <a:latin typeface="Times New Roman" pitchFamily="18" charset="0"/>
              </a:rPr>
              <a:t>(“%d”, &amp;List[</a:t>
            </a:r>
            <a:r>
              <a:rPr lang="en-IN" dirty="0" err="1">
                <a:latin typeface="Times New Roman" pitchFamily="18" charset="0"/>
              </a:rPr>
              <a:t>i</a:t>
            </a:r>
            <a:r>
              <a:rPr lang="en-IN"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p:txBody>
      </p:sp>
      <p:sp>
        <p:nvSpPr>
          <p:cNvPr id="10" name="Rectangle: Rounded Corners 9">
            <a:extLst>
              <a:ext uri="{FF2B5EF4-FFF2-40B4-BE49-F238E27FC236}">
                <a16:creationId xmlns:a16="http://schemas.microsoft.com/office/drawing/2014/main" id="{985B0F15-B8F3-4D9E-BC21-C39F5A4F92D3}"/>
              </a:ext>
            </a:extLst>
          </p:cNvPr>
          <p:cNvSpPr/>
          <p:nvPr/>
        </p:nvSpPr>
        <p:spPr bwMode="auto">
          <a:xfrm>
            <a:off x="685800" y="4748450"/>
            <a:ext cx="5650914" cy="2034144"/>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int List[n];</a:t>
            </a:r>
          </a:p>
          <a:p>
            <a:pPr marL="0" marR="0" indent="0" algn="l" defTabSz="914400" rtl="0" eaLnBrk="0" fontAlgn="base" latinLnBrk="0" hangingPunct="0">
              <a:lnSpc>
                <a:spcPct val="100000"/>
              </a:lnSpc>
              <a:spcBef>
                <a:spcPct val="0"/>
              </a:spcBef>
              <a:spcAft>
                <a:spcPct val="0"/>
              </a:spcAft>
              <a:buClrTx/>
              <a:buSzTx/>
              <a:buFontTx/>
              <a:buNone/>
              <a:tabLst/>
            </a:pPr>
            <a:r>
              <a:rPr lang="en-IN" dirty="0" err="1">
                <a:latin typeface="Times New Roman" pitchFamily="18" charset="0"/>
              </a:rPr>
              <a:t>printf</a:t>
            </a:r>
            <a:r>
              <a:rPr lang="en-IN" dirty="0">
                <a:latin typeface="Times New Roman" pitchFamily="18" charset="0"/>
              </a:rPr>
              <a:t>(“enter the number of elements  ”);</a:t>
            </a:r>
          </a:p>
          <a:p>
            <a:pPr marL="0" marR="0" indent="0" algn="l" defTabSz="914400" rtl="0" eaLnBrk="0" fontAlgn="base" latinLnBrk="0" hangingPunct="0">
              <a:lnSpc>
                <a:spcPct val="100000"/>
              </a:lnSpc>
              <a:spcBef>
                <a:spcPct val="0"/>
              </a:spcBef>
              <a:spcAft>
                <a:spcPct val="0"/>
              </a:spcAft>
              <a:buClrTx/>
              <a:buSzTx/>
              <a:buFontTx/>
              <a:buNone/>
              <a:tabLst/>
            </a:pPr>
            <a:r>
              <a:rPr lang="en-IN" dirty="0" err="1">
                <a:latin typeface="Times New Roman" pitchFamily="18" charset="0"/>
              </a:rPr>
              <a:t>scanf</a:t>
            </a:r>
            <a:r>
              <a:rPr lang="en-IN" dirty="0">
                <a:latin typeface="Times New Roman" pitchFamily="18" charset="0"/>
              </a:rPr>
              <a:t>(“%d”, &amp;n);</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for (</a:t>
            </a:r>
            <a:r>
              <a:rPr lang="en-IN" dirty="0" err="1">
                <a:latin typeface="Times New Roman" pitchFamily="18" charset="0"/>
              </a:rPr>
              <a:t>i</a:t>
            </a:r>
            <a:r>
              <a:rPr lang="en-IN" dirty="0">
                <a:latin typeface="Times New Roman" pitchFamily="18" charset="0"/>
              </a:rPr>
              <a:t>=0;i&lt;</a:t>
            </a:r>
            <a:r>
              <a:rPr lang="en-IN" dirty="0" err="1">
                <a:latin typeface="Times New Roman" pitchFamily="18" charset="0"/>
              </a:rPr>
              <a:t>n;i</a:t>
            </a:r>
            <a:r>
              <a:rPr lang="en-IN"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 </a:t>
            </a:r>
            <a:r>
              <a:rPr lang="en-IN" dirty="0" err="1">
                <a:latin typeface="Times New Roman" pitchFamily="18" charset="0"/>
              </a:rPr>
              <a:t>scanf</a:t>
            </a:r>
            <a:r>
              <a:rPr lang="en-IN" dirty="0">
                <a:latin typeface="Times New Roman" pitchFamily="18" charset="0"/>
              </a:rPr>
              <a:t>(“%d”, &amp;List[</a:t>
            </a:r>
            <a:r>
              <a:rPr lang="en-IN" dirty="0" err="1">
                <a:latin typeface="Times New Roman" pitchFamily="18" charset="0"/>
              </a:rPr>
              <a:t>i</a:t>
            </a:r>
            <a:r>
              <a:rPr lang="en-IN" dirty="0">
                <a:latin typeface="Times New Roman" pitchFamily="18" charset="0"/>
              </a:rPr>
              <a:t>]); </a:t>
            </a:r>
            <a:r>
              <a:rPr kumimoji="0" lang="en-IN" sz="2400" b="0" i="0" u="none" strike="noStrike" cap="none" normalizeH="0" baseline="0" dirty="0">
                <a:ln>
                  <a:noFill/>
                </a:ln>
                <a:solidFill>
                  <a:schemeClr val="tx1"/>
                </a:solidFill>
                <a:effectLst/>
                <a:latin typeface="Times New Roman" pitchFamily="18" charset="0"/>
              </a:rPr>
              <a:t>}</a:t>
            </a:r>
          </a:p>
        </p:txBody>
      </p:sp>
    </p:spTree>
    <p:extLst>
      <p:ext uri="{BB962C8B-B14F-4D97-AF65-F5344CB8AC3E}">
        <p14:creationId xmlns:p14="http://schemas.microsoft.com/office/powerpoint/2010/main" val="3662151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Operations</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a:xfrm>
            <a:off x="685800" y="1143000"/>
            <a:ext cx="7848600" cy="4267200"/>
          </a:xfrm>
        </p:spPr>
        <p:txBody>
          <a:bodyPr/>
          <a:lstStyle/>
          <a:p>
            <a:r>
              <a:rPr lang="en-IN" b="1" dirty="0"/>
              <a:t>Traversal</a:t>
            </a:r>
          </a:p>
          <a:p>
            <a:r>
              <a:rPr lang="en-IN" dirty="0"/>
              <a:t>Search</a:t>
            </a:r>
          </a:p>
          <a:p>
            <a:r>
              <a:rPr lang="en-IN" dirty="0"/>
              <a:t>Insertion</a:t>
            </a:r>
          </a:p>
          <a:p>
            <a:r>
              <a:rPr lang="en-IN" dirty="0"/>
              <a:t>Deletion</a:t>
            </a:r>
          </a:p>
          <a:p>
            <a:r>
              <a:rPr lang="en-IN" dirty="0"/>
              <a:t>Sorting</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7</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extLst>
              <p:ext uri="{D42A27DB-BD31-4B8C-83A1-F6EECF244321}">
                <p14:modId xmlns:p14="http://schemas.microsoft.com/office/powerpoint/2010/main" val="565765071"/>
              </p:ext>
            </p:extLst>
          </p:nvPr>
        </p:nvGraphicFramePr>
        <p:xfrm>
          <a:off x="6283842" y="2372040"/>
          <a:ext cx="854148" cy="2219520"/>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bl>
          </a:graphicData>
        </a:graphic>
      </p:graphicFrame>
      <p:graphicFrame>
        <p:nvGraphicFramePr>
          <p:cNvPr id="9" name="Table 7">
            <a:extLst>
              <a:ext uri="{FF2B5EF4-FFF2-40B4-BE49-F238E27FC236}">
                <a16:creationId xmlns:a16="http://schemas.microsoft.com/office/drawing/2014/main" id="{36D80D4B-47C2-4F10-8DA0-BF470C7A171A}"/>
              </a:ext>
            </a:extLst>
          </p:cNvPr>
          <p:cNvGraphicFramePr>
            <a:graphicFrameLocks noGrp="1"/>
          </p:cNvGraphicFramePr>
          <p:nvPr>
            <p:extLst>
              <p:ext uri="{D42A27DB-BD31-4B8C-83A1-F6EECF244321}">
                <p14:modId xmlns:p14="http://schemas.microsoft.com/office/powerpoint/2010/main" val="3523052018"/>
              </p:ext>
            </p:extLst>
          </p:nvPr>
        </p:nvGraphicFramePr>
        <p:xfrm>
          <a:off x="7137990" y="2372040"/>
          <a:ext cx="1527544" cy="214419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428838">
                <a:tc>
                  <a:txBody>
                    <a:bodyPr/>
                    <a:lstStyle/>
                    <a:p>
                      <a:r>
                        <a:rPr lang="en-IN" dirty="0">
                          <a:solidFill>
                            <a:schemeClr val="tx1"/>
                          </a:solidFill>
                        </a:rPr>
                        <a:t>       25</a:t>
                      </a:r>
                    </a:p>
                  </a:txBody>
                  <a:tcPr>
                    <a:solidFill>
                      <a:srgbClr val="F6EFE7"/>
                    </a:solidFill>
                  </a:tcPr>
                </a:tc>
                <a:extLst>
                  <a:ext uri="{0D108BD9-81ED-4DB2-BD59-A6C34878D82A}">
                    <a16:rowId xmlns:a16="http://schemas.microsoft.com/office/drawing/2014/main" val="1531105938"/>
                  </a:ext>
                </a:extLst>
              </a:tr>
              <a:tr h="428838">
                <a:tc>
                  <a:txBody>
                    <a:bodyPr/>
                    <a:lstStyle/>
                    <a:p>
                      <a:r>
                        <a:rPr lang="en-IN" dirty="0"/>
                        <a:t>       27</a:t>
                      </a:r>
                    </a:p>
                  </a:txBody>
                  <a:tcPr/>
                </a:tc>
                <a:extLst>
                  <a:ext uri="{0D108BD9-81ED-4DB2-BD59-A6C34878D82A}">
                    <a16:rowId xmlns:a16="http://schemas.microsoft.com/office/drawing/2014/main" val="1771576885"/>
                  </a:ext>
                </a:extLst>
              </a:tr>
              <a:tr h="428838">
                <a:tc>
                  <a:txBody>
                    <a:bodyPr/>
                    <a:lstStyle/>
                    <a:p>
                      <a:r>
                        <a:rPr lang="en-IN" dirty="0"/>
                        <a:t>       29</a:t>
                      </a:r>
                    </a:p>
                  </a:txBody>
                  <a:tcPr/>
                </a:tc>
                <a:extLst>
                  <a:ext uri="{0D108BD9-81ED-4DB2-BD59-A6C34878D82A}">
                    <a16:rowId xmlns:a16="http://schemas.microsoft.com/office/drawing/2014/main" val="150265111"/>
                  </a:ext>
                </a:extLst>
              </a:tr>
              <a:tr h="428838">
                <a:tc>
                  <a:txBody>
                    <a:bodyPr/>
                    <a:lstStyle/>
                    <a:p>
                      <a:r>
                        <a:rPr lang="en-IN" dirty="0"/>
                        <a:t>       30</a:t>
                      </a:r>
                    </a:p>
                  </a:txBody>
                  <a:tcPr/>
                </a:tc>
                <a:extLst>
                  <a:ext uri="{0D108BD9-81ED-4DB2-BD59-A6C34878D82A}">
                    <a16:rowId xmlns:a16="http://schemas.microsoft.com/office/drawing/2014/main" val="4281331626"/>
                  </a:ext>
                </a:extLst>
              </a:tr>
              <a:tr h="428838">
                <a:tc>
                  <a:txBody>
                    <a:bodyPr/>
                    <a:lstStyle/>
                    <a:p>
                      <a:r>
                        <a:rPr lang="en-IN" dirty="0"/>
                        <a:t>       29</a:t>
                      </a:r>
                    </a:p>
                  </a:txBody>
                  <a:tcPr/>
                </a:tc>
                <a:extLst>
                  <a:ext uri="{0D108BD9-81ED-4DB2-BD59-A6C34878D82A}">
                    <a16:rowId xmlns:a16="http://schemas.microsoft.com/office/drawing/2014/main" val="3707931503"/>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      marks </a:t>
            </a:r>
          </a:p>
        </p:txBody>
      </p:sp>
      <p:cxnSp>
        <p:nvCxnSpPr>
          <p:cNvPr id="6" name="Connector: Elbow 5">
            <a:extLst>
              <a:ext uri="{FF2B5EF4-FFF2-40B4-BE49-F238E27FC236}">
                <a16:creationId xmlns:a16="http://schemas.microsoft.com/office/drawing/2014/main" id="{BB0BC097-6238-4216-93DE-54849F6AA9ED}"/>
              </a:ext>
            </a:extLst>
          </p:cNvPr>
          <p:cNvCxnSpPr>
            <a:cxnSpLocks/>
          </p:cNvCxnSpPr>
          <p:nvPr/>
        </p:nvCxnSpPr>
        <p:spPr bwMode="auto">
          <a:xfrm>
            <a:off x="2472071" y="1297172"/>
            <a:ext cx="3386469" cy="1329070"/>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F530E967-782A-43D9-B576-5746E9094003}"/>
              </a:ext>
            </a:extLst>
          </p:cNvPr>
          <p:cNvSpPr txBox="1"/>
          <p:nvPr/>
        </p:nvSpPr>
        <p:spPr>
          <a:xfrm>
            <a:off x="4261889" y="2126185"/>
            <a:ext cx="1467290" cy="461665"/>
          </a:xfrm>
          <a:prstGeom prst="rect">
            <a:avLst/>
          </a:prstGeom>
          <a:noFill/>
        </p:spPr>
        <p:txBody>
          <a:bodyPr wrap="square" rtlCol="0">
            <a:spAutoFit/>
          </a:bodyPr>
          <a:lstStyle/>
          <a:p>
            <a:r>
              <a:rPr lang="en-IN" dirty="0"/>
              <a:t>Marks[0]</a:t>
            </a:r>
          </a:p>
        </p:txBody>
      </p:sp>
      <p:cxnSp>
        <p:nvCxnSpPr>
          <p:cNvPr id="14" name="Connector: Elbow 13">
            <a:extLst>
              <a:ext uri="{FF2B5EF4-FFF2-40B4-BE49-F238E27FC236}">
                <a16:creationId xmlns:a16="http://schemas.microsoft.com/office/drawing/2014/main" id="{5680BE11-9967-4376-963F-3EB616FDCC35}"/>
              </a:ext>
            </a:extLst>
          </p:cNvPr>
          <p:cNvCxnSpPr>
            <a:cxnSpLocks/>
          </p:cNvCxnSpPr>
          <p:nvPr/>
        </p:nvCxnSpPr>
        <p:spPr bwMode="auto">
          <a:xfrm>
            <a:off x="2472071" y="1297172"/>
            <a:ext cx="3407734" cy="1828800"/>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29" name="TextBox 28">
            <a:extLst>
              <a:ext uri="{FF2B5EF4-FFF2-40B4-BE49-F238E27FC236}">
                <a16:creationId xmlns:a16="http://schemas.microsoft.com/office/drawing/2014/main" id="{227C115B-6DF3-4070-8925-2E3BF7C3CE84}"/>
              </a:ext>
            </a:extLst>
          </p:cNvPr>
          <p:cNvSpPr txBox="1"/>
          <p:nvPr/>
        </p:nvSpPr>
        <p:spPr>
          <a:xfrm>
            <a:off x="4377075" y="2695472"/>
            <a:ext cx="1352104" cy="467909"/>
          </a:xfrm>
          <a:prstGeom prst="rect">
            <a:avLst/>
          </a:prstGeom>
          <a:noFill/>
        </p:spPr>
        <p:txBody>
          <a:bodyPr wrap="square" rtlCol="0">
            <a:spAutoFit/>
          </a:bodyPr>
          <a:lstStyle/>
          <a:p>
            <a:r>
              <a:rPr lang="en-IN" dirty="0"/>
              <a:t>Marks[1]</a:t>
            </a:r>
          </a:p>
        </p:txBody>
      </p:sp>
      <p:sp>
        <p:nvSpPr>
          <p:cNvPr id="37" name="TextBox 36">
            <a:extLst>
              <a:ext uri="{FF2B5EF4-FFF2-40B4-BE49-F238E27FC236}">
                <a16:creationId xmlns:a16="http://schemas.microsoft.com/office/drawing/2014/main" id="{26E127D0-75F1-45CF-9837-0914F47A806A}"/>
              </a:ext>
            </a:extLst>
          </p:cNvPr>
          <p:cNvSpPr txBox="1"/>
          <p:nvPr/>
        </p:nvSpPr>
        <p:spPr>
          <a:xfrm>
            <a:off x="676937" y="5767867"/>
            <a:ext cx="622005" cy="461665"/>
          </a:xfrm>
          <a:prstGeom prst="rect">
            <a:avLst/>
          </a:prstGeom>
          <a:solidFill>
            <a:schemeClr val="accent5">
              <a:lumMod val="40000"/>
              <a:lumOff val="60000"/>
            </a:schemeClr>
          </a:solidFill>
        </p:spPr>
        <p:txBody>
          <a:bodyPr wrap="square" rtlCol="0">
            <a:spAutoFit/>
          </a:bodyPr>
          <a:lstStyle/>
          <a:p>
            <a:r>
              <a:rPr lang="en-IN" dirty="0"/>
              <a:t>25</a:t>
            </a:r>
          </a:p>
        </p:txBody>
      </p:sp>
      <p:sp>
        <p:nvSpPr>
          <p:cNvPr id="38" name="TextBox 37">
            <a:extLst>
              <a:ext uri="{FF2B5EF4-FFF2-40B4-BE49-F238E27FC236}">
                <a16:creationId xmlns:a16="http://schemas.microsoft.com/office/drawing/2014/main" id="{81807AFE-9BE0-4007-B93A-DBD92D9E5A03}"/>
              </a:ext>
            </a:extLst>
          </p:cNvPr>
          <p:cNvSpPr txBox="1"/>
          <p:nvPr/>
        </p:nvSpPr>
        <p:spPr>
          <a:xfrm>
            <a:off x="1420330" y="5757402"/>
            <a:ext cx="622005" cy="461665"/>
          </a:xfrm>
          <a:prstGeom prst="rect">
            <a:avLst/>
          </a:prstGeom>
          <a:solidFill>
            <a:schemeClr val="accent5">
              <a:lumMod val="40000"/>
              <a:lumOff val="60000"/>
            </a:schemeClr>
          </a:solidFill>
        </p:spPr>
        <p:txBody>
          <a:bodyPr wrap="square" rtlCol="0">
            <a:spAutoFit/>
          </a:bodyPr>
          <a:lstStyle/>
          <a:p>
            <a:r>
              <a:rPr lang="en-IN" dirty="0"/>
              <a:t>27</a:t>
            </a:r>
          </a:p>
        </p:txBody>
      </p:sp>
      <p:sp>
        <p:nvSpPr>
          <p:cNvPr id="39" name="TextBox 38">
            <a:extLst>
              <a:ext uri="{FF2B5EF4-FFF2-40B4-BE49-F238E27FC236}">
                <a16:creationId xmlns:a16="http://schemas.microsoft.com/office/drawing/2014/main" id="{9564BC24-DBE7-42EF-B596-8CEDD8B93F89}"/>
              </a:ext>
            </a:extLst>
          </p:cNvPr>
          <p:cNvSpPr txBox="1"/>
          <p:nvPr/>
        </p:nvSpPr>
        <p:spPr>
          <a:xfrm>
            <a:off x="4352266" y="3138970"/>
            <a:ext cx="1376913" cy="461665"/>
          </a:xfrm>
          <a:prstGeom prst="rect">
            <a:avLst/>
          </a:prstGeom>
          <a:noFill/>
        </p:spPr>
        <p:txBody>
          <a:bodyPr wrap="square" rtlCol="0">
            <a:spAutoFit/>
          </a:bodyPr>
          <a:lstStyle/>
          <a:p>
            <a:r>
              <a:rPr lang="en-IN" dirty="0"/>
              <a:t>Marks[2]</a:t>
            </a:r>
          </a:p>
        </p:txBody>
      </p:sp>
      <p:cxnSp>
        <p:nvCxnSpPr>
          <p:cNvPr id="40" name="Connector: Elbow 39">
            <a:extLst>
              <a:ext uri="{FF2B5EF4-FFF2-40B4-BE49-F238E27FC236}">
                <a16:creationId xmlns:a16="http://schemas.microsoft.com/office/drawing/2014/main" id="{F6EC88B0-40D1-4F6F-AF20-8B90F9E6EEC3}"/>
              </a:ext>
            </a:extLst>
          </p:cNvPr>
          <p:cNvCxnSpPr>
            <a:cxnSpLocks/>
          </p:cNvCxnSpPr>
          <p:nvPr/>
        </p:nvCxnSpPr>
        <p:spPr bwMode="auto">
          <a:xfrm>
            <a:off x="2451695" y="1285486"/>
            <a:ext cx="3421021" cy="2327151"/>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43" name="TextBox 42">
            <a:extLst>
              <a:ext uri="{FF2B5EF4-FFF2-40B4-BE49-F238E27FC236}">
                <a16:creationId xmlns:a16="http://schemas.microsoft.com/office/drawing/2014/main" id="{13906475-C03A-45F6-85E1-E74B9A1A7097}"/>
              </a:ext>
            </a:extLst>
          </p:cNvPr>
          <p:cNvSpPr txBox="1"/>
          <p:nvPr/>
        </p:nvSpPr>
        <p:spPr>
          <a:xfrm>
            <a:off x="2139799" y="5749762"/>
            <a:ext cx="529855" cy="461665"/>
          </a:xfrm>
          <a:prstGeom prst="rect">
            <a:avLst/>
          </a:prstGeom>
          <a:solidFill>
            <a:schemeClr val="accent5">
              <a:lumMod val="40000"/>
              <a:lumOff val="60000"/>
            </a:schemeClr>
          </a:solidFill>
        </p:spPr>
        <p:txBody>
          <a:bodyPr wrap="square" rtlCol="0">
            <a:spAutoFit/>
          </a:bodyPr>
          <a:lstStyle/>
          <a:p>
            <a:r>
              <a:rPr lang="en-IN" dirty="0"/>
              <a:t>29</a:t>
            </a:r>
          </a:p>
        </p:txBody>
      </p:sp>
      <p:sp>
        <p:nvSpPr>
          <p:cNvPr id="47" name="TextBox 46">
            <a:extLst>
              <a:ext uri="{FF2B5EF4-FFF2-40B4-BE49-F238E27FC236}">
                <a16:creationId xmlns:a16="http://schemas.microsoft.com/office/drawing/2014/main" id="{EF87F9C5-AAFD-4AE4-B74F-233F3747212A}"/>
              </a:ext>
            </a:extLst>
          </p:cNvPr>
          <p:cNvSpPr txBox="1"/>
          <p:nvPr/>
        </p:nvSpPr>
        <p:spPr>
          <a:xfrm>
            <a:off x="4261001" y="3676208"/>
            <a:ext cx="1376913" cy="461665"/>
          </a:xfrm>
          <a:prstGeom prst="rect">
            <a:avLst/>
          </a:prstGeom>
          <a:noFill/>
        </p:spPr>
        <p:txBody>
          <a:bodyPr wrap="square" rtlCol="0">
            <a:spAutoFit/>
          </a:bodyPr>
          <a:lstStyle/>
          <a:p>
            <a:r>
              <a:rPr lang="en-IN" dirty="0"/>
              <a:t>Marks[3]</a:t>
            </a:r>
          </a:p>
        </p:txBody>
      </p:sp>
      <p:cxnSp>
        <p:nvCxnSpPr>
          <p:cNvPr id="48" name="Connector: Elbow 47">
            <a:extLst>
              <a:ext uri="{FF2B5EF4-FFF2-40B4-BE49-F238E27FC236}">
                <a16:creationId xmlns:a16="http://schemas.microsoft.com/office/drawing/2014/main" id="{FE510DBB-45E0-4CCF-9FAA-D9FE1C490552}"/>
              </a:ext>
            </a:extLst>
          </p:cNvPr>
          <p:cNvCxnSpPr>
            <a:cxnSpLocks/>
          </p:cNvCxnSpPr>
          <p:nvPr/>
        </p:nvCxnSpPr>
        <p:spPr bwMode="auto">
          <a:xfrm>
            <a:off x="2458784" y="1326476"/>
            <a:ext cx="3392667" cy="2770000"/>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50" name="TextBox 49">
            <a:extLst>
              <a:ext uri="{FF2B5EF4-FFF2-40B4-BE49-F238E27FC236}">
                <a16:creationId xmlns:a16="http://schemas.microsoft.com/office/drawing/2014/main" id="{7EB9D557-D14C-41F8-A62F-022F9FBD4412}"/>
              </a:ext>
            </a:extLst>
          </p:cNvPr>
          <p:cNvSpPr txBox="1"/>
          <p:nvPr/>
        </p:nvSpPr>
        <p:spPr>
          <a:xfrm>
            <a:off x="2767118" y="5752884"/>
            <a:ext cx="529855" cy="461665"/>
          </a:xfrm>
          <a:prstGeom prst="rect">
            <a:avLst/>
          </a:prstGeom>
          <a:solidFill>
            <a:schemeClr val="accent5">
              <a:lumMod val="40000"/>
              <a:lumOff val="60000"/>
            </a:schemeClr>
          </a:solidFill>
        </p:spPr>
        <p:txBody>
          <a:bodyPr wrap="square" rtlCol="0">
            <a:spAutoFit/>
          </a:bodyPr>
          <a:lstStyle/>
          <a:p>
            <a:r>
              <a:rPr lang="en-IN" dirty="0"/>
              <a:t>30</a:t>
            </a:r>
          </a:p>
        </p:txBody>
      </p:sp>
      <p:sp>
        <p:nvSpPr>
          <p:cNvPr id="51" name="TextBox 50">
            <a:extLst>
              <a:ext uri="{FF2B5EF4-FFF2-40B4-BE49-F238E27FC236}">
                <a16:creationId xmlns:a16="http://schemas.microsoft.com/office/drawing/2014/main" id="{1CC5F5CE-E7BC-4172-94C2-BEDD775EB64E}"/>
              </a:ext>
            </a:extLst>
          </p:cNvPr>
          <p:cNvSpPr txBox="1"/>
          <p:nvPr/>
        </p:nvSpPr>
        <p:spPr>
          <a:xfrm>
            <a:off x="4296442" y="4054565"/>
            <a:ext cx="1376913" cy="461665"/>
          </a:xfrm>
          <a:prstGeom prst="rect">
            <a:avLst/>
          </a:prstGeom>
          <a:noFill/>
        </p:spPr>
        <p:txBody>
          <a:bodyPr wrap="square" rtlCol="0">
            <a:spAutoFit/>
          </a:bodyPr>
          <a:lstStyle/>
          <a:p>
            <a:r>
              <a:rPr lang="en-IN" dirty="0"/>
              <a:t>Marks[4]</a:t>
            </a:r>
          </a:p>
        </p:txBody>
      </p:sp>
      <p:cxnSp>
        <p:nvCxnSpPr>
          <p:cNvPr id="52" name="Connector: Elbow 51">
            <a:extLst>
              <a:ext uri="{FF2B5EF4-FFF2-40B4-BE49-F238E27FC236}">
                <a16:creationId xmlns:a16="http://schemas.microsoft.com/office/drawing/2014/main" id="{979E2AF4-378D-46DF-ADD5-80A568F4FB7D}"/>
              </a:ext>
            </a:extLst>
          </p:cNvPr>
          <p:cNvCxnSpPr>
            <a:cxnSpLocks/>
          </p:cNvCxnSpPr>
          <p:nvPr/>
        </p:nvCxnSpPr>
        <p:spPr bwMode="auto">
          <a:xfrm>
            <a:off x="2472071" y="1345074"/>
            <a:ext cx="3379380" cy="3193330"/>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57" name="TextBox 56">
            <a:extLst>
              <a:ext uri="{FF2B5EF4-FFF2-40B4-BE49-F238E27FC236}">
                <a16:creationId xmlns:a16="http://schemas.microsoft.com/office/drawing/2014/main" id="{5431D851-A250-4E2C-8E1D-C40157DD8044}"/>
              </a:ext>
            </a:extLst>
          </p:cNvPr>
          <p:cNvSpPr txBox="1"/>
          <p:nvPr/>
        </p:nvSpPr>
        <p:spPr>
          <a:xfrm>
            <a:off x="3360322" y="5746768"/>
            <a:ext cx="529855" cy="461665"/>
          </a:xfrm>
          <a:prstGeom prst="rect">
            <a:avLst/>
          </a:prstGeom>
          <a:solidFill>
            <a:schemeClr val="accent5">
              <a:lumMod val="40000"/>
              <a:lumOff val="60000"/>
            </a:schemeClr>
          </a:solidFill>
        </p:spPr>
        <p:txBody>
          <a:bodyPr wrap="square" rtlCol="0">
            <a:spAutoFit/>
          </a:bodyPr>
          <a:lstStyle/>
          <a:p>
            <a:r>
              <a:rPr lang="en-IN" dirty="0"/>
              <a:t>29</a:t>
            </a:r>
          </a:p>
        </p:txBody>
      </p:sp>
      <p:sp>
        <p:nvSpPr>
          <p:cNvPr id="58" name="Rectangle 57">
            <a:extLst>
              <a:ext uri="{FF2B5EF4-FFF2-40B4-BE49-F238E27FC236}">
                <a16:creationId xmlns:a16="http://schemas.microsoft.com/office/drawing/2014/main" id="{9D9F4AE9-5E4E-4931-BF22-1FE2038D7C08}"/>
              </a:ext>
            </a:extLst>
          </p:cNvPr>
          <p:cNvSpPr/>
          <p:nvPr/>
        </p:nvSpPr>
        <p:spPr bwMode="auto">
          <a:xfrm>
            <a:off x="424414" y="3740336"/>
            <a:ext cx="3740893" cy="1832178"/>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Element access is very fast as the memory allocation is contiguous. </a:t>
            </a:r>
          </a:p>
          <a:p>
            <a:pPr marL="0" marR="0" indent="0" algn="l" defTabSz="914400" rtl="0" eaLnBrk="0" fontAlgn="base" latinLnBrk="0" hangingPunct="0">
              <a:lnSpc>
                <a:spcPct val="100000"/>
              </a:lnSpc>
              <a:spcBef>
                <a:spcPct val="0"/>
              </a:spcBef>
              <a:spcAft>
                <a:spcPct val="0"/>
              </a:spcAft>
              <a:buClrTx/>
              <a:buSzTx/>
              <a:buFontTx/>
              <a:buNone/>
              <a:tabLst/>
            </a:pPr>
            <a:r>
              <a:rPr lang="en-IN" sz="2000" dirty="0">
                <a:solidFill>
                  <a:schemeClr val="tx2">
                    <a:lumMod val="60000"/>
                    <a:lumOff val="40000"/>
                  </a:schemeClr>
                </a:solidFill>
                <a:latin typeface="Times New Roman" pitchFamily="18" charset="0"/>
              </a:rPr>
              <a:t>Base + </a:t>
            </a:r>
            <a:r>
              <a:rPr lang="en-IN" sz="2000" dirty="0" err="1">
                <a:solidFill>
                  <a:schemeClr val="tx2">
                    <a:lumMod val="60000"/>
                    <a:lumOff val="40000"/>
                  </a:schemeClr>
                </a:solidFill>
                <a:latin typeface="Times New Roman" pitchFamily="18" charset="0"/>
              </a:rPr>
              <a:t>index_value</a:t>
            </a:r>
            <a:r>
              <a:rPr lang="en-IN" sz="2000" dirty="0">
                <a:solidFill>
                  <a:schemeClr val="tx2">
                    <a:lumMod val="60000"/>
                    <a:lumOff val="40000"/>
                  </a:schemeClr>
                </a:solidFill>
                <a:latin typeface="Times New Roman" pitchFamily="18" charset="0"/>
              </a:rPr>
              <a:t> * size of data</a:t>
            </a:r>
            <a:endParaRPr kumimoji="0" lang="en-IN" sz="2000" b="0" i="0" u="none" strike="noStrike" cap="none" normalizeH="0" baseline="0" dirty="0">
              <a:ln>
                <a:noFill/>
              </a:ln>
              <a:solidFill>
                <a:schemeClr val="tx2">
                  <a:lumMod val="60000"/>
                  <a:lumOff val="40000"/>
                </a:schemeClr>
              </a:solidFill>
              <a:effectLst/>
              <a:latin typeface="Times New Roman" pitchFamily="18" charset="0"/>
            </a:endParaRPr>
          </a:p>
        </p:txBody>
      </p:sp>
      <p:sp>
        <p:nvSpPr>
          <p:cNvPr id="60" name="Rectangle: Rounded Corners 59">
            <a:extLst>
              <a:ext uri="{FF2B5EF4-FFF2-40B4-BE49-F238E27FC236}">
                <a16:creationId xmlns:a16="http://schemas.microsoft.com/office/drawing/2014/main" id="{BA95D6ED-5600-4BE9-A5A3-36FB11F9B651}"/>
              </a:ext>
            </a:extLst>
          </p:cNvPr>
          <p:cNvSpPr/>
          <p:nvPr/>
        </p:nvSpPr>
        <p:spPr bwMode="auto">
          <a:xfrm>
            <a:off x="5011387" y="5011387"/>
            <a:ext cx="3654147" cy="1108487"/>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Data access complexity is </a:t>
            </a:r>
          </a:p>
          <a:p>
            <a:pPr marL="0" marR="0" indent="0" algn="l" defTabSz="914400" rtl="0" eaLnBrk="0" fontAlgn="base" latinLnBrk="0" hangingPunct="0">
              <a:lnSpc>
                <a:spcPct val="100000"/>
              </a:lnSpc>
              <a:spcBef>
                <a:spcPct val="0"/>
              </a:spcBef>
              <a:spcAft>
                <a:spcPct val="0"/>
              </a:spcAft>
              <a:buClrTx/>
              <a:buSzTx/>
              <a:buFontTx/>
              <a:buNone/>
              <a:tabLst/>
            </a:pPr>
            <a:r>
              <a:rPr lang="en-IN" b="0" i="0" dirty="0">
                <a:solidFill>
                  <a:srgbClr val="242729"/>
                </a:solidFill>
                <a:effectLst/>
                <a:latin typeface="Arial" panose="020B0604020202020204" pitchFamily="34" charset="0"/>
              </a:rPr>
              <a:t>              </a:t>
            </a:r>
            <a:r>
              <a:rPr lang="en-IN" b="1" i="0" dirty="0">
                <a:solidFill>
                  <a:srgbClr val="242729"/>
                </a:solidFill>
                <a:effectLst/>
                <a:latin typeface="Arial" panose="020B0604020202020204" pitchFamily="34" charset="0"/>
              </a:rPr>
              <a:t>O(1)</a:t>
            </a:r>
            <a:endParaRPr kumimoji="0" lang="en-IN" sz="2400" b="1" i="0" u="none" strike="noStrike" cap="none" normalizeH="0" baseline="0" dirty="0">
              <a:ln>
                <a:noFill/>
              </a:ln>
              <a:solidFill>
                <a:schemeClr val="tx1"/>
              </a:solidFill>
              <a:effectLst/>
              <a:latin typeface="Times New Roman" pitchFamily="18" charset="0"/>
            </a:endParaRPr>
          </a:p>
        </p:txBody>
      </p:sp>
      <p:sp>
        <p:nvSpPr>
          <p:cNvPr id="61" name="Rectangle 60">
            <a:extLst>
              <a:ext uri="{FF2B5EF4-FFF2-40B4-BE49-F238E27FC236}">
                <a16:creationId xmlns:a16="http://schemas.microsoft.com/office/drawing/2014/main" id="{7ADA44CD-50A8-4F45-AED9-809944B1C5F3}"/>
              </a:ext>
            </a:extLst>
          </p:cNvPr>
          <p:cNvSpPr/>
          <p:nvPr/>
        </p:nvSpPr>
        <p:spPr bwMode="auto">
          <a:xfrm>
            <a:off x="2892659" y="522635"/>
            <a:ext cx="4553169" cy="527298"/>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Accessing the elements of an array</a:t>
            </a:r>
          </a:p>
        </p:txBody>
      </p:sp>
    </p:spTree>
    <p:extLst>
      <p:ext uri="{BB962C8B-B14F-4D97-AF65-F5344CB8AC3E}">
        <p14:creationId xmlns:p14="http://schemas.microsoft.com/office/powerpoint/2010/main" val="224535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3" presetClass="exit" presetSubtype="10" fill="hold" nodeType="clickEffect">
                                  <p:stCondLst>
                                    <p:cond delay="0"/>
                                  </p:stCondLst>
                                  <p:childTnLst>
                                    <p:animEffect transition="out" filter="blinds(horizontal)">
                                      <p:cBhvr>
                                        <p:cTn id="82" dur="500"/>
                                        <p:tgtEl>
                                          <p:spTgt spid="6"/>
                                        </p:tgtEl>
                                      </p:cBhvr>
                                    </p:animEffect>
                                    <p:set>
                                      <p:cBhvr>
                                        <p:cTn id="83" dur="1" fill="hold">
                                          <p:stCondLst>
                                            <p:cond delay="499"/>
                                          </p:stCondLst>
                                        </p:cTn>
                                        <p:tgtEl>
                                          <p:spTgt spid="6"/>
                                        </p:tgtEl>
                                        <p:attrNameLst>
                                          <p:attrName>style.visibility</p:attrName>
                                        </p:attrNameLst>
                                      </p:cBhvr>
                                      <p:to>
                                        <p:strVal val="hidden"/>
                                      </p:to>
                                    </p:set>
                                  </p:childTnLst>
                                </p:cTn>
                              </p:par>
                              <p:par>
                                <p:cTn id="84" presetID="3" presetClass="exit" presetSubtype="10" fill="hold" grpId="1" nodeType="withEffect">
                                  <p:stCondLst>
                                    <p:cond delay="0"/>
                                  </p:stCondLst>
                                  <p:childTnLst>
                                    <p:animEffect transition="out" filter="blinds(horizontal)">
                                      <p:cBhvr>
                                        <p:cTn id="85" dur="500"/>
                                        <p:tgtEl>
                                          <p:spTgt spid="10"/>
                                        </p:tgtEl>
                                      </p:cBhvr>
                                    </p:animEffect>
                                    <p:set>
                                      <p:cBhvr>
                                        <p:cTn id="86" dur="1" fill="hold">
                                          <p:stCondLst>
                                            <p:cond delay="499"/>
                                          </p:stCondLst>
                                        </p:cTn>
                                        <p:tgtEl>
                                          <p:spTgt spid="10"/>
                                        </p:tgtEl>
                                        <p:attrNameLst>
                                          <p:attrName>style.visibility</p:attrName>
                                        </p:attrNameLst>
                                      </p:cBhvr>
                                      <p:to>
                                        <p:strVal val="hidden"/>
                                      </p:to>
                                    </p:set>
                                  </p:childTnLst>
                                </p:cTn>
                              </p:par>
                              <p:par>
                                <p:cTn id="87" presetID="3" presetClass="exit" presetSubtype="10" fill="hold" grpId="1" nodeType="withEffect">
                                  <p:stCondLst>
                                    <p:cond delay="0"/>
                                  </p:stCondLst>
                                  <p:childTnLst>
                                    <p:animEffect transition="out" filter="blinds(horizontal)">
                                      <p:cBhvr>
                                        <p:cTn id="88" dur="500"/>
                                        <p:tgtEl>
                                          <p:spTgt spid="37"/>
                                        </p:tgtEl>
                                      </p:cBhvr>
                                    </p:animEffect>
                                    <p:set>
                                      <p:cBhvr>
                                        <p:cTn id="89" dur="1" fill="hold">
                                          <p:stCondLst>
                                            <p:cond delay="499"/>
                                          </p:stCondLst>
                                        </p:cTn>
                                        <p:tgtEl>
                                          <p:spTgt spid="37"/>
                                        </p:tgtEl>
                                        <p:attrNameLst>
                                          <p:attrName>style.visibility</p:attrName>
                                        </p:attrNameLst>
                                      </p:cBhvr>
                                      <p:to>
                                        <p:strVal val="hidden"/>
                                      </p:to>
                                    </p:set>
                                  </p:childTnLst>
                                </p:cTn>
                              </p:par>
                              <p:par>
                                <p:cTn id="90" presetID="3" presetClass="exit" presetSubtype="10" fill="hold" nodeType="withEffect">
                                  <p:stCondLst>
                                    <p:cond delay="0"/>
                                  </p:stCondLst>
                                  <p:childTnLst>
                                    <p:animEffect transition="out" filter="blinds(horizontal)">
                                      <p:cBhvr>
                                        <p:cTn id="91" dur="500"/>
                                        <p:tgtEl>
                                          <p:spTgt spid="14"/>
                                        </p:tgtEl>
                                      </p:cBhvr>
                                    </p:animEffect>
                                    <p:set>
                                      <p:cBhvr>
                                        <p:cTn id="92" dur="1" fill="hold">
                                          <p:stCondLst>
                                            <p:cond delay="499"/>
                                          </p:stCondLst>
                                        </p:cTn>
                                        <p:tgtEl>
                                          <p:spTgt spid="14"/>
                                        </p:tgtEl>
                                        <p:attrNameLst>
                                          <p:attrName>style.visibility</p:attrName>
                                        </p:attrNameLst>
                                      </p:cBhvr>
                                      <p:to>
                                        <p:strVal val="hidden"/>
                                      </p:to>
                                    </p:set>
                                  </p:childTnLst>
                                </p:cTn>
                              </p:par>
                              <p:par>
                                <p:cTn id="93" presetID="3" presetClass="exit" presetSubtype="10" fill="hold" grpId="1" nodeType="withEffect">
                                  <p:stCondLst>
                                    <p:cond delay="0"/>
                                  </p:stCondLst>
                                  <p:childTnLst>
                                    <p:animEffect transition="out" filter="blinds(horizontal)">
                                      <p:cBhvr>
                                        <p:cTn id="94" dur="500"/>
                                        <p:tgtEl>
                                          <p:spTgt spid="29"/>
                                        </p:tgtEl>
                                      </p:cBhvr>
                                    </p:animEffect>
                                    <p:set>
                                      <p:cBhvr>
                                        <p:cTn id="95" dur="1" fill="hold">
                                          <p:stCondLst>
                                            <p:cond delay="499"/>
                                          </p:stCondLst>
                                        </p:cTn>
                                        <p:tgtEl>
                                          <p:spTgt spid="29"/>
                                        </p:tgtEl>
                                        <p:attrNameLst>
                                          <p:attrName>style.visibility</p:attrName>
                                        </p:attrNameLst>
                                      </p:cBhvr>
                                      <p:to>
                                        <p:strVal val="hidden"/>
                                      </p:to>
                                    </p:set>
                                  </p:childTnLst>
                                </p:cTn>
                              </p:par>
                              <p:par>
                                <p:cTn id="96" presetID="3" presetClass="exit" presetSubtype="10" fill="hold" grpId="1" nodeType="withEffect">
                                  <p:stCondLst>
                                    <p:cond delay="0"/>
                                  </p:stCondLst>
                                  <p:childTnLst>
                                    <p:animEffect transition="out" filter="blinds(horizontal)">
                                      <p:cBhvr>
                                        <p:cTn id="97" dur="500"/>
                                        <p:tgtEl>
                                          <p:spTgt spid="38"/>
                                        </p:tgtEl>
                                      </p:cBhvr>
                                    </p:animEffect>
                                    <p:set>
                                      <p:cBhvr>
                                        <p:cTn id="98" dur="1" fill="hold">
                                          <p:stCondLst>
                                            <p:cond delay="499"/>
                                          </p:stCondLst>
                                        </p:cTn>
                                        <p:tgtEl>
                                          <p:spTgt spid="38"/>
                                        </p:tgtEl>
                                        <p:attrNameLst>
                                          <p:attrName>style.visibility</p:attrName>
                                        </p:attrNameLst>
                                      </p:cBhvr>
                                      <p:to>
                                        <p:strVal val="hidden"/>
                                      </p:to>
                                    </p:set>
                                  </p:childTnLst>
                                </p:cTn>
                              </p:par>
                              <p:par>
                                <p:cTn id="99" presetID="3" presetClass="exit" presetSubtype="10" fill="hold" grpId="1" nodeType="withEffect">
                                  <p:stCondLst>
                                    <p:cond delay="0"/>
                                  </p:stCondLst>
                                  <p:childTnLst>
                                    <p:animEffect transition="out" filter="blinds(horizontal)">
                                      <p:cBhvr>
                                        <p:cTn id="100" dur="500"/>
                                        <p:tgtEl>
                                          <p:spTgt spid="39"/>
                                        </p:tgtEl>
                                      </p:cBhvr>
                                    </p:animEffect>
                                    <p:set>
                                      <p:cBhvr>
                                        <p:cTn id="101" dur="1" fill="hold">
                                          <p:stCondLst>
                                            <p:cond delay="499"/>
                                          </p:stCondLst>
                                        </p:cTn>
                                        <p:tgtEl>
                                          <p:spTgt spid="39"/>
                                        </p:tgtEl>
                                        <p:attrNameLst>
                                          <p:attrName>style.visibility</p:attrName>
                                        </p:attrNameLst>
                                      </p:cBhvr>
                                      <p:to>
                                        <p:strVal val="hidden"/>
                                      </p:to>
                                    </p:set>
                                  </p:childTnLst>
                                </p:cTn>
                              </p:par>
                              <p:par>
                                <p:cTn id="102" presetID="3" presetClass="exit" presetSubtype="10" fill="hold" nodeType="withEffect">
                                  <p:stCondLst>
                                    <p:cond delay="0"/>
                                  </p:stCondLst>
                                  <p:childTnLst>
                                    <p:animEffect transition="out" filter="blinds(horizontal)">
                                      <p:cBhvr>
                                        <p:cTn id="103" dur="500"/>
                                        <p:tgtEl>
                                          <p:spTgt spid="40"/>
                                        </p:tgtEl>
                                      </p:cBhvr>
                                    </p:animEffect>
                                    <p:set>
                                      <p:cBhvr>
                                        <p:cTn id="104" dur="1" fill="hold">
                                          <p:stCondLst>
                                            <p:cond delay="499"/>
                                          </p:stCondLst>
                                        </p:cTn>
                                        <p:tgtEl>
                                          <p:spTgt spid="40"/>
                                        </p:tgtEl>
                                        <p:attrNameLst>
                                          <p:attrName>style.visibility</p:attrName>
                                        </p:attrNameLst>
                                      </p:cBhvr>
                                      <p:to>
                                        <p:strVal val="hidden"/>
                                      </p:to>
                                    </p:set>
                                  </p:childTnLst>
                                </p:cTn>
                              </p:par>
                              <p:par>
                                <p:cTn id="105" presetID="3" presetClass="exit" presetSubtype="10" fill="hold" grpId="1" nodeType="withEffect">
                                  <p:stCondLst>
                                    <p:cond delay="0"/>
                                  </p:stCondLst>
                                  <p:childTnLst>
                                    <p:animEffect transition="out" filter="blinds(horizontal)">
                                      <p:cBhvr>
                                        <p:cTn id="106" dur="500"/>
                                        <p:tgtEl>
                                          <p:spTgt spid="43"/>
                                        </p:tgtEl>
                                      </p:cBhvr>
                                    </p:animEffect>
                                    <p:set>
                                      <p:cBhvr>
                                        <p:cTn id="107" dur="1" fill="hold">
                                          <p:stCondLst>
                                            <p:cond delay="499"/>
                                          </p:stCondLst>
                                        </p:cTn>
                                        <p:tgtEl>
                                          <p:spTgt spid="43"/>
                                        </p:tgtEl>
                                        <p:attrNameLst>
                                          <p:attrName>style.visibility</p:attrName>
                                        </p:attrNameLst>
                                      </p:cBhvr>
                                      <p:to>
                                        <p:strVal val="hidden"/>
                                      </p:to>
                                    </p:set>
                                  </p:childTnLst>
                                </p:cTn>
                              </p:par>
                              <p:par>
                                <p:cTn id="108" presetID="3" presetClass="exit" presetSubtype="10" fill="hold" grpId="1" nodeType="withEffect">
                                  <p:stCondLst>
                                    <p:cond delay="0"/>
                                  </p:stCondLst>
                                  <p:childTnLst>
                                    <p:animEffect transition="out" filter="blinds(horizontal)">
                                      <p:cBhvr>
                                        <p:cTn id="109" dur="500"/>
                                        <p:tgtEl>
                                          <p:spTgt spid="47"/>
                                        </p:tgtEl>
                                      </p:cBhvr>
                                    </p:animEffect>
                                    <p:set>
                                      <p:cBhvr>
                                        <p:cTn id="110" dur="1" fill="hold">
                                          <p:stCondLst>
                                            <p:cond delay="499"/>
                                          </p:stCondLst>
                                        </p:cTn>
                                        <p:tgtEl>
                                          <p:spTgt spid="47"/>
                                        </p:tgtEl>
                                        <p:attrNameLst>
                                          <p:attrName>style.visibility</p:attrName>
                                        </p:attrNameLst>
                                      </p:cBhvr>
                                      <p:to>
                                        <p:strVal val="hidden"/>
                                      </p:to>
                                    </p:set>
                                  </p:childTnLst>
                                </p:cTn>
                              </p:par>
                              <p:par>
                                <p:cTn id="111" presetID="3" presetClass="exit" presetSubtype="10" fill="hold" nodeType="withEffect">
                                  <p:stCondLst>
                                    <p:cond delay="0"/>
                                  </p:stCondLst>
                                  <p:childTnLst>
                                    <p:animEffect transition="out" filter="blinds(horizontal)">
                                      <p:cBhvr>
                                        <p:cTn id="112" dur="500"/>
                                        <p:tgtEl>
                                          <p:spTgt spid="48"/>
                                        </p:tgtEl>
                                      </p:cBhvr>
                                    </p:animEffect>
                                    <p:set>
                                      <p:cBhvr>
                                        <p:cTn id="113" dur="1" fill="hold">
                                          <p:stCondLst>
                                            <p:cond delay="499"/>
                                          </p:stCondLst>
                                        </p:cTn>
                                        <p:tgtEl>
                                          <p:spTgt spid="48"/>
                                        </p:tgtEl>
                                        <p:attrNameLst>
                                          <p:attrName>style.visibility</p:attrName>
                                        </p:attrNameLst>
                                      </p:cBhvr>
                                      <p:to>
                                        <p:strVal val="hidden"/>
                                      </p:to>
                                    </p:set>
                                  </p:childTnLst>
                                </p:cTn>
                              </p:par>
                              <p:par>
                                <p:cTn id="114" presetID="3" presetClass="exit" presetSubtype="10" fill="hold" grpId="1" nodeType="withEffect">
                                  <p:stCondLst>
                                    <p:cond delay="0"/>
                                  </p:stCondLst>
                                  <p:childTnLst>
                                    <p:animEffect transition="out" filter="blinds(horizontal)">
                                      <p:cBhvr>
                                        <p:cTn id="115" dur="500"/>
                                        <p:tgtEl>
                                          <p:spTgt spid="50"/>
                                        </p:tgtEl>
                                      </p:cBhvr>
                                    </p:animEffect>
                                    <p:set>
                                      <p:cBhvr>
                                        <p:cTn id="116" dur="1" fill="hold">
                                          <p:stCondLst>
                                            <p:cond delay="499"/>
                                          </p:stCondLst>
                                        </p:cTn>
                                        <p:tgtEl>
                                          <p:spTgt spid="50"/>
                                        </p:tgtEl>
                                        <p:attrNameLst>
                                          <p:attrName>style.visibility</p:attrName>
                                        </p:attrNameLst>
                                      </p:cBhvr>
                                      <p:to>
                                        <p:strVal val="hidden"/>
                                      </p:to>
                                    </p:set>
                                  </p:childTnLst>
                                </p:cTn>
                              </p:par>
                              <p:par>
                                <p:cTn id="117" presetID="3" presetClass="exit" presetSubtype="10" fill="hold" grpId="1" nodeType="withEffect">
                                  <p:stCondLst>
                                    <p:cond delay="0"/>
                                  </p:stCondLst>
                                  <p:childTnLst>
                                    <p:animEffect transition="out" filter="blinds(horizontal)">
                                      <p:cBhvr>
                                        <p:cTn id="118" dur="500"/>
                                        <p:tgtEl>
                                          <p:spTgt spid="51"/>
                                        </p:tgtEl>
                                      </p:cBhvr>
                                    </p:animEffect>
                                    <p:set>
                                      <p:cBhvr>
                                        <p:cTn id="119" dur="1" fill="hold">
                                          <p:stCondLst>
                                            <p:cond delay="499"/>
                                          </p:stCondLst>
                                        </p:cTn>
                                        <p:tgtEl>
                                          <p:spTgt spid="51"/>
                                        </p:tgtEl>
                                        <p:attrNameLst>
                                          <p:attrName>style.visibility</p:attrName>
                                        </p:attrNameLst>
                                      </p:cBhvr>
                                      <p:to>
                                        <p:strVal val="hidden"/>
                                      </p:to>
                                    </p:set>
                                  </p:childTnLst>
                                </p:cTn>
                              </p:par>
                              <p:par>
                                <p:cTn id="120" presetID="3" presetClass="exit" presetSubtype="10" fill="hold" nodeType="withEffect">
                                  <p:stCondLst>
                                    <p:cond delay="0"/>
                                  </p:stCondLst>
                                  <p:childTnLst>
                                    <p:animEffect transition="out" filter="blinds(horizontal)">
                                      <p:cBhvr>
                                        <p:cTn id="121" dur="500"/>
                                        <p:tgtEl>
                                          <p:spTgt spid="52"/>
                                        </p:tgtEl>
                                      </p:cBhvr>
                                    </p:animEffect>
                                    <p:set>
                                      <p:cBhvr>
                                        <p:cTn id="122" dur="1" fill="hold">
                                          <p:stCondLst>
                                            <p:cond delay="499"/>
                                          </p:stCondLst>
                                        </p:cTn>
                                        <p:tgtEl>
                                          <p:spTgt spid="52"/>
                                        </p:tgtEl>
                                        <p:attrNameLst>
                                          <p:attrName>style.visibility</p:attrName>
                                        </p:attrNameLst>
                                      </p:cBhvr>
                                      <p:to>
                                        <p:strVal val="hidden"/>
                                      </p:to>
                                    </p:set>
                                  </p:childTnLst>
                                </p:cTn>
                              </p:par>
                              <p:par>
                                <p:cTn id="123" presetID="3" presetClass="exit" presetSubtype="10" fill="hold" grpId="1" nodeType="withEffect">
                                  <p:stCondLst>
                                    <p:cond delay="0"/>
                                  </p:stCondLst>
                                  <p:childTnLst>
                                    <p:animEffect transition="out" filter="blinds(horizontal)">
                                      <p:cBhvr>
                                        <p:cTn id="124" dur="500"/>
                                        <p:tgtEl>
                                          <p:spTgt spid="57"/>
                                        </p:tgtEl>
                                      </p:cBhvr>
                                    </p:animEffect>
                                    <p:set>
                                      <p:cBhvr>
                                        <p:cTn id="125" dur="1" fill="hold">
                                          <p:stCondLst>
                                            <p:cond delay="499"/>
                                          </p:stCondLst>
                                        </p:cTn>
                                        <p:tgtEl>
                                          <p:spTgt spid="57"/>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0" grpId="0"/>
      <p:bldP spid="10" grpId="1"/>
      <p:bldP spid="29" grpId="0"/>
      <p:bldP spid="29" grpId="1"/>
      <p:bldP spid="37" grpId="0" animBg="1"/>
      <p:bldP spid="37" grpId="1" animBg="1"/>
      <p:bldP spid="38" grpId="0" animBg="1"/>
      <p:bldP spid="38" grpId="1" animBg="1"/>
      <p:bldP spid="39" grpId="0"/>
      <p:bldP spid="39" grpId="1"/>
      <p:bldP spid="43" grpId="0" animBg="1"/>
      <p:bldP spid="43" grpId="1" animBg="1"/>
      <p:bldP spid="47" grpId="0"/>
      <p:bldP spid="47" grpId="1"/>
      <p:bldP spid="50" grpId="0" animBg="1"/>
      <p:bldP spid="50" grpId="1" animBg="1"/>
      <p:bldP spid="51" grpId="0"/>
      <p:bldP spid="51" grpId="1"/>
      <p:bldP spid="57" grpId="0" animBg="1"/>
      <p:bldP spid="57" grpId="1" animBg="1"/>
      <p:bldP spid="58" grpId="0" animBg="1"/>
      <p:bldP spid="6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19E3-CDD6-4333-9B7E-63F3CED4B486}"/>
              </a:ext>
            </a:extLst>
          </p:cNvPr>
          <p:cNvSpPr>
            <a:spLocks noGrp="1"/>
          </p:cNvSpPr>
          <p:nvPr>
            <p:ph type="title"/>
          </p:nvPr>
        </p:nvSpPr>
        <p:spPr/>
        <p:txBody>
          <a:bodyPr/>
          <a:lstStyle/>
          <a:p>
            <a:r>
              <a:rPr lang="en-IN" dirty="0"/>
              <a:t>Example: Find the Total Number of Marks </a:t>
            </a:r>
          </a:p>
        </p:txBody>
      </p:sp>
      <p:sp>
        <p:nvSpPr>
          <p:cNvPr id="3" name="Content Placeholder 2">
            <a:extLst>
              <a:ext uri="{FF2B5EF4-FFF2-40B4-BE49-F238E27FC236}">
                <a16:creationId xmlns:a16="http://schemas.microsoft.com/office/drawing/2014/main" id="{E5206D93-8E8F-456D-833D-3933076B7307}"/>
              </a:ext>
            </a:extLst>
          </p:cNvPr>
          <p:cNvSpPr>
            <a:spLocks noGrp="1"/>
          </p:cNvSpPr>
          <p:nvPr>
            <p:ph idx="1"/>
          </p:nvPr>
        </p:nvSpPr>
        <p:spPr/>
        <p:txBody>
          <a:bodyPr/>
          <a:lstStyle/>
          <a:p>
            <a:endParaRPr lang="en-IN" dirty="0"/>
          </a:p>
          <a:p>
            <a:endParaRPr lang="en-IN" dirty="0"/>
          </a:p>
        </p:txBody>
      </p:sp>
      <p:sp>
        <p:nvSpPr>
          <p:cNvPr id="4" name="Slide Number Placeholder 3">
            <a:extLst>
              <a:ext uri="{FF2B5EF4-FFF2-40B4-BE49-F238E27FC236}">
                <a16:creationId xmlns:a16="http://schemas.microsoft.com/office/drawing/2014/main" id="{B5F77DBB-D8E4-40E9-9134-B4136C02147D}"/>
              </a:ext>
            </a:extLst>
          </p:cNvPr>
          <p:cNvSpPr>
            <a:spLocks noGrp="1"/>
          </p:cNvSpPr>
          <p:nvPr>
            <p:ph type="sldNum" sz="quarter" idx="10"/>
          </p:nvPr>
        </p:nvSpPr>
        <p:spPr/>
        <p:txBody>
          <a:bodyPr/>
          <a:lstStyle/>
          <a:p>
            <a:pPr>
              <a:defRPr/>
            </a:pPr>
            <a:fld id="{D5FB1F5F-4B7D-40FE-AE87-C9C750581EC7}" type="slidenum">
              <a:rPr lang="en-US" smtClean="0"/>
              <a:pPr>
                <a:defRPr/>
              </a:pPr>
              <a:t>8</a:t>
            </a:fld>
            <a:endParaRPr lang="en-US" b="0" dirty="0">
              <a:latin typeface="Times New Roman" pitchFamily="18" charset="0"/>
            </a:endParaRPr>
          </a:p>
        </p:txBody>
      </p:sp>
      <p:sp>
        <p:nvSpPr>
          <p:cNvPr id="6" name="Rectangle: Rounded Corners 5">
            <a:extLst>
              <a:ext uri="{FF2B5EF4-FFF2-40B4-BE49-F238E27FC236}">
                <a16:creationId xmlns:a16="http://schemas.microsoft.com/office/drawing/2014/main" id="{A861827E-607A-46CF-BC9D-63A4F94ECE76}"/>
              </a:ext>
            </a:extLst>
          </p:cNvPr>
          <p:cNvSpPr/>
          <p:nvPr/>
        </p:nvSpPr>
        <p:spPr bwMode="auto">
          <a:xfrm>
            <a:off x="1733797" y="1944522"/>
            <a:ext cx="5593278" cy="2366221"/>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for (</a:t>
            </a:r>
            <a:r>
              <a:rPr lang="en-IN" dirty="0" err="1">
                <a:latin typeface="Times New Roman" pitchFamily="18" charset="0"/>
              </a:rPr>
              <a:t>i</a:t>
            </a:r>
            <a:r>
              <a:rPr lang="en-IN" dirty="0">
                <a:latin typeface="Times New Roman" pitchFamily="18" charset="0"/>
              </a:rPr>
              <a:t>=0;i&lt;5;i++)</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Sum += (“%d”, Marks[</a:t>
            </a:r>
            <a:r>
              <a:rPr lang="en-IN" dirty="0" err="1">
                <a:latin typeface="Times New Roman" pitchFamily="18" charset="0"/>
              </a:rPr>
              <a:t>i</a:t>
            </a:r>
            <a:r>
              <a:rPr lang="en-IN"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p:txBody>
      </p:sp>
    </p:spTree>
    <p:extLst>
      <p:ext uri="{BB962C8B-B14F-4D97-AF65-F5344CB8AC3E}">
        <p14:creationId xmlns:p14="http://schemas.microsoft.com/office/powerpoint/2010/main" val="264221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Operations</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r>
              <a:rPr lang="en-IN" dirty="0"/>
              <a:t>Traversal</a:t>
            </a:r>
          </a:p>
          <a:p>
            <a:r>
              <a:rPr lang="en-IN" b="1" dirty="0"/>
              <a:t>Search</a:t>
            </a:r>
          </a:p>
          <a:p>
            <a:r>
              <a:rPr lang="en-IN" dirty="0"/>
              <a:t>Insertion</a:t>
            </a:r>
          </a:p>
          <a:p>
            <a:r>
              <a:rPr lang="en-IN" dirty="0"/>
              <a:t>Deletion</a:t>
            </a:r>
          </a:p>
          <a:p>
            <a:r>
              <a:rPr lang="en-IN" dirty="0"/>
              <a:t>Sorting</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9</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extLst>
              <p:ext uri="{D42A27DB-BD31-4B8C-83A1-F6EECF244321}">
                <p14:modId xmlns:p14="http://schemas.microsoft.com/office/powerpoint/2010/main" val="3614100571"/>
              </p:ext>
            </p:extLst>
          </p:nvPr>
        </p:nvGraphicFramePr>
        <p:xfrm>
          <a:off x="6283842" y="2372040"/>
          <a:ext cx="854148" cy="2219520"/>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bl>
          </a:graphicData>
        </a:graphic>
      </p:graphicFrame>
      <p:graphicFrame>
        <p:nvGraphicFramePr>
          <p:cNvPr id="9" name="Table 7">
            <a:extLst>
              <a:ext uri="{FF2B5EF4-FFF2-40B4-BE49-F238E27FC236}">
                <a16:creationId xmlns:a16="http://schemas.microsoft.com/office/drawing/2014/main" id="{36D80D4B-47C2-4F10-8DA0-BF470C7A171A}"/>
              </a:ext>
            </a:extLst>
          </p:cNvPr>
          <p:cNvGraphicFramePr>
            <a:graphicFrameLocks noGrp="1"/>
          </p:cNvGraphicFramePr>
          <p:nvPr>
            <p:extLst>
              <p:ext uri="{D42A27DB-BD31-4B8C-83A1-F6EECF244321}">
                <p14:modId xmlns:p14="http://schemas.microsoft.com/office/powerpoint/2010/main" val="1568839575"/>
              </p:ext>
            </p:extLst>
          </p:nvPr>
        </p:nvGraphicFramePr>
        <p:xfrm>
          <a:off x="7137990" y="2372040"/>
          <a:ext cx="1527544" cy="2134000"/>
        </p:xfrm>
        <a:graphic>
          <a:graphicData uri="http://schemas.openxmlformats.org/drawingml/2006/table">
            <a:tbl>
              <a:tblPr firstRow="1" bandRow="1">
                <a:tableStyleId>{5C22544A-7EE6-4342-B048-85BDC9FD1C3A}</a:tableStyleId>
              </a:tblPr>
              <a:tblGrid>
                <a:gridCol w="1527544">
                  <a:extLst>
                    <a:ext uri="{9D8B030D-6E8A-4147-A177-3AD203B41FA5}">
                      <a16:colId xmlns:a16="http://schemas.microsoft.com/office/drawing/2014/main" val="1550962167"/>
                    </a:ext>
                  </a:extLst>
                </a:gridCol>
              </a:tblGrid>
              <a:tr h="426800">
                <a:tc>
                  <a:txBody>
                    <a:bodyPr/>
                    <a:lstStyle/>
                    <a:p>
                      <a:r>
                        <a:rPr lang="en-IN" dirty="0">
                          <a:solidFill>
                            <a:schemeClr val="tx1"/>
                          </a:solidFill>
                        </a:rPr>
                        <a:t>       25</a:t>
                      </a:r>
                    </a:p>
                  </a:txBody>
                  <a:tcPr>
                    <a:solidFill>
                      <a:srgbClr val="F6EFE7"/>
                    </a:solidFill>
                  </a:tcPr>
                </a:tc>
                <a:extLst>
                  <a:ext uri="{0D108BD9-81ED-4DB2-BD59-A6C34878D82A}">
                    <a16:rowId xmlns:a16="http://schemas.microsoft.com/office/drawing/2014/main" val="1531105938"/>
                  </a:ext>
                </a:extLst>
              </a:tr>
              <a:tr h="426800">
                <a:tc>
                  <a:txBody>
                    <a:bodyPr/>
                    <a:lstStyle/>
                    <a:p>
                      <a:r>
                        <a:rPr lang="en-IN" dirty="0"/>
                        <a:t>       27</a:t>
                      </a:r>
                    </a:p>
                  </a:txBody>
                  <a:tcPr/>
                </a:tc>
                <a:extLst>
                  <a:ext uri="{0D108BD9-81ED-4DB2-BD59-A6C34878D82A}">
                    <a16:rowId xmlns:a16="http://schemas.microsoft.com/office/drawing/2014/main" val="1771576885"/>
                  </a:ext>
                </a:extLst>
              </a:tr>
              <a:tr h="426800">
                <a:tc>
                  <a:txBody>
                    <a:bodyPr/>
                    <a:lstStyle/>
                    <a:p>
                      <a:r>
                        <a:rPr lang="en-IN" dirty="0"/>
                        <a:t>       29</a:t>
                      </a:r>
                    </a:p>
                  </a:txBody>
                  <a:tcPr/>
                </a:tc>
                <a:extLst>
                  <a:ext uri="{0D108BD9-81ED-4DB2-BD59-A6C34878D82A}">
                    <a16:rowId xmlns:a16="http://schemas.microsoft.com/office/drawing/2014/main" val="150265111"/>
                  </a:ext>
                </a:extLst>
              </a:tr>
              <a:tr h="426800">
                <a:tc>
                  <a:txBody>
                    <a:bodyPr/>
                    <a:lstStyle/>
                    <a:p>
                      <a:r>
                        <a:rPr lang="en-IN" dirty="0"/>
                        <a:t>       30</a:t>
                      </a:r>
                    </a:p>
                  </a:txBody>
                  <a:tcPr/>
                </a:tc>
                <a:extLst>
                  <a:ext uri="{0D108BD9-81ED-4DB2-BD59-A6C34878D82A}">
                    <a16:rowId xmlns:a16="http://schemas.microsoft.com/office/drawing/2014/main" val="4281331626"/>
                  </a:ext>
                </a:extLst>
              </a:tr>
              <a:tr h="426800">
                <a:tc>
                  <a:txBody>
                    <a:bodyPr/>
                    <a:lstStyle/>
                    <a:p>
                      <a:r>
                        <a:rPr lang="en-IN" dirty="0"/>
                        <a:t>       29</a:t>
                      </a:r>
                    </a:p>
                  </a:txBody>
                  <a:tcPr/>
                </a:tc>
                <a:extLst>
                  <a:ext uri="{0D108BD9-81ED-4DB2-BD59-A6C34878D82A}">
                    <a16:rowId xmlns:a16="http://schemas.microsoft.com/office/drawing/2014/main" val="3707931503"/>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      marks </a:t>
            </a:r>
          </a:p>
        </p:txBody>
      </p:sp>
      <p:sp>
        <p:nvSpPr>
          <p:cNvPr id="5" name="Rectangle 4">
            <a:extLst>
              <a:ext uri="{FF2B5EF4-FFF2-40B4-BE49-F238E27FC236}">
                <a16:creationId xmlns:a16="http://schemas.microsoft.com/office/drawing/2014/main" id="{F105363F-2979-43E3-8552-F6082208FA7B}"/>
              </a:ext>
            </a:extLst>
          </p:cNvPr>
          <p:cNvSpPr/>
          <p:nvPr/>
        </p:nvSpPr>
        <p:spPr bwMode="auto">
          <a:xfrm>
            <a:off x="3372593" y="641268"/>
            <a:ext cx="5292942" cy="501732"/>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Searching a particular element in an array</a:t>
            </a:r>
          </a:p>
        </p:txBody>
      </p:sp>
      <p:sp>
        <p:nvSpPr>
          <p:cNvPr id="8" name="Rectangle 7">
            <a:extLst>
              <a:ext uri="{FF2B5EF4-FFF2-40B4-BE49-F238E27FC236}">
                <a16:creationId xmlns:a16="http://schemas.microsoft.com/office/drawing/2014/main" id="{D5648A04-067E-4AB7-8173-682C0A8B7A1F}"/>
              </a:ext>
            </a:extLst>
          </p:cNvPr>
          <p:cNvSpPr/>
          <p:nvPr/>
        </p:nvSpPr>
        <p:spPr bwMode="auto">
          <a:xfrm>
            <a:off x="685800" y="4959766"/>
            <a:ext cx="7979734" cy="860834"/>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Successful Search operation returns the location of the searched item. </a:t>
            </a:r>
          </a:p>
        </p:txBody>
      </p:sp>
      <p:sp>
        <p:nvSpPr>
          <p:cNvPr id="26" name="Rectangle 25">
            <a:extLst>
              <a:ext uri="{FF2B5EF4-FFF2-40B4-BE49-F238E27FC236}">
                <a16:creationId xmlns:a16="http://schemas.microsoft.com/office/drawing/2014/main" id="{20A7ED42-78D5-4C7F-AA40-95AB41FB0E18}"/>
              </a:ext>
            </a:extLst>
          </p:cNvPr>
          <p:cNvSpPr/>
          <p:nvPr/>
        </p:nvSpPr>
        <p:spPr bwMode="auto">
          <a:xfrm>
            <a:off x="662050" y="5843909"/>
            <a:ext cx="7979734" cy="860834"/>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Searching could be </a:t>
            </a:r>
            <a:r>
              <a:rPr lang="en-IN" dirty="0">
                <a:solidFill>
                  <a:schemeClr val="tx2">
                    <a:lumMod val="60000"/>
                    <a:lumOff val="40000"/>
                  </a:schemeClr>
                </a:solidFill>
                <a:latin typeface="Times New Roman" pitchFamily="18" charset="0"/>
              </a:rPr>
              <a:t>S</a:t>
            </a:r>
            <a:r>
              <a:rPr kumimoji="0" lang="en-IN" sz="2400" b="0" i="0" u="none" strike="noStrike" cap="none" normalizeH="0" baseline="0" dirty="0">
                <a:ln>
                  <a:noFill/>
                </a:ln>
                <a:solidFill>
                  <a:schemeClr val="tx2">
                    <a:lumMod val="60000"/>
                    <a:lumOff val="40000"/>
                  </a:schemeClr>
                </a:solidFill>
                <a:effectLst/>
                <a:latin typeface="Times New Roman" pitchFamily="18" charset="0"/>
              </a:rPr>
              <a:t>equential search</a:t>
            </a:r>
            <a:r>
              <a:rPr kumimoji="0" lang="en-IN" sz="2400" b="0" i="0" u="none" strike="noStrike" cap="none" normalizeH="0" dirty="0">
                <a:ln>
                  <a:noFill/>
                </a:ln>
                <a:solidFill>
                  <a:schemeClr val="tx2">
                    <a:lumMod val="60000"/>
                    <a:lumOff val="40000"/>
                  </a:schemeClr>
                </a:solidFill>
                <a:effectLst/>
                <a:latin typeface="Times New Roman" pitchFamily="18" charset="0"/>
              </a:rPr>
              <a:t> </a:t>
            </a:r>
            <a:r>
              <a:rPr kumimoji="0" lang="en-IN" sz="2400" b="0" i="0" u="none" strike="noStrike" cap="none" normalizeH="0" dirty="0">
                <a:ln>
                  <a:noFill/>
                </a:ln>
                <a:solidFill>
                  <a:schemeClr val="tx1"/>
                </a:solidFill>
                <a:effectLst/>
                <a:latin typeface="Times New Roman" pitchFamily="18" charset="0"/>
              </a:rPr>
              <a:t>or </a:t>
            </a:r>
            <a:r>
              <a:rPr kumimoji="0" lang="en-IN" sz="2400" b="0" i="0" u="none" strike="noStrike" cap="none" normalizeH="0" dirty="0">
                <a:ln>
                  <a:noFill/>
                </a:ln>
                <a:solidFill>
                  <a:schemeClr val="tx2">
                    <a:lumMod val="60000"/>
                    <a:lumOff val="40000"/>
                  </a:schemeClr>
                </a:solidFill>
                <a:effectLst/>
                <a:latin typeface="Times New Roman" pitchFamily="18" charset="0"/>
              </a:rPr>
              <a:t>Binary Search</a:t>
            </a:r>
            <a:endParaRPr kumimoji="0" lang="en-IN" sz="2400" b="0" i="0" u="none" strike="noStrike" cap="none" normalizeH="0" baseline="0" dirty="0">
              <a:ln>
                <a:noFill/>
              </a:ln>
              <a:solidFill>
                <a:schemeClr val="tx2">
                  <a:lumMod val="60000"/>
                  <a:lumOff val="40000"/>
                </a:schemeClr>
              </a:solidFill>
              <a:effectLst/>
              <a:latin typeface="Times New Roman" pitchFamily="18" charset="0"/>
            </a:endParaRPr>
          </a:p>
        </p:txBody>
      </p:sp>
      <p:cxnSp>
        <p:nvCxnSpPr>
          <p:cNvPr id="12" name="Connector: Elbow 11">
            <a:extLst>
              <a:ext uri="{FF2B5EF4-FFF2-40B4-BE49-F238E27FC236}">
                <a16:creationId xmlns:a16="http://schemas.microsoft.com/office/drawing/2014/main" id="{451ADD76-216E-4DBE-9F1B-92ADD4C9FA16}"/>
              </a:ext>
            </a:extLst>
          </p:cNvPr>
          <p:cNvCxnSpPr/>
          <p:nvPr/>
        </p:nvCxnSpPr>
        <p:spPr bwMode="auto">
          <a:xfrm>
            <a:off x="2256312" y="1714760"/>
            <a:ext cx="3762752" cy="872474"/>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3" name="Rectangle 12">
            <a:extLst>
              <a:ext uri="{FF2B5EF4-FFF2-40B4-BE49-F238E27FC236}">
                <a16:creationId xmlns:a16="http://schemas.microsoft.com/office/drawing/2014/main" id="{F55A9370-271E-458B-ADCB-C50C2E0D5047}"/>
              </a:ext>
            </a:extLst>
          </p:cNvPr>
          <p:cNvSpPr/>
          <p:nvPr/>
        </p:nvSpPr>
        <p:spPr bwMode="auto">
          <a:xfrm>
            <a:off x="2493817" y="1232923"/>
            <a:ext cx="2624448" cy="415223"/>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Search Element(30) </a:t>
            </a:r>
          </a:p>
        </p:txBody>
      </p:sp>
      <p:cxnSp>
        <p:nvCxnSpPr>
          <p:cNvPr id="30" name="Connector: Elbow 29">
            <a:extLst>
              <a:ext uri="{FF2B5EF4-FFF2-40B4-BE49-F238E27FC236}">
                <a16:creationId xmlns:a16="http://schemas.microsoft.com/office/drawing/2014/main" id="{21D683FB-0D3F-4CCD-AE02-54A666456584}"/>
              </a:ext>
            </a:extLst>
          </p:cNvPr>
          <p:cNvCxnSpPr>
            <a:cxnSpLocks/>
          </p:cNvCxnSpPr>
          <p:nvPr/>
        </p:nvCxnSpPr>
        <p:spPr bwMode="auto">
          <a:xfrm>
            <a:off x="2256312" y="1749808"/>
            <a:ext cx="3762752" cy="1267721"/>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1" name="Connector: Elbow 30">
            <a:extLst>
              <a:ext uri="{FF2B5EF4-FFF2-40B4-BE49-F238E27FC236}">
                <a16:creationId xmlns:a16="http://schemas.microsoft.com/office/drawing/2014/main" id="{78498BFD-C5BF-49CC-95D5-897529A225C8}"/>
              </a:ext>
            </a:extLst>
          </p:cNvPr>
          <p:cNvCxnSpPr>
            <a:cxnSpLocks/>
          </p:cNvCxnSpPr>
          <p:nvPr/>
        </p:nvCxnSpPr>
        <p:spPr bwMode="auto">
          <a:xfrm>
            <a:off x="2256312" y="1685382"/>
            <a:ext cx="3762752" cy="1785873"/>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2" name="Connector: Elbow 31">
            <a:extLst>
              <a:ext uri="{FF2B5EF4-FFF2-40B4-BE49-F238E27FC236}">
                <a16:creationId xmlns:a16="http://schemas.microsoft.com/office/drawing/2014/main" id="{B09FAA62-DF90-46C0-99E5-F921F0734C2D}"/>
              </a:ext>
            </a:extLst>
          </p:cNvPr>
          <p:cNvCxnSpPr>
            <a:cxnSpLocks/>
          </p:cNvCxnSpPr>
          <p:nvPr/>
        </p:nvCxnSpPr>
        <p:spPr bwMode="auto">
          <a:xfrm>
            <a:off x="2256312" y="1726415"/>
            <a:ext cx="3762752" cy="2198566"/>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0" name="Connector: Elbow 19">
            <a:extLst>
              <a:ext uri="{FF2B5EF4-FFF2-40B4-BE49-F238E27FC236}">
                <a16:creationId xmlns:a16="http://schemas.microsoft.com/office/drawing/2014/main" id="{CEF2438E-ECA2-40B4-8CBC-2D8349AA7161}"/>
              </a:ext>
            </a:extLst>
          </p:cNvPr>
          <p:cNvCxnSpPr/>
          <p:nvPr/>
        </p:nvCxnSpPr>
        <p:spPr bwMode="auto">
          <a:xfrm rot="16200000" flipV="1">
            <a:off x="4746348" y="2066787"/>
            <a:ext cx="1950595" cy="1613490"/>
          </a:xfrm>
          <a:prstGeom prst="bentConnector3">
            <a:avLst/>
          </a:prstGeom>
          <a:solidFill>
            <a:schemeClr val="accent1"/>
          </a:solidFill>
          <a:ln w="9525" cap="flat" cmpd="sng" algn="ctr">
            <a:solidFill>
              <a:schemeClr val="tx1"/>
            </a:solidFill>
            <a:prstDash val="solid"/>
            <a:round/>
            <a:headEnd type="none" w="med" len="med"/>
            <a:tailEnd type="none" w="med" len="med"/>
          </a:ln>
          <a:effectLst/>
        </p:spPr>
      </p:cxnSp>
      <p:sp>
        <p:nvSpPr>
          <p:cNvPr id="21" name="Oval 20">
            <a:extLst>
              <a:ext uri="{FF2B5EF4-FFF2-40B4-BE49-F238E27FC236}">
                <a16:creationId xmlns:a16="http://schemas.microsoft.com/office/drawing/2014/main" id="{D14ED928-6138-477B-8035-A9BA6E63CFEB}"/>
              </a:ext>
            </a:extLst>
          </p:cNvPr>
          <p:cNvSpPr/>
          <p:nvPr/>
        </p:nvSpPr>
        <p:spPr bwMode="auto">
          <a:xfrm>
            <a:off x="1080655" y="3848830"/>
            <a:ext cx="2636322" cy="996302"/>
          </a:xfrm>
          <a:prstGeom prst="ellipse">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Complexity </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t>
            </a:r>
            <a:r>
              <a:rPr lang="en-IN" b="1" dirty="0">
                <a:latin typeface="Times New Roman" pitchFamily="18" charset="0"/>
              </a:rPr>
              <a:t>O(n) </a:t>
            </a:r>
            <a:endParaRPr kumimoji="0" lang="en-IN" sz="2400" b="1" i="0" u="none" strike="noStrike" cap="none" normalizeH="0" baseline="0" dirty="0">
              <a:ln>
                <a:noFill/>
              </a:ln>
              <a:solidFill>
                <a:schemeClr val="tx1"/>
              </a:solidFill>
              <a:effectLst/>
              <a:latin typeface="Times New Roman" pitchFamily="18" charset="0"/>
            </a:endParaRPr>
          </a:p>
        </p:txBody>
      </p:sp>
      <p:sp>
        <p:nvSpPr>
          <p:cNvPr id="22" name="Rectangle 21">
            <a:extLst>
              <a:ext uri="{FF2B5EF4-FFF2-40B4-BE49-F238E27FC236}">
                <a16:creationId xmlns:a16="http://schemas.microsoft.com/office/drawing/2014/main" id="{F161DAEC-8F96-4B4E-A82F-D3AB5AB0F020}"/>
              </a:ext>
            </a:extLst>
          </p:cNvPr>
          <p:cNvSpPr/>
          <p:nvPr/>
        </p:nvSpPr>
        <p:spPr bwMode="auto">
          <a:xfrm>
            <a:off x="5000432" y="1822083"/>
            <a:ext cx="1517533" cy="501732"/>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Compare </a:t>
            </a:r>
          </a:p>
        </p:txBody>
      </p:sp>
    </p:spTree>
    <p:extLst>
      <p:ext uri="{BB962C8B-B14F-4D97-AF65-F5344CB8AC3E}">
        <p14:creationId xmlns:p14="http://schemas.microsoft.com/office/powerpoint/2010/main" val="349348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26" grpId="0" animBg="1"/>
      <p:bldP spid="13"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19E3-CDD6-4333-9B7E-63F3CED4B486}"/>
              </a:ext>
            </a:extLst>
          </p:cNvPr>
          <p:cNvSpPr>
            <a:spLocks noGrp="1"/>
          </p:cNvSpPr>
          <p:nvPr>
            <p:ph type="title"/>
          </p:nvPr>
        </p:nvSpPr>
        <p:spPr/>
        <p:txBody>
          <a:bodyPr/>
          <a:lstStyle/>
          <a:p>
            <a:r>
              <a:rPr lang="en-IN" dirty="0"/>
              <a:t>Example: Search an element</a:t>
            </a:r>
          </a:p>
        </p:txBody>
      </p:sp>
      <p:sp>
        <p:nvSpPr>
          <p:cNvPr id="3" name="Content Placeholder 2">
            <a:extLst>
              <a:ext uri="{FF2B5EF4-FFF2-40B4-BE49-F238E27FC236}">
                <a16:creationId xmlns:a16="http://schemas.microsoft.com/office/drawing/2014/main" id="{E5206D93-8E8F-456D-833D-3933076B7307}"/>
              </a:ext>
            </a:extLst>
          </p:cNvPr>
          <p:cNvSpPr>
            <a:spLocks noGrp="1"/>
          </p:cNvSpPr>
          <p:nvPr>
            <p:ph idx="1"/>
          </p:nvPr>
        </p:nvSpPr>
        <p:spPr/>
        <p:txBody>
          <a:bodyPr/>
          <a:lstStyle/>
          <a:p>
            <a:endParaRPr lang="en-IN" dirty="0"/>
          </a:p>
          <a:p>
            <a:endParaRPr lang="en-IN" dirty="0"/>
          </a:p>
        </p:txBody>
      </p:sp>
      <p:sp>
        <p:nvSpPr>
          <p:cNvPr id="4" name="Slide Number Placeholder 3">
            <a:extLst>
              <a:ext uri="{FF2B5EF4-FFF2-40B4-BE49-F238E27FC236}">
                <a16:creationId xmlns:a16="http://schemas.microsoft.com/office/drawing/2014/main" id="{B5F77DBB-D8E4-40E9-9134-B4136C02147D}"/>
              </a:ext>
            </a:extLst>
          </p:cNvPr>
          <p:cNvSpPr>
            <a:spLocks noGrp="1"/>
          </p:cNvSpPr>
          <p:nvPr>
            <p:ph type="sldNum" sz="quarter" idx="10"/>
          </p:nvPr>
        </p:nvSpPr>
        <p:spPr/>
        <p:txBody>
          <a:bodyPr/>
          <a:lstStyle/>
          <a:p>
            <a:pPr>
              <a:defRPr/>
            </a:pPr>
            <a:fld id="{D5FB1F5F-4B7D-40FE-AE87-C9C750581EC7}" type="slidenum">
              <a:rPr lang="en-US" smtClean="0"/>
              <a:pPr>
                <a:defRPr/>
              </a:pPr>
              <a:t>10</a:t>
            </a:fld>
            <a:endParaRPr lang="en-US" b="0" dirty="0">
              <a:latin typeface="Times New Roman" pitchFamily="18" charset="0"/>
            </a:endParaRPr>
          </a:p>
        </p:txBody>
      </p:sp>
      <p:sp>
        <p:nvSpPr>
          <p:cNvPr id="6" name="Rectangle: Rounded Corners 5">
            <a:extLst>
              <a:ext uri="{FF2B5EF4-FFF2-40B4-BE49-F238E27FC236}">
                <a16:creationId xmlns:a16="http://schemas.microsoft.com/office/drawing/2014/main" id="{A861827E-607A-46CF-BC9D-63A4F94ECE76}"/>
              </a:ext>
            </a:extLst>
          </p:cNvPr>
          <p:cNvSpPr/>
          <p:nvPr/>
        </p:nvSpPr>
        <p:spPr bwMode="auto">
          <a:xfrm>
            <a:off x="1775361" y="1410132"/>
            <a:ext cx="6264234" cy="5066868"/>
          </a:xfrm>
          <a:prstGeom prst="roundRect">
            <a:avLst/>
          </a:prstGeom>
          <a:solidFill>
            <a:schemeClr val="tx2">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err="1">
                <a:latin typeface="Times New Roman" pitchFamily="18" charset="0"/>
              </a:rPr>
              <a:t>printf</a:t>
            </a:r>
            <a:r>
              <a:rPr lang="en-IN" dirty="0">
                <a:latin typeface="Times New Roman" pitchFamily="18" charset="0"/>
              </a:rPr>
              <a:t>(“Enter element to search”);</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t>
            </a:r>
            <a:r>
              <a:rPr lang="en-IN" dirty="0" err="1">
                <a:latin typeface="Times New Roman" pitchFamily="18" charset="0"/>
              </a:rPr>
              <a:t>scanf</a:t>
            </a:r>
            <a:r>
              <a:rPr lang="en-IN" dirty="0">
                <a:latin typeface="Times New Roman" pitchFamily="18" charset="0"/>
              </a:rPr>
              <a:t>(“%d”, &amp;</a:t>
            </a:r>
            <a:r>
              <a:rPr lang="en-IN" dirty="0" err="1">
                <a:latin typeface="Times New Roman" pitchFamily="18" charset="0"/>
              </a:rPr>
              <a:t>search_element</a:t>
            </a:r>
            <a:r>
              <a:rPr lang="en-IN"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for (</a:t>
            </a:r>
            <a:r>
              <a:rPr lang="en-IN" dirty="0" err="1">
                <a:latin typeface="Times New Roman" pitchFamily="18" charset="0"/>
              </a:rPr>
              <a:t>i</a:t>
            </a:r>
            <a:r>
              <a:rPr lang="en-IN" dirty="0">
                <a:latin typeface="Times New Roman" pitchFamily="18" charset="0"/>
              </a:rPr>
              <a:t>=0;i&lt;5;i++)</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if (Marks[</a:t>
            </a:r>
            <a:r>
              <a:rPr lang="en-IN" dirty="0" err="1">
                <a:latin typeface="Times New Roman" pitchFamily="18" charset="0"/>
              </a:rPr>
              <a:t>i</a:t>
            </a:r>
            <a:r>
              <a:rPr lang="en-IN" dirty="0">
                <a:latin typeface="Times New Roman" pitchFamily="18" charset="0"/>
              </a:rPr>
              <a:t>] == </a:t>
            </a:r>
            <a:r>
              <a:rPr lang="en-IN" dirty="0" err="1">
                <a:latin typeface="Times New Roman" pitchFamily="18" charset="0"/>
              </a:rPr>
              <a:t>search_element</a:t>
            </a:r>
            <a:r>
              <a:rPr lang="en-IN" dirty="0">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found = 1;</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break;</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if (found = 1)</a:t>
            </a:r>
          </a:p>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    </a:t>
            </a:r>
            <a:r>
              <a:rPr kumimoji="0" lang="en-IN" sz="2400" b="0" i="0" u="none" strike="noStrike" cap="none" normalizeH="0" baseline="0" dirty="0" err="1">
                <a:ln>
                  <a:noFill/>
                </a:ln>
                <a:solidFill>
                  <a:schemeClr val="tx1"/>
                </a:solidFill>
                <a:effectLst/>
                <a:latin typeface="Times New Roman" pitchFamily="18" charset="0"/>
              </a:rPr>
              <a:t>printf</a:t>
            </a:r>
            <a:r>
              <a:rPr kumimoji="0" lang="en-IN" sz="2400" b="0" i="0" u="none" strike="noStrike" cap="none" normalizeH="0" baseline="0" dirty="0">
                <a:ln>
                  <a:noFill/>
                </a:ln>
                <a:solidFill>
                  <a:schemeClr val="tx1"/>
                </a:solidFill>
                <a:effectLst/>
                <a:latin typeface="Times New Roman" pitchFamily="18" charset="0"/>
              </a:rPr>
              <a:t>(“The element is found at %d”,</a:t>
            </a:r>
            <a:r>
              <a:rPr kumimoji="0" lang="en-IN" sz="2400" b="0" i="0" u="none" strike="noStrike" cap="none" normalizeH="0" baseline="0" dirty="0" err="1">
                <a:ln>
                  <a:noFill/>
                </a:ln>
                <a:solidFill>
                  <a:schemeClr val="tx1"/>
                </a:solidFill>
                <a:effectLst/>
                <a:latin typeface="Times New Roman" pitchFamily="18" charset="0"/>
              </a:rPr>
              <a:t>i</a:t>
            </a:r>
            <a:r>
              <a:rPr kumimoji="0" lang="en-IN" sz="2400" b="0" i="0" u="none" strike="noStrike" cap="none" normalizeH="0" baseline="0" dirty="0">
                <a:ln>
                  <a:noFill/>
                </a:ln>
                <a:solidFill>
                  <a:schemeClr val="tx1"/>
                </a:solidFill>
                <a:effectLst/>
                <a:latin typeface="Times New Roman" pitchFamily="18" charset="0"/>
              </a:rPr>
              <a:t>);</a:t>
            </a:r>
          </a:p>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else</a:t>
            </a:r>
          </a:p>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     </a:t>
            </a:r>
            <a:r>
              <a:rPr lang="en-IN" dirty="0" err="1">
                <a:solidFill>
                  <a:schemeClr val="tx1"/>
                </a:solidFill>
                <a:latin typeface="Times New Roman" pitchFamily="18" charset="0"/>
              </a:rPr>
              <a:t>p</a:t>
            </a:r>
            <a:r>
              <a:rPr kumimoji="0" lang="en-IN" sz="2400" b="0" i="0" u="none" strike="noStrike" cap="none" normalizeH="0" baseline="0" dirty="0" err="1">
                <a:ln>
                  <a:noFill/>
                </a:ln>
                <a:solidFill>
                  <a:schemeClr val="tx1"/>
                </a:solidFill>
                <a:effectLst/>
                <a:latin typeface="Times New Roman" pitchFamily="18" charset="0"/>
              </a:rPr>
              <a:t>rintf</a:t>
            </a:r>
            <a:r>
              <a:rPr kumimoji="0" lang="en-IN" sz="2400" b="0" i="0" u="none" strike="noStrike" cap="none" normalizeH="0" baseline="0" dirty="0">
                <a:ln>
                  <a:noFill/>
                </a:ln>
                <a:solidFill>
                  <a:schemeClr val="tx1"/>
                </a:solidFill>
                <a:effectLst/>
                <a:latin typeface="Times New Roman" pitchFamily="18" charset="0"/>
              </a:rPr>
              <a:t> (“Element not found”);</a:t>
            </a:r>
          </a:p>
        </p:txBody>
      </p:sp>
    </p:spTree>
    <p:extLst>
      <p:ext uri="{BB962C8B-B14F-4D97-AF65-F5344CB8AC3E}">
        <p14:creationId xmlns:p14="http://schemas.microsoft.com/office/powerpoint/2010/main" val="2852666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Operations</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r>
              <a:rPr lang="en-IN" dirty="0"/>
              <a:t>Traversal</a:t>
            </a:r>
          </a:p>
          <a:p>
            <a:r>
              <a:rPr lang="en-IN" dirty="0"/>
              <a:t>Search</a:t>
            </a:r>
          </a:p>
          <a:p>
            <a:r>
              <a:rPr lang="en-IN" b="1" dirty="0"/>
              <a:t>Insertion</a:t>
            </a:r>
          </a:p>
          <a:p>
            <a:r>
              <a:rPr lang="en-IN" dirty="0"/>
              <a:t>Deletion</a:t>
            </a:r>
          </a:p>
          <a:p>
            <a:r>
              <a:rPr lang="en-IN" dirty="0"/>
              <a:t>Sorting</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11</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nvGraphicFramePr>
        <p:xfrm>
          <a:off x="6283842" y="2372040"/>
          <a:ext cx="854148" cy="2219520"/>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671930" y="1757363"/>
            <a:ext cx="2167270" cy="461665"/>
          </a:xfrm>
          <a:prstGeom prst="rect">
            <a:avLst/>
          </a:prstGeom>
          <a:solidFill>
            <a:schemeClr val="accent3">
              <a:lumMod val="50000"/>
            </a:schemeClr>
          </a:solidFill>
        </p:spPr>
        <p:txBody>
          <a:bodyPr wrap="square" rtlCol="0">
            <a:spAutoFit/>
          </a:bodyPr>
          <a:lstStyle/>
          <a:p>
            <a:r>
              <a:rPr lang="en-IN" dirty="0"/>
              <a:t>     marks</a:t>
            </a:r>
          </a:p>
        </p:txBody>
      </p:sp>
      <p:sp>
        <p:nvSpPr>
          <p:cNvPr id="8" name="Rectangle 7">
            <a:extLst>
              <a:ext uri="{FF2B5EF4-FFF2-40B4-BE49-F238E27FC236}">
                <a16:creationId xmlns:a16="http://schemas.microsoft.com/office/drawing/2014/main" id="{D5648A04-067E-4AB7-8173-682C0A8B7A1F}"/>
              </a:ext>
            </a:extLst>
          </p:cNvPr>
          <p:cNvSpPr/>
          <p:nvPr/>
        </p:nvSpPr>
        <p:spPr bwMode="auto">
          <a:xfrm>
            <a:off x="685800" y="4959766"/>
            <a:ext cx="7979734" cy="860834"/>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Insertion operation can be done sequential or at a particular position. </a:t>
            </a:r>
          </a:p>
        </p:txBody>
      </p:sp>
      <p:sp>
        <p:nvSpPr>
          <p:cNvPr id="21" name="Oval 20">
            <a:extLst>
              <a:ext uri="{FF2B5EF4-FFF2-40B4-BE49-F238E27FC236}">
                <a16:creationId xmlns:a16="http://schemas.microsoft.com/office/drawing/2014/main" id="{D14ED928-6138-477B-8035-A9BA6E63CFEB}"/>
              </a:ext>
            </a:extLst>
          </p:cNvPr>
          <p:cNvSpPr/>
          <p:nvPr/>
        </p:nvSpPr>
        <p:spPr bwMode="auto">
          <a:xfrm>
            <a:off x="1080655" y="3848830"/>
            <a:ext cx="2636322" cy="996302"/>
          </a:xfrm>
          <a:prstGeom prst="ellipse">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Complexity </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t>
            </a:r>
            <a:r>
              <a:rPr lang="en-IN" b="1" dirty="0">
                <a:latin typeface="Times New Roman" pitchFamily="18" charset="0"/>
              </a:rPr>
              <a:t>O(1) </a:t>
            </a:r>
            <a:endParaRPr kumimoji="0" lang="en-IN" sz="2400" b="1" i="0" u="none" strike="noStrike" cap="none" normalizeH="0" baseline="0" dirty="0">
              <a:ln>
                <a:noFill/>
              </a:ln>
              <a:solidFill>
                <a:schemeClr val="tx1"/>
              </a:solidFill>
              <a:effectLst/>
              <a:latin typeface="Times New Roman" pitchFamily="18" charset="0"/>
            </a:endParaRPr>
          </a:p>
        </p:txBody>
      </p:sp>
      <p:cxnSp>
        <p:nvCxnSpPr>
          <p:cNvPr id="10" name="Connector: Elbow 9">
            <a:extLst>
              <a:ext uri="{FF2B5EF4-FFF2-40B4-BE49-F238E27FC236}">
                <a16:creationId xmlns:a16="http://schemas.microsoft.com/office/drawing/2014/main" id="{C377556B-2EB7-40AE-882B-98D7C775C9CD}"/>
              </a:ext>
            </a:extLst>
          </p:cNvPr>
          <p:cNvCxnSpPr>
            <a:cxnSpLocks/>
          </p:cNvCxnSpPr>
          <p:nvPr/>
        </p:nvCxnSpPr>
        <p:spPr bwMode="auto">
          <a:xfrm>
            <a:off x="2472071" y="2219028"/>
            <a:ext cx="3631846" cy="382029"/>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1" name="Rectangle 10">
            <a:extLst>
              <a:ext uri="{FF2B5EF4-FFF2-40B4-BE49-F238E27FC236}">
                <a16:creationId xmlns:a16="http://schemas.microsoft.com/office/drawing/2014/main" id="{601909B1-9733-4CA4-9EEE-206F67BDE8F1}"/>
              </a:ext>
            </a:extLst>
          </p:cNvPr>
          <p:cNvSpPr/>
          <p:nvPr/>
        </p:nvSpPr>
        <p:spPr bwMode="auto">
          <a:xfrm>
            <a:off x="3716977" y="800100"/>
            <a:ext cx="4948557" cy="47542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Adding element to the array</a:t>
            </a:r>
          </a:p>
        </p:txBody>
      </p:sp>
      <p:sp>
        <p:nvSpPr>
          <p:cNvPr id="15" name="Rectangle: Rounded Corners 14">
            <a:extLst>
              <a:ext uri="{FF2B5EF4-FFF2-40B4-BE49-F238E27FC236}">
                <a16:creationId xmlns:a16="http://schemas.microsoft.com/office/drawing/2014/main" id="{36801F73-3D3B-4E33-A13C-D2F2EBF2E645}"/>
              </a:ext>
            </a:extLst>
          </p:cNvPr>
          <p:cNvSpPr/>
          <p:nvPr/>
        </p:nvSpPr>
        <p:spPr bwMode="auto">
          <a:xfrm>
            <a:off x="7452756" y="2392498"/>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25</a:t>
            </a:r>
          </a:p>
        </p:txBody>
      </p:sp>
      <p:cxnSp>
        <p:nvCxnSpPr>
          <p:cNvPr id="23" name="Connector: Elbow 22">
            <a:extLst>
              <a:ext uri="{FF2B5EF4-FFF2-40B4-BE49-F238E27FC236}">
                <a16:creationId xmlns:a16="http://schemas.microsoft.com/office/drawing/2014/main" id="{33DF1C9A-DC65-4AFA-A1E8-70021210D8DF}"/>
              </a:ext>
            </a:extLst>
          </p:cNvPr>
          <p:cNvCxnSpPr>
            <a:cxnSpLocks/>
          </p:cNvCxnSpPr>
          <p:nvPr/>
        </p:nvCxnSpPr>
        <p:spPr bwMode="auto">
          <a:xfrm>
            <a:off x="2624471" y="2371428"/>
            <a:ext cx="3395801" cy="662501"/>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24" name="Rectangle: Rounded Corners 23">
            <a:extLst>
              <a:ext uri="{FF2B5EF4-FFF2-40B4-BE49-F238E27FC236}">
                <a16:creationId xmlns:a16="http://schemas.microsoft.com/office/drawing/2014/main" id="{F5C5FC13-3934-4DA2-B017-9DE23370FAAE}"/>
              </a:ext>
            </a:extLst>
          </p:cNvPr>
          <p:cNvSpPr/>
          <p:nvPr/>
        </p:nvSpPr>
        <p:spPr bwMode="auto">
          <a:xfrm>
            <a:off x="7470593" y="2828152"/>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27</a:t>
            </a:r>
          </a:p>
        </p:txBody>
      </p:sp>
      <p:cxnSp>
        <p:nvCxnSpPr>
          <p:cNvPr id="27" name="Connector: Elbow 26">
            <a:extLst>
              <a:ext uri="{FF2B5EF4-FFF2-40B4-BE49-F238E27FC236}">
                <a16:creationId xmlns:a16="http://schemas.microsoft.com/office/drawing/2014/main" id="{230DF0A6-F60E-47C9-9FC6-F46C11447D58}"/>
              </a:ext>
            </a:extLst>
          </p:cNvPr>
          <p:cNvCxnSpPr>
            <a:cxnSpLocks/>
          </p:cNvCxnSpPr>
          <p:nvPr/>
        </p:nvCxnSpPr>
        <p:spPr bwMode="auto">
          <a:xfrm>
            <a:off x="2776871" y="2523828"/>
            <a:ext cx="3174368" cy="936435"/>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28" name="Rectangle: Rounded Corners 27">
            <a:extLst>
              <a:ext uri="{FF2B5EF4-FFF2-40B4-BE49-F238E27FC236}">
                <a16:creationId xmlns:a16="http://schemas.microsoft.com/office/drawing/2014/main" id="{B523C0A7-DEE0-43CF-9FD6-A8DBEF7D8A21}"/>
              </a:ext>
            </a:extLst>
          </p:cNvPr>
          <p:cNvSpPr/>
          <p:nvPr/>
        </p:nvSpPr>
        <p:spPr bwMode="auto">
          <a:xfrm>
            <a:off x="7452756" y="3286124"/>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cxnSp>
        <p:nvCxnSpPr>
          <p:cNvPr id="29" name="Connector: Elbow 28">
            <a:extLst>
              <a:ext uri="{FF2B5EF4-FFF2-40B4-BE49-F238E27FC236}">
                <a16:creationId xmlns:a16="http://schemas.microsoft.com/office/drawing/2014/main" id="{30478920-EE2A-4B33-A7B3-4BFA0B9AB831}"/>
              </a:ext>
            </a:extLst>
          </p:cNvPr>
          <p:cNvCxnSpPr>
            <a:cxnSpLocks/>
          </p:cNvCxnSpPr>
          <p:nvPr/>
        </p:nvCxnSpPr>
        <p:spPr bwMode="auto">
          <a:xfrm>
            <a:off x="2929271" y="2676228"/>
            <a:ext cx="3021968" cy="1207510"/>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33" name="Rectangle: Rounded Corners 32">
            <a:extLst>
              <a:ext uri="{FF2B5EF4-FFF2-40B4-BE49-F238E27FC236}">
                <a16:creationId xmlns:a16="http://schemas.microsoft.com/office/drawing/2014/main" id="{AC4AADD9-09B5-4B51-8DB5-D8DBF3A2C8D3}"/>
              </a:ext>
            </a:extLst>
          </p:cNvPr>
          <p:cNvSpPr/>
          <p:nvPr/>
        </p:nvSpPr>
        <p:spPr bwMode="auto">
          <a:xfrm>
            <a:off x="7470593" y="3733474"/>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30</a:t>
            </a:r>
            <a:endParaRPr kumimoji="0" lang="en-IN" sz="2400" b="0" i="0" u="none" strike="noStrike" cap="none" normalizeH="0" baseline="0" dirty="0">
              <a:ln>
                <a:noFill/>
              </a:ln>
              <a:solidFill>
                <a:schemeClr val="tx1"/>
              </a:solidFill>
              <a:effectLst/>
              <a:latin typeface="Times New Roman" pitchFamily="18" charset="0"/>
            </a:endParaRPr>
          </a:p>
        </p:txBody>
      </p:sp>
      <p:cxnSp>
        <p:nvCxnSpPr>
          <p:cNvPr id="34" name="Connector: Elbow 33">
            <a:extLst>
              <a:ext uri="{FF2B5EF4-FFF2-40B4-BE49-F238E27FC236}">
                <a16:creationId xmlns:a16="http://schemas.microsoft.com/office/drawing/2014/main" id="{FC15664E-4997-4185-8E12-6CD630BD6946}"/>
              </a:ext>
            </a:extLst>
          </p:cNvPr>
          <p:cNvCxnSpPr>
            <a:cxnSpLocks/>
          </p:cNvCxnSpPr>
          <p:nvPr/>
        </p:nvCxnSpPr>
        <p:spPr bwMode="auto">
          <a:xfrm>
            <a:off x="3081671" y="2828628"/>
            <a:ext cx="2825435" cy="1453074"/>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35" name="Rectangle: Rounded Corners 34">
            <a:extLst>
              <a:ext uri="{FF2B5EF4-FFF2-40B4-BE49-F238E27FC236}">
                <a16:creationId xmlns:a16="http://schemas.microsoft.com/office/drawing/2014/main" id="{34D8ABBB-F9FB-4938-BC6A-F8411805B23C}"/>
              </a:ext>
            </a:extLst>
          </p:cNvPr>
          <p:cNvSpPr/>
          <p:nvPr/>
        </p:nvSpPr>
        <p:spPr bwMode="auto">
          <a:xfrm>
            <a:off x="7470593" y="4151884"/>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37" name="Rectangle 36">
            <a:extLst>
              <a:ext uri="{FF2B5EF4-FFF2-40B4-BE49-F238E27FC236}">
                <a16:creationId xmlns:a16="http://schemas.microsoft.com/office/drawing/2014/main" id="{7EBACD9A-BD3F-4791-A235-5FFDAAEE0596}"/>
              </a:ext>
            </a:extLst>
          </p:cNvPr>
          <p:cNvSpPr/>
          <p:nvPr/>
        </p:nvSpPr>
        <p:spPr bwMode="auto">
          <a:xfrm>
            <a:off x="685800" y="5857335"/>
            <a:ext cx="7979734" cy="860834"/>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In case,</a:t>
            </a:r>
            <a:r>
              <a:rPr kumimoji="0" lang="en-IN" sz="2400" b="0" i="0" u="none" strike="noStrike" cap="none" normalizeH="0" dirty="0">
                <a:ln>
                  <a:noFill/>
                </a:ln>
                <a:solidFill>
                  <a:schemeClr val="tx1"/>
                </a:solidFill>
                <a:effectLst/>
                <a:latin typeface="Times New Roman" pitchFamily="18" charset="0"/>
              </a:rPr>
              <a:t> </a:t>
            </a:r>
            <a:r>
              <a:rPr lang="en-IN" dirty="0">
                <a:latin typeface="Times New Roman" pitchFamily="18" charset="0"/>
              </a:rPr>
              <a:t>the insertion to be done at particular position, the position of the other elements need to be adjusted. </a:t>
            </a:r>
            <a:endParaRPr kumimoji="0" lang="en-IN" sz="2400" b="0" i="0" u="none" strike="noStrike" cap="none" normalizeH="0" baseline="0" dirty="0">
              <a:ln>
                <a:noFill/>
              </a:ln>
              <a:solidFill>
                <a:schemeClr val="tx1"/>
              </a:solidFill>
              <a:effectLst/>
              <a:latin typeface="Times New Roman" pitchFamily="18" charset="0"/>
            </a:endParaRPr>
          </a:p>
        </p:txBody>
      </p:sp>
      <p:sp>
        <p:nvSpPr>
          <p:cNvPr id="38" name="Oval 37">
            <a:extLst>
              <a:ext uri="{FF2B5EF4-FFF2-40B4-BE49-F238E27FC236}">
                <a16:creationId xmlns:a16="http://schemas.microsoft.com/office/drawing/2014/main" id="{97258B39-FCD8-460A-A93F-CC5702F16D25}"/>
              </a:ext>
            </a:extLst>
          </p:cNvPr>
          <p:cNvSpPr/>
          <p:nvPr/>
        </p:nvSpPr>
        <p:spPr bwMode="auto">
          <a:xfrm>
            <a:off x="1080609" y="3845218"/>
            <a:ext cx="2636322" cy="996302"/>
          </a:xfrm>
          <a:prstGeom prst="ellipse">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Complexity </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t>
            </a:r>
            <a:r>
              <a:rPr lang="en-IN" b="1" dirty="0">
                <a:latin typeface="Times New Roman" pitchFamily="18" charset="0"/>
              </a:rPr>
              <a:t>O(n) </a:t>
            </a:r>
            <a:endParaRPr kumimoji="0" lang="en-IN" sz="24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74011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1" grpId="0" animBg="1"/>
      <p:bldP spid="15" grpId="0" animBg="1"/>
      <p:bldP spid="24" grpId="0" animBg="1"/>
      <p:bldP spid="28" grpId="0" animBg="1"/>
      <p:bldP spid="33" grpId="0" animBg="1"/>
      <p:bldP spid="35" grpId="0" animBg="1"/>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Operations</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r>
              <a:rPr lang="en-IN" dirty="0"/>
              <a:t>Traversal</a:t>
            </a:r>
          </a:p>
          <a:p>
            <a:r>
              <a:rPr lang="en-IN" dirty="0"/>
              <a:t>Search</a:t>
            </a:r>
          </a:p>
          <a:p>
            <a:r>
              <a:rPr lang="en-IN" dirty="0"/>
              <a:t>Insertion</a:t>
            </a:r>
          </a:p>
          <a:p>
            <a:r>
              <a:rPr lang="en-IN" b="1" dirty="0"/>
              <a:t>Deletion</a:t>
            </a:r>
          </a:p>
          <a:p>
            <a:r>
              <a:rPr lang="en-IN" dirty="0"/>
              <a:t>Sorting</a:t>
            </a:r>
          </a:p>
          <a:p>
            <a:pPr marL="0" indent="0">
              <a:buNone/>
            </a:pPr>
            <a:endParaRPr lang="en-IN" dirty="0"/>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12</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nvGraphicFramePr>
        <p:xfrm>
          <a:off x="6283842" y="2372040"/>
          <a:ext cx="854148" cy="2219520"/>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710916" y="1864192"/>
            <a:ext cx="2167270" cy="461665"/>
          </a:xfrm>
          <a:prstGeom prst="rect">
            <a:avLst/>
          </a:prstGeom>
          <a:solidFill>
            <a:schemeClr val="accent3">
              <a:lumMod val="50000"/>
            </a:schemeClr>
          </a:solidFill>
        </p:spPr>
        <p:txBody>
          <a:bodyPr wrap="square" rtlCol="0">
            <a:spAutoFit/>
          </a:bodyPr>
          <a:lstStyle/>
          <a:p>
            <a:r>
              <a:rPr lang="en-IN" dirty="0"/>
              <a:t>     marks</a:t>
            </a:r>
          </a:p>
        </p:txBody>
      </p:sp>
      <p:sp>
        <p:nvSpPr>
          <p:cNvPr id="11" name="Rectangle 10">
            <a:extLst>
              <a:ext uri="{FF2B5EF4-FFF2-40B4-BE49-F238E27FC236}">
                <a16:creationId xmlns:a16="http://schemas.microsoft.com/office/drawing/2014/main" id="{601909B1-9733-4CA4-9EEE-206F67BDE8F1}"/>
              </a:ext>
            </a:extLst>
          </p:cNvPr>
          <p:cNvSpPr/>
          <p:nvPr/>
        </p:nvSpPr>
        <p:spPr bwMode="auto">
          <a:xfrm>
            <a:off x="3716977" y="800100"/>
            <a:ext cx="4948557" cy="47542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Deleting</a:t>
            </a:r>
            <a:r>
              <a:rPr kumimoji="0" lang="en-IN" sz="2400" b="0" i="0" u="none" strike="noStrike" cap="none" normalizeH="0" baseline="0" dirty="0">
                <a:ln>
                  <a:noFill/>
                </a:ln>
                <a:solidFill>
                  <a:schemeClr val="tx1"/>
                </a:solidFill>
                <a:effectLst/>
                <a:latin typeface="Times New Roman" pitchFamily="18" charset="0"/>
              </a:rPr>
              <a:t> element from the array</a:t>
            </a:r>
          </a:p>
        </p:txBody>
      </p:sp>
      <p:sp>
        <p:nvSpPr>
          <p:cNvPr id="15" name="Rectangle: Rounded Corners 14">
            <a:extLst>
              <a:ext uri="{FF2B5EF4-FFF2-40B4-BE49-F238E27FC236}">
                <a16:creationId xmlns:a16="http://schemas.microsoft.com/office/drawing/2014/main" id="{36801F73-3D3B-4E33-A13C-D2F2EBF2E645}"/>
              </a:ext>
            </a:extLst>
          </p:cNvPr>
          <p:cNvSpPr/>
          <p:nvPr/>
        </p:nvSpPr>
        <p:spPr bwMode="auto">
          <a:xfrm>
            <a:off x="7452756" y="2392498"/>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25</a:t>
            </a:r>
          </a:p>
        </p:txBody>
      </p:sp>
      <p:sp>
        <p:nvSpPr>
          <p:cNvPr id="24" name="Rectangle: Rounded Corners 23">
            <a:extLst>
              <a:ext uri="{FF2B5EF4-FFF2-40B4-BE49-F238E27FC236}">
                <a16:creationId xmlns:a16="http://schemas.microsoft.com/office/drawing/2014/main" id="{F5C5FC13-3934-4DA2-B017-9DE23370FAAE}"/>
              </a:ext>
            </a:extLst>
          </p:cNvPr>
          <p:cNvSpPr/>
          <p:nvPr/>
        </p:nvSpPr>
        <p:spPr bwMode="auto">
          <a:xfrm>
            <a:off x="7470593" y="2828152"/>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27</a:t>
            </a:r>
          </a:p>
        </p:txBody>
      </p:sp>
      <p:sp>
        <p:nvSpPr>
          <p:cNvPr id="28" name="Rectangle: Rounded Corners 27">
            <a:extLst>
              <a:ext uri="{FF2B5EF4-FFF2-40B4-BE49-F238E27FC236}">
                <a16:creationId xmlns:a16="http://schemas.microsoft.com/office/drawing/2014/main" id="{B523C0A7-DEE0-43CF-9FD6-A8DBEF7D8A21}"/>
              </a:ext>
            </a:extLst>
          </p:cNvPr>
          <p:cNvSpPr/>
          <p:nvPr/>
        </p:nvSpPr>
        <p:spPr bwMode="auto">
          <a:xfrm>
            <a:off x="7452756" y="3250907"/>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33" name="Rectangle: Rounded Corners 32">
            <a:extLst>
              <a:ext uri="{FF2B5EF4-FFF2-40B4-BE49-F238E27FC236}">
                <a16:creationId xmlns:a16="http://schemas.microsoft.com/office/drawing/2014/main" id="{AC4AADD9-09B5-4B51-8DB5-D8DBF3A2C8D3}"/>
              </a:ext>
            </a:extLst>
          </p:cNvPr>
          <p:cNvSpPr/>
          <p:nvPr/>
        </p:nvSpPr>
        <p:spPr bwMode="auto">
          <a:xfrm>
            <a:off x="7470593" y="3733474"/>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30</a:t>
            </a:r>
            <a:endParaRPr kumimoji="0" lang="en-IN" sz="2400" b="0" i="0" u="none" strike="noStrike" cap="none" normalizeH="0" baseline="0" dirty="0">
              <a:ln>
                <a:noFill/>
              </a:ln>
              <a:solidFill>
                <a:schemeClr val="tx1"/>
              </a:solidFill>
              <a:effectLst/>
              <a:latin typeface="Times New Roman" pitchFamily="18" charset="0"/>
            </a:endParaRPr>
          </a:p>
        </p:txBody>
      </p:sp>
      <p:sp>
        <p:nvSpPr>
          <p:cNvPr id="35" name="Rectangle: Rounded Corners 34">
            <a:extLst>
              <a:ext uri="{FF2B5EF4-FFF2-40B4-BE49-F238E27FC236}">
                <a16:creationId xmlns:a16="http://schemas.microsoft.com/office/drawing/2014/main" id="{34D8ABBB-F9FB-4938-BC6A-F8411805B23C}"/>
              </a:ext>
            </a:extLst>
          </p:cNvPr>
          <p:cNvSpPr/>
          <p:nvPr/>
        </p:nvSpPr>
        <p:spPr bwMode="auto">
          <a:xfrm>
            <a:off x="7470593" y="4146647"/>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37" name="Rectangle 36">
            <a:extLst>
              <a:ext uri="{FF2B5EF4-FFF2-40B4-BE49-F238E27FC236}">
                <a16:creationId xmlns:a16="http://schemas.microsoft.com/office/drawing/2014/main" id="{7EBACD9A-BD3F-4791-A235-5FFDAAEE0596}"/>
              </a:ext>
            </a:extLst>
          </p:cNvPr>
          <p:cNvSpPr/>
          <p:nvPr/>
        </p:nvSpPr>
        <p:spPr bwMode="auto">
          <a:xfrm>
            <a:off x="786259" y="5405304"/>
            <a:ext cx="7979734" cy="860834"/>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Deletion to be done at particular position, the position of the other elements need to be adjusted. </a:t>
            </a:r>
            <a:endParaRPr kumimoji="0" lang="en-IN" sz="2400" b="0" i="0" u="none" strike="noStrike" cap="none" normalizeH="0" baseline="0" dirty="0">
              <a:ln>
                <a:noFill/>
              </a:ln>
              <a:solidFill>
                <a:schemeClr val="tx1"/>
              </a:solidFill>
              <a:effectLst/>
              <a:latin typeface="Times New Roman" pitchFamily="18" charset="0"/>
            </a:endParaRPr>
          </a:p>
        </p:txBody>
      </p:sp>
      <p:sp>
        <p:nvSpPr>
          <p:cNvPr id="38" name="Oval 37">
            <a:extLst>
              <a:ext uri="{FF2B5EF4-FFF2-40B4-BE49-F238E27FC236}">
                <a16:creationId xmlns:a16="http://schemas.microsoft.com/office/drawing/2014/main" id="{97258B39-FCD8-460A-A93F-CC5702F16D25}"/>
              </a:ext>
            </a:extLst>
          </p:cNvPr>
          <p:cNvSpPr/>
          <p:nvPr/>
        </p:nvSpPr>
        <p:spPr bwMode="auto">
          <a:xfrm>
            <a:off x="961949" y="4043204"/>
            <a:ext cx="2636322" cy="996302"/>
          </a:xfrm>
          <a:prstGeom prst="ellipse">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Complexity </a:t>
            </a:r>
          </a:p>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t>
            </a:r>
            <a:r>
              <a:rPr lang="en-IN" b="1" dirty="0">
                <a:latin typeface="Times New Roman" pitchFamily="18" charset="0"/>
              </a:rPr>
              <a:t>O(n) </a:t>
            </a:r>
            <a:endParaRPr kumimoji="0" lang="en-IN" sz="2400" b="1" i="0" u="none" strike="noStrike" cap="none" normalizeH="0" baseline="0" dirty="0">
              <a:ln>
                <a:noFill/>
              </a:ln>
              <a:solidFill>
                <a:schemeClr val="tx1"/>
              </a:solidFill>
              <a:effectLst/>
              <a:latin typeface="Times New Roman" pitchFamily="18" charset="0"/>
            </a:endParaRPr>
          </a:p>
        </p:txBody>
      </p:sp>
      <p:cxnSp>
        <p:nvCxnSpPr>
          <p:cNvPr id="6" name="Connector: Elbow 5">
            <a:extLst>
              <a:ext uri="{FF2B5EF4-FFF2-40B4-BE49-F238E27FC236}">
                <a16:creationId xmlns:a16="http://schemas.microsoft.com/office/drawing/2014/main" id="{E9550442-46A2-4510-9320-48C167215AE0}"/>
              </a:ext>
            </a:extLst>
          </p:cNvPr>
          <p:cNvCxnSpPr>
            <a:cxnSpLocks/>
          </p:cNvCxnSpPr>
          <p:nvPr/>
        </p:nvCxnSpPr>
        <p:spPr bwMode="auto">
          <a:xfrm>
            <a:off x="2422566" y="2587233"/>
            <a:ext cx="3631847" cy="435654"/>
          </a:xfrm>
          <a:prstGeom prst="bentConnector3">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B66B18B2-B9A2-4614-BEC7-13A5927C148E}"/>
              </a:ext>
            </a:extLst>
          </p:cNvPr>
          <p:cNvSpPr/>
          <p:nvPr/>
        </p:nvSpPr>
        <p:spPr bwMode="auto">
          <a:xfrm>
            <a:off x="4441371" y="2521137"/>
            <a:ext cx="1389413" cy="435654"/>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Marks[1]</a:t>
            </a:r>
          </a:p>
        </p:txBody>
      </p:sp>
    </p:spTree>
    <p:extLst>
      <p:ext uri="{BB962C8B-B14F-4D97-AF65-F5344CB8AC3E}">
        <p14:creationId xmlns:p14="http://schemas.microsoft.com/office/powerpoint/2010/main" val="9959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grpId="0" nodeType="clickEffect">
                                  <p:stCondLst>
                                    <p:cond delay="0"/>
                                  </p:stCondLst>
                                  <p:childTnLst>
                                    <p:animEffect transition="out" filter="blinds(horizontal)">
                                      <p:cBhvr>
                                        <p:cTn id="20" dur="500"/>
                                        <p:tgtEl>
                                          <p:spTgt spid="24"/>
                                        </p:tgtEl>
                                      </p:cBhvr>
                                    </p:animEffect>
                                    <p:set>
                                      <p:cBhvr>
                                        <p:cTn id="21" dur="1" fill="hold">
                                          <p:stCondLst>
                                            <p:cond delay="499"/>
                                          </p:stCondLst>
                                        </p:cTn>
                                        <p:tgtEl>
                                          <p:spTgt spid="2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64" presetClass="path" presetSubtype="0" accel="50000" decel="50000" fill="hold" grpId="0" nodeType="clickEffect">
                                  <p:stCondLst>
                                    <p:cond delay="0"/>
                                  </p:stCondLst>
                                  <p:childTnLst>
                                    <p:animMotion origin="layout" path="M -4.16667E-6 -6.59195E-17 L 0.00121 -0.0699 " pathEditMode="relative" rAng="0" ptsTypes="AA">
                                      <p:cBhvr>
                                        <p:cTn id="25" dur="2000" fill="hold"/>
                                        <p:tgtEl>
                                          <p:spTgt spid="28"/>
                                        </p:tgtEl>
                                        <p:attrNameLst>
                                          <p:attrName>ppt_x</p:attrName>
                                          <p:attrName>ppt_y</p:attrName>
                                        </p:attrNameLst>
                                      </p:cBhvr>
                                      <p:rCtr x="-17" y="-3380"/>
                                    </p:animMotion>
                                  </p:childTnLst>
                                </p:cTn>
                              </p:par>
                            </p:childTnLst>
                          </p:cTn>
                        </p:par>
                      </p:childTnLst>
                    </p:cTn>
                  </p:par>
                  <p:par>
                    <p:cTn id="26" fill="hold">
                      <p:stCondLst>
                        <p:cond delay="indefinite"/>
                      </p:stCondLst>
                      <p:childTnLst>
                        <p:par>
                          <p:cTn id="27" fill="hold">
                            <p:stCondLst>
                              <p:cond delay="0"/>
                            </p:stCondLst>
                            <p:childTnLst>
                              <p:par>
                                <p:cTn id="28" presetID="64" presetClass="path" presetSubtype="0" accel="50000" decel="50000" fill="hold" grpId="0" nodeType="clickEffect">
                                  <p:stCondLst>
                                    <p:cond delay="0"/>
                                  </p:stCondLst>
                                  <p:childTnLst>
                                    <p:animMotion origin="layout" path="M -0.0019 -0.00348 L -0.00191 -0.07037 " pathEditMode="relative" rAng="0" ptsTypes="AA">
                                      <p:cBhvr>
                                        <p:cTn id="29" dur="2000" fill="hold"/>
                                        <p:tgtEl>
                                          <p:spTgt spid="33"/>
                                        </p:tgtEl>
                                        <p:attrNameLst>
                                          <p:attrName>ppt_x</p:attrName>
                                          <p:attrName>ppt_y</p:attrName>
                                        </p:attrNameLst>
                                      </p:cBhvr>
                                      <p:rCtr x="69" y="-3032"/>
                                    </p:animMotion>
                                  </p:childTnLst>
                                </p:cTn>
                              </p:par>
                            </p:childTnLst>
                          </p:cTn>
                        </p:par>
                      </p:childTnLst>
                    </p:cTn>
                  </p:par>
                  <p:par>
                    <p:cTn id="30" fill="hold">
                      <p:stCondLst>
                        <p:cond delay="indefinite"/>
                      </p:stCondLst>
                      <p:childTnLst>
                        <p:par>
                          <p:cTn id="31" fill="hold">
                            <p:stCondLst>
                              <p:cond delay="0"/>
                            </p:stCondLst>
                            <p:childTnLst>
                              <p:par>
                                <p:cTn id="32" presetID="64" presetClass="path" presetSubtype="0" accel="50000" decel="50000" fill="hold" grpId="0" nodeType="clickEffect">
                                  <p:stCondLst>
                                    <p:cond delay="0"/>
                                  </p:stCondLst>
                                  <p:childTnLst>
                                    <p:animMotion origin="layout" path="M -0.00173 -0.00255 L -0.00191 -0.06366 " pathEditMode="relative" rAng="0" ptsTypes="AA">
                                      <p:cBhvr>
                                        <p:cTn id="33" dur="2000" fill="hold"/>
                                        <p:tgtEl>
                                          <p:spTgt spid="35"/>
                                        </p:tgtEl>
                                        <p:attrNameLst>
                                          <p:attrName>ppt_x</p:attrName>
                                          <p:attrName>ppt_y</p:attrName>
                                        </p:attrNameLst>
                                      </p:cBhvr>
                                      <p:rCtr x="313" y="41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33" grpId="0" animBg="1"/>
      <p:bldP spid="35" grpId="0" animBg="1"/>
      <p:bldP spid="37" grpId="0" animBg="1"/>
      <p:bldP spid="38"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E66F-2C93-425E-9290-5479D8281625}"/>
              </a:ext>
            </a:extLst>
          </p:cNvPr>
          <p:cNvSpPr>
            <a:spLocks noGrp="1"/>
          </p:cNvSpPr>
          <p:nvPr>
            <p:ph type="title"/>
          </p:nvPr>
        </p:nvSpPr>
        <p:spPr/>
        <p:txBody>
          <a:bodyPr/>
          <a:lstStyle/>
          <a:p>
            <a:r>
              <a:rPr lang="en-IN" dirty="0"/>
              <a:t>Operations</a:t>
            </a:r>
          </a:p>
        </p:txBody>
      </p:sp>
      <p:sp>
        <p:nvSpPr>
          <p:cNvPr id="3" name="Content Placeholder 2">
            <a:extLst>
              <a:ext uri="{FF2B5EF4-FFF2-40B4-BE49-F238E27FC236}">
                <a16:creationId xmlns:a16="http://schemas.microsoft.com/office/drawing/2014/main" id="{F2D644F0-B4CE-4A54-B1D3-FD32F02D9EEE}"/>
              </a:ext>
            </a:extLst>
          </p:cNvPr>
          <p:cNvSpPr>
            <a:spLocks noGrp="1"/>
          </p:cNvSpPr>
          <p:nvPr>
            <p:ph idx="1"/>
          </p:nvPr>
        </p:nvSpPr>
        <p:spPr/>
        <p:txBody>
          <a:bodyPr/>
          <a:lstStyle/>
          <a:p>
            <a:r>
              <a:rPr lang="en-IN" dirty="0"/>
              <a:t>Traversal</a:t>
            </a:r>
          </a:p>
          <a:p>
            <a:r>
              <a:rPr lang="en-IN" dirty="0"/>
              <a:t>Search</a:t>
            </a:r>
          </a:p>
          <a:p>
            <a:r>
              <a:rPr lang="en-IN" dirty="0"/>
              <a:t>Insertion</a:t>
            </a:r>
          </a:p>
          <a:p>
            <a:r>
              <a:rPr lang="en-IN" dirty="0"/>
              <a:t>Deletion</a:t>
            </a:r>
          </a:p>
          <a:p>
            <a:r>
              <a:rPr lang="en-IN" b="1" dirty="0"/>
              <a:t>Sorting</a:t>
            </a:r>
          </a:p>
        </p:txBody>
      </p:sp>
      <p:sp>
        <p:nvSpPr>
          <p:cNvPr id="4" name="Slide Number Placeholder 3">
            <a:extLst>
              <a:ext uri="{FF2B5EF4-FFF2-40B4-BE49-F238E27FC236}">
                <a16:creationId xmlns:a16="http://schemas.microsoft.com/office/drawing/2014/main" id="{8F07F88C-3F5B-4C40-B8B4-3A338999293C}"/>
              </a:ext>
            </a:extLst>
          </p:cNvPr>
          <p:cNvSpPr>
            <a:spLocks noGrp="1"/>
          </p:cNvSpPr>
          <p:nvPr>
            <p:ph type="sldNum" sz="quarter" idx="10"/>
          </p:nvPr>
        </p:nvSpPr>
        <p:spPr/>
        <p:txBody>
          <a:bodyPr/>
          <a:lstStyle/>
          <a:p>
            <a:pPr>
              <a:defRPr/>
            </a:pPr>
            <a:fld id="{D5FB1F5F-4B7D-40FE-AE87-C9C750581EC7}" type="slidenum">
              <a:rPr lang="en-US" smtClean="0"/>
              <a:pPr>
                <a:defRPr/>
              </a:pPr>
              <a:t>13</a:t>
            </a:fld>
            <a:endParaRPr lang="en-US" b="0" dirty="0">
              <a:latin typeface="Times New Roman" pitchFamily="18" charset="0"/>
            </a:endParaRPr>
          </a:p>
        </p:txBody>
      </p:sp>
      <p:graphicFrame>
        <p:nvGraphicFramePr>
          <p:cNvPr id="7" name="Table 7">
            <a:extLst>
              <a:ext uri="{FF2B5EF4-FFF2-40B4-BE49-F238E27FC236}">
                <a16:creationId xmlns:a16="http://schemas.microsoft.com/office/drawing/2014/main" id="{A2B40A79-998F-4CDF-B88D-9BB71A188302}"/>
              </a:ext>
            </a:extLst>
          </p:cNvPr>
          <p:cNvGraphicFramePr>
            <a:graphicFrameLocks noGrp="1"/>
          </p:cNvGraphicFramePr>
          <p:nvPr/>
        </p:nvGraphicFramePr>
        <p:xfrm>
          <a:off x="6283842" y="2372040"/>
          <a:ext cx="854148" cy="2219520"/>
        </p:xfrm>
        <a:graphic>
          <a:graphicData uri="http://schemas.openxmlformats.org/drawingml/2006/table">
            <a:tbl>
              <a:tblPr firstRow="1" bandRow="1">
                <a:tableStyleId>{5C22544A-7EE6-4342-B048-85BDC9FD1C3A}</a:tableStyleId>
              </a:tblPr>
              <a:tblGrid>
                <a:gridCol w="854148">
                  <a:extLst>
                    <a:ext uri="{9D8B030D-6E8A-4147-A177-3AD203B41FA5}">
                      <a16:colId xmlns:a16="http://schemas.microsoft.com/office/drawing/2014/main" val="1550962167"/>
                    </a:ext>
                  </a:extLst>
                </a:gridCol>
              </a:tblGrid>
              <a:tr h="443904">
                <a:tc>
                  <a:txBody>
                    <a:bodyPr/>
                    <a:lstStyle/>
                    <a:p>
                      <a:r>
                        <a:rPr lang="en-IN" b="0" dirty="0">
                          <a:solidFill>
                            <a:schemeClr val="tx1"/>
                          </a:solidFill>
                        </a:rPr>
                        <a:t>     [0]</a:t>
                      </a:r>
                    </a:p>
                  </a:txBody>
                  <a:tcPr>
                    <a:noFill/>
                  </a:tcPr>
                </a:tc>
                <a:extLst>
                  <a:ext uri="{0D108BD9-81ED-4DB2-BD59-A6C34878D82A}">
                    <a16:rowId xmlns:a16="http://schemas.microsoft.com/office/drawing/2014/main" val="1531105938"/>
                  </a:ext>
                </a:extLst>
              </a:tr>
              <a:tr h="443904">
                <a:tc>
                  <a:txBody>
                    <a:bodyPr/>
                    <a:lstStyle/>
                    <a:p>
                      <a:r>
                        <a:rPr lang="en-IN" dirty="0"/>
                        <a:t>     [1]</a:t>
                      </a:r>
                    </a:p>
                  </a:txBody>
                  <a:tcPr>
                    <a:noFill/>
                  </a:tcPr>
                </a:tc>
                <a:extLst>
                  <a:ext uri="{0D108BD9-81ED-4DB2-BD59-A6C34878D82A}">
                    <a16:rowId xmlns:a16="http://schemas.microsoft.com/office/drawing/2014/main" val="1771576885"/>
                  </a:ext>
                </a:extLst>
              </a:tr>
              <a:tr h="443904">
                <a:tc>
                  <a:txBody>
                    <a:bodyPr/>
                    <a:lstStyle/>
                    <a:p>
                      <a:r>
                        <a:rPr lang="en-IN" dirty="0"/>
                        <a:t>     [2]</a:t>
                      </a:r>
                    </a:p>
                  </a:txBody>
                  <a:tcPr>
                    <a:noFill/>
                  </a:tcPr>
                </a:tc>
                <a:extLst>
                  <a:ext uri="{0D108BD9-81ED-4DB2-BD59-A6C34878D82A}">
                    <a16:rowId xmlns:a16="http://schemas.microsoft.com/office/drawing/2014/main" val="150265111"/>
                  </a:ext>
                </a:extLst>
              </a:tr>
              <a:tr h="443904">
                <a:tc>
                  <a:txBody>
                    <a:bodyPr/>
                    <a:lstStyle/>
                    <a:p>
                      <a:r>
                        <a:rPr lang="en-IN" dirty="0"/>
                        <a:t>     [3]</a:t>
                      </a:r>
                    </a:p>
                  </a:txBody>
                  <a:tcPr>
                    <a:noFill/>
                  </a:tcPr>
                </a:tc>
                <a:extLst>
                  <a:ext uri="{0D108BD9-81ED-4DB2-BD59-A6C34878D82A}">
                    <a16:rowId xmlns:a16="http://schemas.microsoft.com/office/drawing/2014/main" val="4281331626"/>
                  </a:ext>
                </a:extLst>
              </a:tr>
              <a:tr h="443904">
                <a:tc>
                  <a:txBody>
                    <a:bodyPr/>
                    <a:lstStyle/>
                    <a:p>
                      <a:r>
                        <a:rPr lang="en-IN" dirty="0"/>
                        <a:t>     [4]</a:t>
                      </a:r>
                    </a:p>
                  </a:txBody>
                  <a:tcPr>
                    <a:noFill/>
                  </a:tcPr>
                </a:tc>
                <a:extLst>
                  <a:ext uri="{0D108BD9-81ED-4DB2-BD59-A6C34878D82A}">
                    <a16:rowId xmlns:a16="http://schemas.microsoft.com/office/drawing/2014/main" val="3707931503"/>
                  </a:ext>
                </a:extLst>
              </a:tr>
            </a:tbl>
          </a:graphicData>
        </a:graphic>
      </p:graphicFrame>
      <p:sp>
        <p:nvSpPr>
          <p:cNvPr id="18" name="TextBox 17">
            <a:extLst>
              <a:ext uri="{FF2B5EF4-FFF2-40B4-BE49-F238E27FC236}">
                <a16:creationId xmlns:a16="http://schemas.microsoft.com/office/drawing/2014/main" id="{F1324ADC-F161-4679-8643-B824F876B9CB}"/>
              </a:ext>
            </a:extLst>
          </p:cNvPr>
          <p:cNvSpPr txBox="1"/>
          <p:nvPr/>
        </p:nvSpPr>
        <p:spPr>
          <a:xfrm>
            <a:off x="6710916" y="1864192"/>
            <a:ext cx="2167270" cy="461665"/>
          </a:xfrm>
          <a:prstGeom prst="rect">
            <a:avLst/>
          </a:prstGeom>
          <a:solidFill>
            <a:schemeClr val="accent3">
              <a:lumMod val="50000"/>
            </a:schemeClr>
          </a:solidFill>
        </p:spPr>
        <p:txBody>
          <a:bodyPr wrap="square" rtlCol="0">
            <a:spAutoFit/>
          </a:bodyPr>
          <a:lstStyle/>
          <a:p>
            <a:r>
              <a:rPr lang="en-IN" dirty="0"/>
              <a:t>     marks</a:t>
            </a:r>
          </a:p>
        </p:txBody>
      </p:sp>
      <p:sp>
        <p:nvSpPr>
          <p:cNvPr id="11" name="Rectangle 10">
            <a:extLst>
              <a:ext uri="{FF2B5EF4-FFF2-40B4-BE49-F238E27FC236}">
                <a16:creationId xmlns:a16="http://schemas.microsoft.com/office/drawing/2014/main" id="{601909B1-9733-4CA4-9EEE-206F67BDE8F1}"/>
              </a:ext>
            </a:extLst>
          </p:cNvPr>
          <p:cNvSpPr/>
          <p:nvPr/>
        </p:nvSpPr>
        <p:spPr bwMode="auto">
          <a:xfrm>
            <a:off x="2992583" y="800100"/>
            <a:ext cx="5672952" cy="752422"/>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Rearranging the elements in ascending or descending order</a:t>
            </a:r>
            <a:endParaRPr kumimoji="0" lang="en-IN" sz="2400" b="0" i="0" u="none" strike="noStrike" cap="none" normalizeH="0" baseline="0" dirty="0">
              <a:ln>
                <a:noFill/>
              </a:ln>
              <a:solidFill>
                <a:schemeClr val="tx1"/>
              </a:solidFill>
              <a:effectLst/>
              <a:latin typeface="Times New Roman" pitchFamily="18" charset="0"/>
            </a:endParaRPr>
          </a:p>
        </p:txBody>
      </p:sp>
      <p:sp>
        <p:nvSpPr>
          <p:cNvPr id="15" name="Rectangle: Rounded Corners 14">
            <a:extLst>
              <a:ext uri="{FF2B5EF4-FFF2-40B4-BE49-F238E27FC236}">
                <a16:creationId xmlns:a16="http://schemas.microsoft.com/office/drawing/2014/main" id="{36801F73-3D3B-4E33-A13C-D2F2EBF2E645}"/>
              </a:ext>
            </a:extLst>
          </p:cNvPr>
          <p:cNvSpPr/>
          <p:nvPr/>
        </p:nvSpPr>
        <p:spPr bwMode="auto">
          <a:xfrm>
            <a:off x="7452756" y="2392498"/>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25</a:t>
            </a:r>
          </a:p>
        </p:txBody>
      </p:sp>
      <p:sp>
        <p:nvSpPr>
          <p:cNvPr id="24" name="Rectangle: Rounded Corners 23">
            <a:extLst>
              <a:ext uri="{FF2B5EF4-FFF2-40B4-BE49-F238E27FC236}">
                <a16:creationId xmlns:a16="http://schemas.microsoft.com/office/drawing/2014/main" id="{F5C5FC13-3934-4DA2-B017-9DE23370FAAE}"/>
              </a:ext>
            </a:extLst>
          </p:cNvPr>
          <p:cNvSpPr/>
          <p:nvPr/>
        </p:nvSpPr>
        <p:spPr bwMode="auto">
          <a:xfrm>
            <a:off x="7470593" y="2828152"/>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27</a:t>
            </a:r>
          </a:p>
        </p:txBody>
      </p:sp>
      <p:sp>
        <p:nvSpPr>
          <p:cNvPr id="28" name="Rectangle: Rounded Corners 27">
            <a:extLst>
              <a:ext uri="{FF2B5EF4-FFF2-40B4-BE49-F238E27FC236}">
                <a16:creationId xmlns:a16="http://schemas.microsoft.com/office/drawing/2014/main" id="{B523C0A7-DEE0-43CF-9FD6-A8DBEF7D8A21}"/>
              </a:ext>
            </a:extLst>
          </p:cNvPr>
          <p:cNvSpPr/>
          <p:nvPr/>
        </p:nvSpPr>
        <p:spPr bwMode="auto">
          <a:xfrm>
            <a:off x="7452756" y="3250907"/>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33" name="Rectangle: Rounded Corners 32">
            <a:extLst>
              <a:ext uri="{FF2B5EF4-FFF2-40B4-BE49-F238E27FC236}">
                <a16:creationId xmlns:a16="http://schemas.microsoft.com/office/drawing/2014/main" id="{AC4AADD9-09B5-4B51-8DB5-D8DBF3A2C8D3}"/>
              </a:ext>
            </a:extLst>
          </p:cNvPr>
          <p:cNvSpPr/>
          <p:nvPr/>
        </p:nvSpPr>
        <p:spPr bwMode="auto">
          <a:xfrm>
            <a:off x="7470593" y="3733474"/>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solidFill>
                  <a:schemeClr val="tx1"/>
                </a:solidFill>
                <a:latin typeface="Times New Roman" pitchFamily="18" charset="0"/>
              </a:rPr>
              <a:t>30</a:t>
            </a:r>
            <a:endParaRPr kumimoji="0" lang="en-IN" sz="2400" b="0" i="0" u="none" strike="noStrike" cap="none" normalizeH="0" baseline="0" dirty="0">
              <a:ln>
                <a:noFill/>
              </a:ln>
              <a:solidFill>
                <a:schemeClr val="tx1"/>
              </a:solidFill>
              <a:effectLst/>
              <a:latin typeface="Times New Roman" pitchFamily="18" charset="0"/>
            </a:endParaRPr>
          </a:p>
        </p:txBody>
      </p:sp>
      <p:sp>
        <p:nvSpPr>
          <p:cNvPr id="35" name="Rectangle: Rounded Corners 34">
            <a:extLst>
              <a:ext uri="{FF2B5EF4-FFF2-40B4-BE49-F238E27FC236}">
                <a16:creationId xmlns:a16="http://schemas.microsoft.com/office/drawing/2014/main" id="{34D8ABBB-F9FB-4938-BC6A-F8411805B23C}"/>
              </a:ext>
            </a:extLst>
          </p:cNvPr>
          <p:cNvSpPr/>
          <p:nvPr/>
        </p:nvSpPr>
        <p:spPr bwMode="auto">
          <a:xfrm>
            <a:off x="7470593" y="4146647"/>
            <a:ext cx="1005444" cy="389471"/>
          </a:xfrm>
          <a:prstGeom prst="round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IN" sz="2400" b="0" i="0" u="none" strike="noStrike" cap="none" normalizeH="0" baseline="0" dirty="0">
                <a:ln>
                  <a:noFill/>
                </a:ln>
                <a:solidFill>
                  <a:schemeClr val="tx1"/>
                </a:solidFill>
                <a:effectLst/>
                <a:latin typeface="Times New Roman" pitchFamily="18" charset="0"/>
              </a:rPr>
              <a:t>29</a:t>
            </a:r>
          </a:p>
        </p:txBody>
      </p:sp>
      <p:sp>
        <p:nvSpPr>
          <p:cNvPr id="37" name="Rectangle 36">
            <a:extLst>
              <a:ext uri="{FF2B5EF4-FFF2-40B4-BE49-F238E27FC236}">
                <a16:creationId xmlns:a16="http://schemas.microsoft.com/office/drawing/2014/main" id="{7EBACD9A-BD3F-4791-A235-5FFDAAEE0596}"/>
              </a:ext>
            </a:extLst>
          </p:cNvPr>
          <p:cNvSpPr/>
          <p:nvPr/>
        </p:nvSpPr>
        <p:spPr bwMode="auto">
          <a:xfrm>
            <a:off x="726559" y="4709259"/>
            <a:ext cx="7979734" cy="65259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Many Sorting algorithms are used to sort array elements. </a:t>
            </a:r>
            <a:endParaRPr kumimoji="0" lang="en-IN" sz="2400" b="0" i="0" u="none" strike="noStrike" cap="none" normalizeH="0" baseline="0" dirty="0">
              <a:ln>
                <a:noFill/>
              </a:ln>
              <a:solidFill>
                <a:schemeClr val="tx1"/>
              </a:solidFill>
              <a:effectLst/>
              <a:latin typeface="Times New Roman" pitchFamily="18" charset="0"/>
            </a:endParaRPr>
          </a:p>
        </p:txBody>
      </p:sp>
      <p:cxnSp>
        <p:nvCxnSpPr>
          <p:cNvPr id="6" name="Connector: Elbow 5">
            <a:extLst>
              <a:ext uri="{FF2B5EF4-FFF2-40B4-BE49-F238E27FC236}">
                <a16:creationId xmlns:a16="http://schemas.microsoft.com/office/drawing/2014/main" id="{E9550442-46A2-4510-9320-48C167215AE0}"/>
              </a:ext>
            </a:extLst>
          </p:cNvPr>
          <p:cNvCxnSpPr>
            <a:cxnSpLocks/>
          </p:cNvCxnSpPr>
          <p:nvPr/>
        </p:nvCxnSpPr>
        <p:spPr bwMode="auto">
          <a:xfrm>
            <a:off x="2425466" y="3082542"/>
            <a:ext cx="3631847" cy="435654"/>
          </a:xfrm>
          <a:prstGeom prst="bentConnector3">
            <a:avLst/>
          </a:prstGeom>
          <a:solidFill>
            <a:schemeClr val="accent1"/>
          </a:solidFill>
          <a:ln w="9525" cap="flat" cmpd="sng" algn="ctr">
            <a:solidFill>
              <a:schemeClr val="tx1"/>
            </a:solidFill>
            <a:prstDash val="solid"/>
            <a:round/>
            <a:headEnd type="none" w="med" len="med"/>
            <a:tailEnd type="triangle"/>
          </a:ln>
          <a:effectLst/>
        </p:spPr>
      </p:cxnSp>
      <p:graphicFrame>
        <p:nvGraphicFramePr>
          <p:cNvPr id="5" name="Table 7">
            <a:extLst>
              <a:ext uri="{FF2B5EF4-FFF2-40B4-BE49-F238E27FC236}">
                <a16:creationId xmlns:a16="http://schemas.microsoft.com/office/drawing/2014/main" id="{175F848D-CBE0-48BC-8D88-23656C36EF8B}"/>
              </a:ext>
            </a:extLst>
          </p:cNvPr>
          <p:cNvGraphicFramePr>
            <a:graphicFrameLocks noGrp="1"/>
          </p:cNvGraphicFramePr>
          <p:nvPr>
            <p:extLst>
              <p:ext uri="{D42A27DB-BD31-4B8C-83A1-F6EECF244321}">
                <p14:modId xmlns:p14="http://schemas.microsoft.com/office/powerpoint/2010/main" val="937873889"/>
              </p:ext>
            </p:extLst>
          </p:nvPr>
        </p:nvGraphicFramePr>
        <p:xfrm>
          <a:off x="7452755" y="2392398"/>
          <a:ext cx="1005445" cy="2142920"/>
        </p:xfrm>
        <a:graphic>
          <a:graphicData uri="http://schemas.openxmlformats.org/drawingml/2006/table">
            <a:tbl>
              <a:tblPr firstRow="1" bandRow="1">
                <a:tableStyleId>{F5AB1C69-6EDB-4FF4-983F-18BD219EF322}</a:tableStyleId>
              </a:tblPr>
              <a:tblGrid>
                <a:gridCol w="1005445">
                  <a:extLst>
                    <a:ext uri="{9D8B030D-6E8A-4147-A177-3AD203B41FA5}">
                      <a16:colId xmlns:a16="http://schemas.microsoft.com/office/drawing/2014/main" val="709160162"/>
                    </a:ext>
                  </a:extLst>
                </a:gridCol>
              </a:tblGrid>
              <a:tr h="428584">
                <a:tc>
                  <a:txBody>
                    <a:bodyPr/>
                    <a:lstStyle/>
                    <a:p>
                      <a:r>
                        <a:rPr lang="en-IN" b="0" dirty="0">
                          <a:solidFill>
                            <a:schemeClr val="tx1"/>
                          </a:solidFill>
                        </a:rPr>
                        <a:t>25</a:t>
                      </a:r>
                    </a:p>
                  </a:txBody>
                  <a:tcPr/>
                </a:tc>
                <a:extLst>
                  <a:ext uri="{0D108BD9-81ED-4DB2-BD59-A6C34878D82A}">
                    <a16:rowId xmlns:a16="http://schemas.microsoft.com/office/drawing/2014/main" val="3864237092"/>
                  </a:ext>
                </a:extLst>
              </a:tr>
              <a:tr h="428584">
                <a:tc>
                  <a:txBody>
                    <a:bodyPr/>
                    <a:lstStyle/>
                    <a:p>
                      <a:r>
                        <a:rPr lang="en-IN" dirty="0"/>
                        <a:t>27</a:t>
                      </a:r>
                    </a:p>
                  </a:txBody>
                  <a:tcPr/>
                </a:tc>
                <a:extLst>
                  <a:ext uri="{0D108BD9-81ED-4DB2-BD59-A6C34878D82A}">
                    <a16:rowId xmlns:a16="http://schemas.microsoft.com/office/drawing/2014/main" val="788858526"/>
                  </a:ext>
                </a:extLst>
              </a:tr>
              <a:tr h="428584">
                <a:tc>
                  <a:txBody>
                    <a:bodyPr/>
                    <a:lstStyle/>
                    <a:p>
                      <a:r>
                        <a:rPr lang="en-IN" dirty="0"/>
                        <a:t>29</a:t>
                      </a:r>
                    </a:p>
                  </a:txBody>
                  <a:tcPr/>
                </a:tc>
                <a:extLst>
                  <a:ext uri="{0D108BD9-81ED-4DB2-BD59-A6C34878D82A}">
                    <a16:rowId xmlns:a16="http://schemas.microsoft.com/office/drawing/2014/main" val="1051997746"/>
                  </a:ext>
                </a:extLst>
              </a:tr>
              <a:tr h="428584">
                <a:tc>
                  <a:txBody>
                    <a:bodyPr/>
                    <a:lstStyle/>
                    <a:p>
                      <a:r>
                        <a:rPr lang="en-IN" dirty="0"/>
                        <a:t>29</a:t>
                      </a:r>
                    </a:p>
                  </a:txBody>
                  <a:tcPr/>
                </a:tc>
                <a:extLst>
                  <a:ext uri="{0D108BD9-81ED-4DB2-BD59-A6C34878D82A}">
                    <a16:rowId xmlns:a16="http://schemas.microsoft.com/office/drawing/2014/main" val="1026278747"/>
                  </a:ext>
                </a:extLst>
              </a:tr>
              <a:tr h="428584">
                <a:tc>
                  <a:txBody>
                    <a:bodyPr/>
                    <a:lstStyle/>
                    <a:p>
                      <a:r>
                        <a:rPr lang="en-IN" dirty="0"/>
                        <a:t>30</a:t>
                      </a:r>
                    </a:p>
                  </a:txBody>
                  <a:tcPr/>
                </a:tc>
                <a:extLst>
                  <a:ext uri="{0D108BD9-81ED-4DB2-BD59-A6C34878D82A}">
                    <a16:rowId xmlns:a16="http://schemas.microsoft.com/office/drawing/2014/main" val="187879394"/>
                  </a:ext>
                </a:extLst>
              </a:tr>
            </a:tbl>
          </a:graphicData>
        </a:graphic>
      </p:graphicFrame>
      <p:sp>
        <p:nvSpPr>
          <p:cNvPr id="19" name="Rectangle 18">
            <a:extLst>
              <a:ext uri="{FF2B5EF4-FFF2-40B4-BE49-F238E27FC236}">
                <a16:creationId xmlns:a16="http://schemas.microsoft.com/office/drawing/2014/main" id="{382F6673-460A-4859-B4A8-58F08049B97C}"/>
              </a:ext>
            </a:extLst>
          </p:cNvPr>
          <p:cNvSpPr/>
          <p:nvPr/>
        </p:nvSpPr>
        <p:spPr bwMode="auto">
          <a:xfrm>
            <a:off x="726559" y="5474990"/>
            <a:ext cx="7979734" cy="65259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Ascending order refers to a[1] &lt; a[2] &lt; a[3] …. &lt; a[n]</a:t>
            </a:r>
            <a:endParaRPr kumimoji="0" lang="en-IN" sz="2400" b="0" i="0" u="none" strike="noStrike" cap="none" normalizeH="0" baseline="0" dirty="0">
              <a:ln>
                <a:noFill/>
              </a:ln>
              <a:solidFill>
                <a:schemeClr val="tx1"/>
              </a:solidFill>
              <a:effectLst/>
              <a:latin typeface="Times New Roman" pitchFamily="18" charset="0"/>
            </a:endParaRPr>
          </a:p>
        </p:txBody>
      </p:sp>
      <p:sp>
        <p:nvSpPr>
          <p:cNvPr id="20" name="Rectangle 19">
            <a:extLst>
              <a:ext uri="{FF2B5EF4-FFF2-40B4-BE49-F238E27FC236}">
                <a16:creationId xmlns:a16="http://schemas.microsoft.com/office/drawing/2014/main" id="{6F15F1DE-7610-4205-99B1-B0CDD273F9B7}"/>
              </a:ext>
            </a:extLst>
          </p:cNvPr>
          <p:cNvSpPr/>
          <p:nvPr/>
        </p:nvSpPr>
        <p:spPr bwMode="auto">
          <a:xfrm>
            <a:off x="726559" y="6177803"/>
            <a:ext cx="7979734" cy="652596"/>
          </a:xfrm>
          <a:prstGeom prst="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IN" dirty="0">
                <a:latin typeface="Times New Roman" pitchFamily="18" charset="0"/>
              </a:rPr>
              <a:t> Descending order refers to a[1] &gt; a[2] &gt; a[3] …. &gt; a[n]</a:t>
            </a:r>
            <a:endParaRPr kumimoji="0" lang="en-IN" sz="24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85749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4C593-40F2-4094-BCB1-21D6C1A692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D94F72-E643-4AC1-AC36-1779B8361091}"/>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AD629561-9F47-4BC4-83B4-86330AC251F9}"/>
              </a:ext>
            </a:extLst>
          </p:cNvPr>
          <p:cNvSpPr>
            <a:spLocks noGrp="1"/>
          </p:cNvSpPr>
          <p:nvPr>
            <p:ph type="sldNum" sz="quarter" idx="10"/>
          </p:nvPr>
        </p:nvSpPr>
        <p:spPr/>
        <p:txBody>
          <a:bodyPr/>
          <a:lstStyle/>
          <a:p>
            <a:pPr>
              <a:defRPr/>
            </a:pPr>
            <a:fld id="{D5FB1F5F-4B7D-40FE-AE87-C9C750581EC7}" type="slidenum">
              <a:rPr lang="en-US" smtClean="0"/>
              <a:pPr>
                <a:defRPr/>
              </a:pPr>
              <a:t>14</a:t>
            </a:fld>
            <a:endParaRPr lang="en-US" b="0" dirty="0">
              <a:latin typeface="Times New Roman" pitchFamily="18" charset="0"/>
            </a:endParaRPr>
          </a:p>
        </p:txBody>
      </p:sp>
      <p:sp>
        <p:nvSpPr>
          <p:cNvPr id="5" name="Rectangle 4">
            <a:extLst>
              <a:ext uri="{FF2B5EF4-FFF2-40B4-BE49-F238E27FC236}">
                <a16:creationId xmlns:a16="http://schemas.microsoft.com/office/drawing/2014/main" id="{12848D6A-6FFD-425F-AA26-EDCB2BC9BDBC}"/>
              </a:ext>
            </a:extLst>
          </p:cNvPr>
          <p:cNvSpPr/>
          <p:nvPr/>
        </p:nvSpPr>
        <p:spPr bwMode="auto">
          <a:xfrm>
            <a:off x="2850078" y="2446317"/>
            <a:ext cx="3716977" cy="1686296"/>
          </a:xfrm>
          <a:prstGeom prst="rect">
            <a:avLst/>
          </a:prstGeom>
          <a:solidFill>
            <a:srgbClr val="79A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IN" sz="8800" b="0" i="0" u="none" strike="noStrike" cap="none" normalizeH="0" baseline="0" dirty="0">
                <a:ln>
                  <a:noFill/>
                </a:ln>
                <a:solidFill>
                  <a:schemeClr val="tx1"/>
                </a:solidFill>
                <a:effectLst/>
                <a:latin typeface="Times New Roman" pitchFamily="18" charset="0"/>
              </a:rPr>
              <a:t>Q&amp;A</a:t>
            </a:r>
          </a:p>
        </p:txBody>
      </p:sp>
    </p:spTree>
    <p:extLst>
      <p:ext uri="{BB962C8B-B14F-4D97-AF65-F5344CB8AC3E}">
        <p14:creationId xmlns:p14="http://schemas.microsoft.com/office/powerpoint/2010/main" val="1321705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374&quot;/&gt;&lt;/object&gt;&lt;object type=&quot;3&quot; unique_id=&quot;10005&quot;&gt;&lt;property id=&quot;20148&quot; value=&quot;5&quot;/&gt;&lt;property id=&quot;20300&quot; value=&quot;Slide 2&quot;/&gt;&lt;property id=&quot;20307&quot; value=&quot;376&quot;/&gt;&lt;/object&gt;&lt;object type=&quot;3&quot; unique_id=&quot;10006&quot;&gt;&lt;property id=&quot;20148&quot; value=&quot;5&quot;/&gt;&lt;property id=&quot;20300&quot; value=&quot;Slide 3 - &amp;quot;Objectives&amp;quot;&quot;/&gt;&lt;property id=&quot;20307&quot; value=&quot;257&quot;/&gt;&lt;/object&gt;&lt;object type=&quot;3&quot; unique_id=&quot;10007&quot;&gt;&lt;property id=&quot;20148&quot; value=&quot;5&quot;/&gt;&lt;property id=&quot;20300&quot; value=&quot;Slide 4 - &amp;quot;Combining Data from Multiple Tables&amp;quot;&quot;/&gt;&lt;property id=&quot;20307&quot; value=&quot;260&quot;/&gt;&lt;/object&gt;&lt;object type=&quot;3&quot; unique_id=&quot;10008&quot;&gt;&lt;property id=&quot;20148&quot; value=&quot;5&quot;/&gt;&lt;property id=&quot;20300&quot; value=&quot;Slide 5 - &amp;quot;Combining Data from Multiple Tables&amp;quot;&quot;/&gt;&lt;property id=&quot;20307&quot; value=&quot;259&quot;/&gt;&lt;/object&gt;&lt;object type=&quot;3&quot; unique_id=&quot;10009&quot;&gt;&lt;property id=&quot;20148&quot; value=&quot;5&quot;/&gt;&lt;property id=&quot;20300&quot; value=&quot;Slide 6&quot;/&gt;&lt;property id=&quot;20307&quot; value=&quot;445&quot;/&gt;&lt;/object&gt;&lt;object type=&quot;3&quot; unique_id=&quot;10012&quot;&gt;&lt;property id=&quot;20148&quot; value=&quot;5&quot;/&gt;&lt;property id=&quot;20300&quot; value=&quot;Slide 9 - &amp;quot;Types of Joins&amp;quot;&quot;/&gt;&lt;property id=&quot;20307&quot; value=&quot;261&quot;/&gt;&lt;/object&gt;&lt;object type=&quot;3&quot; unique_id=&quot;10013&quot;&gt;&lt;property id=&quot;20148&quot; value=&quot;5&quot;/&gt;&lt;property id=&quot;20300&quot; value=&quot;Slide 10 - &amp;quot;Types of Joins&amp;quot;&quot;/&gt;&lt;property id=&quot;20307&quot; value=&quot;262&quot;/&gt;&lt;/object&gt;&lt;object type=&quot;3&quot; unique_id=&quot;10014&quot;&gt;&lt;property id=&quot;20148&quot; value=&quot;5&quot;/&gt;&lt;property id=&quot;20300&quot; value=&quot;Slide 11 - &amp;quot;Types of Joins&amp;quot;&quot;/&gt;&lt;property id=&quot;20307&quot; value=&quot;372&quot;/&gt;&lt;/object&gt;&lt;object type=&quot;3&quot; unique_id=&quot;10015&quot;&gt;&lt;property id=&quot;20148&quot; value=&quot;5&quot;/&gt;&lt;property id=&quot;20300&quot; value=&quot;Slide 12 - &amp;quot;Cartesian Product&amp;quot;&quot;/&gt;&lt;property id=&quot;20307&quot; value=&quot;264&quot;/&gt;&lt;/object&gt;&lt;object type=&quot;3&quot; unique_id=&quot;10016&quot;&gt;&lt;property id=&quot;20148&quot; value=&quot;5&quot;/&gt;&lt;property id=&quot;20300&quot; value=&quot;Slide 13 - &amp;quot;Cartesian Product&amp;quot;&quot;/&gt;&lt;property id=&quot;20307&quot; value=&quot;386&quot;/&gt;&lt;/object&gt;&lt;object type=&quot;3&quot; unique_id=&quot;10017&quot;&gt;&lt;property id=&quot;20148&quot; value=&quot;5&quot;/&gt;&lt;property id=&quot;20300&quot; value=&quot;Slide 14 - &amp;quot;Cartesian Product&amp;quot;&quot;/&gt;&lt;property id=&quot;20307&quot; value=&quot;390&quot;/&gt;&lt;/object&gt;&lt;object type=&quot;3&quot; unique_id=&quot;10018&quot;&gt;&lt;property id=&quot;20148&quot; value=&quot;5&quot;/&gt;&lt;property id=&quot;20300&quot; value=&quot;Slide 15 - &amp;quot;Cartesian Product&amp;quot;&quot;/&gt;&lt;property id=&quot;20307&quot; value=&quot;389&quot;/&gt;&lt;/object&gt;&lt;object type=&quot;3&quot; unique_id=&quot;10019&quot;&gt;&lt;property id=&quot;20148&quot; value=&quot;5&quot;/&gt;&lt;property id=&quot;20300&quot; value=&quot;Slide 16 - &amp;quot;Cartesian Product&amp;quot;&quot;/&gt;&lt;property id=&quot;20307&quot; value=&quot;388&quot;/&gt;&lt;/object&gt;&lt;object type=&quot;3&quot; unique_id=&quot;10020&quot;&gt;&lt;property id=&quot;20148&quot; value=&quot;5&quot;/&gt;&lt;property id=&quot;20300&quot; value=&quot;Slide 17 - &amp;quot;Cartesian Product&amp;quot;&quot;/&gt;&lt;property id=&quot;20307&quot; value=&quot;381&quot;/&gt;&lt;/object&gt;&lt;object type=&quot;3&quot; unique_id=&quot;10021&quot;&gt;&lt;property id=&quot;20148&quot; value=&quot;5&quot;/&gt;&lt;property id=&quot;20300&quot; value=&quot;Slide 18 - &amp;quot;Cartesian Product&amp;quot;&quot;/&gt;&lt;property id=&quot;20307&quot; value=&quot;384&quot;/&gt;&lt;/object&gt;&lt;object type=&quot;3&quot; unique_id=&quot;10022&quot;&gt;&lt;property id=&quot;20148&quot; value=&quot;5&quot;/&gt;&lt;property id=&quot;20300&quot; value=&quot;Slide 19 - &amp;quot;Cartesian Product&amp;quot;&quot;/&gt;&lt;property id=&quot;20307&quot; value=&quot;383&quot;/&gt;&lt;/object&gt;&lt;object type=&quot;3&quot; unique_id=&quot;10023&quot;&gt;&lt;property id=&quot;20148&quot; value=&quot;5&quot;/&gt;&lt;property id=&quot;20300&quot; value=&quot;Slide 20 - &amp;quot;Cartesian Product&amp;quot;&quot;/&gt;&lt;property id=&quot;20307&quot; value=&quot;382&quot;/&gt;&lt;/object&gt;&lt;object type=&quot;3&quot; unique_id=&quot;10024&quot;&gt;&lt;property id=&quot;20148&quot; value=&quot;5&quot;/&gt;&lt;property id=&quot;20300&quot; value=&quot;Slide 21 - &amp;quot;Cartesian Product&amp;quot;&quot;/&gt;&lt;property id=&quot;20307&quot; value=&quot;380&quot;/&gt;&lt;/object&gt;&lt;object type=&quot;3&quot; unique_id=&quot;10025&quot;&gt;&lt;property id=&quot;20148&quot; value=&quot;5&quot;/&gt;&lt;property id=&quot;20300&quot; value=&quot;Slide 22 - &amp;quot;Cartesian Product&amp;quot;&quot;/&gt;&lt;property id=&quot;20307&quot; value=&quot;274&quot;/&gt;&lt;/object&gt;&lt;object type=&quot;3&quot; unique_id=&quot;10026&quot;&gt;&lt;property id=&quot;20148&quot; value=&quot;5&quot;/&gt;&lt;property id=&quot;20300&quot; value=&quot;Slide 23 - &amp;quot;Cartesian Product&amp;quot;&quot;/&gt;&lt;property id=&quot;20307&quot; value=&quot;397&quot;/&gt;&lt;/object&gt;&lt;object type=&quot;3&quot; unique_id=&quot;10027&quot;&gt;&lt;property id=&quot;20148&quot; value=&quot;5&quot;/&gt;&lt;property id=&quot;20300&quot; value=&quot;Slide 24 - &amp;quot;Cartesian Product&amp;quot;&quot;/&gt;&lt;property id=&quot;20307&quot; value=&quot;391&quot;/&gt;&lt;/object&gt;&lt;object type=&quot;3&quot; unique_id=&quot;10028&quot;&gt;&lt;property id=&quot;20148&quot; value=&quot;5&quot;/&gt;&lt;property id=&quot;20300&quot; value=&quot;Slide 25 - &amp;quot;Cartesian Product&amp;quot;&quot;/&gt;&lt;property id=&quot;20307&quot; value=&quot;392&quot;/&gt;&lt;/object&gt;&lt;object type=&quot;3&quot; unique_id=&quot;10029&quot;&gt;&lt;property id=&quot;20148&quot; value=&quot;5&quot;/&gt;&lt;property id=&quot;20300&quot; value=&quot;Slide 26 - &amp;quot;Cartesian Product&amp;quot;&quot;/&gt;&lt;property id=&quot;20307&quot; value=&quot;393&quot;/&gt;&lt;/object&gt;&lt;object type=&quot;3&quot; unique_id=&quot;10030&quot;&gt;&lt;property id=&quot;20148&quot; value=&quot;5&quot;/&gt;&lt;property id=&quot;20300&quot; value=&quot;Slide 27 - &amp;quot;Cartesian Product&amp;quot;&quot;/&gt;&lt;property id=&quot;20307&quot; value=&quot;396&quot;/&gt;&lt;/object&gt;&lt;object type=&quot;3&quot; unique_id=&quot;10034&quot;&gt;&lt;property id=&quot;20148&quot; value=&quot;5&quot;/&gt;&lt;property id=&quot;20300&quot; value=&quot;Slide 31 - &amp;quot;Inner Joins&amp;quot;&quot;/&gt;&lt;property id=&quot;20307&quot; value=&quot;276&quot;/&gt;&lt;/object&gt;&lt;object type=&quot;3&quot; unique_id=&quot;10035&quot;&gt;&lt;property id=&quot;20148&quot; value=&quot;5&quot;/&gt;&lt;property id=&quot;20300&quot; value=&quot;Slide 32 - &amp;quot;Inner Joins&amp;quot;&quot;/&gt;&lt;property id=&quot;20307&quot; value=&quot;407&quot;/&gt;&lt;/object&gt;&lt;object type=&quot;3&quot; unique_id=&quot;10036&quot;&gt;&lt;property id=&quot;20148&quot; value=&quot;5&quot;/&gt;&lt;property id=&quot;20300&quot; value=&quot;Slide 33 - &amp;quot;Inner Joins&amp;quot;&quot;/&gt;&lt;property id=&quot;20307&quot; value=&quot;277&quot;/&gt;&lt;/object&gt;&lt;object type=&quot;3&quot; unique_id=&quot;10037&quot;&gt;&lt;property id=&quot;20148&quot; value=&quot;5&quot;/&gt;&lt;property id=&quot;20300&quot; value=&quot;Slide 34 - &amp;quot;Inner Joins: Cartesian Product Built&amp;quot;&quot;/&gt;&lt;property id=&quot;20307&quot; value=&quot;278&quot;/&gt;&lt;/object&gt;&lt;object type=&quot;3&quot; unique_id=&quot;10040&quot;&gt;&lt;property id=&quot;20148&quot; value=&quot;5&quot;/&gt;&lt;property id=&quot;20300&quot; value=&quot;Slide 37 - &amp;quot;Inner Joins&amp;quot;&quot;/&gt;&lt;property id=&quot;20307&quot; value=&quot;282&quot;/&gt;&lt;/object&gt;&lt;object type=&quot;3&quot; unique_id=&quot;10042&quot;&gt;&lt;property id=&quot;20148&quot; value=&quot;5&quot;/&gt;&lt;property id=&quot;20300&quot; value=&quot;Slide 38 - &amp;quot;Inner Joins&amp;quot;&quot;/&gt;&lt;property id=&quot;20307&quot; value=&quot;404&quot;/&gt;&lt;/object&gt;&lt;object type=&quot;3&quot; unique_id=&quot;10043&quot;&gt;&lt;property id=&quot;20148&quot; value=&quot;5&quot;/&gt;&lt;property id=&quot;20300&quot; value=&quot;Slide 40&quot;/&gt;&lt;property id=&quot;20307&quot; value=&quot;448&quot;/&gt;&lt;/object&gt;&lt;object type=&quot;3&quot; unique_id=&quot;10044&quot;&gt;&lt;property id=&quot;20148&quot; value=&quot;5&quot;/&gt;&lt;property id=&quot;20300&quot; value=&quot;Slide 41 - &amp;quot;Setup for the Poll&amp;quot;&quot;/&gt;&lt;property id=&quot;20307&quot; value=&quot;444&quot;/&gt;&lt;/object&gt;&lt;object type=&quot;3&quot; unique_id=&quot;10047&quot;&gt;&lt;property id=&quot;20148&quot; value=&quot;5&quot;/&gt;&lt;property id=&quot;20300&quot; value=&quot;Slide 44 - &amp;quot;Business Scenario&amp;quot;&quot;/&gt;&lt;property id=&quot;20307&quot; value=&quot;285&quot;/&gt;&lt;/object&gt;&lt;object type=&quot;3&quot; unique_id=&quot;10048&quot;&gt;&lt;property id=&quot;20148&quot; value=&quot;5&quot;/&gt;&lt;property id=&quot;20300&quot; value=&quot;Slide 45 - &amp;quot;Business Scenario&amp;quot;&quot;/&gt;&lt;property id=&quot;20307&quot; value=&quot;417&quot;/&gt;&lt;/object&gt;&lt;object type=&quot;3&quot; unique_id=&quot;10049&quot;&gt;&lt;property id=&quot;20148&quot; value=&quot;5&quot;/&gt;&lt;property id=&quot;20300&quot; value=&quot;Slide 46 - &amp;quot;The CATX Function&amp;quot;&quot;/&gt;&lt;property id=&quot;20307&quot; value=&quot;439&quot;/&gt;&lt;/object&gt;&lt;object type=&quot;3&quot; unique_id=&quot;10050&quot;&gt;&lt;property id=&quot;20148&quot; value=&quot;5&quot;/&gt;&lt;property id=&quot;20300&quot; value=&quot;Slide 47 - &amp;quot;The CATX Function&amp;quot;&quot;/&gt;&lt;property id=&quot;20307&quot; value=&quot;440&quot;/&gt;&lt;/object&gt;&lt;object type=&quot;3&quot; unique_id=&quot;10051&quot;&gt;&lt;property id=&quot;20148&quot; value=&quot;5&quot;/&gt;&lt;property id=&quot;20300&quot; value=&quot;Slide 48 - &amp;quot;Inner Joins&amp;quot;&quot;/&gt;&lt;property id=&quot;20307&quot; value=&quot;286&quot;/&gt;&lt;/object&gt;&lt;object type=&quot;3&quot; unique_id=&quot;10052&quot;&gt;&lt;property id=&quot;20148&quot; value=&quot;5&quot;/&gt;&lt;property id=&quot;20300&quot; value=&quot;Slide 49 - &amp;quot;Inner Joins&amp;quot;&quot;/&gt;&lt;property id=&quot;20307&quot; value=&quot;287&quot;/&gt;&lt;/object&gt;&lt;object type=&quot;3&quot; unique_id=&quot;10053&quot;&gt;&lt;property id=&quot;20148&quot; value=&quot;5&quot;/&gt;&lt;property id=&quot;20300&quot; value=&quot;Slide 50 - &amp;quot;Inner Join Alternate Syntax&amp;quot;&quot;/&gt;&lt;property id=&quot;20307&quot; value=&quot;409&quot;/&gt;&lt;/object&gt;&lt;object type=&quot;3&quot; unique_id=&quot;10054&quot;&gt;&lt;property id=&quot;20148&quot; value=&quot;5&quot;/&gt;&lt;property id=&quot;20300&quot; value=&quot;Slide 51 - &amp;quot;Inner Join Alternate Syntax&amp;quot;&quot;/&gt;&lt;property id=&quot;20307&quot; value=&quot;408&quot;/&gt;&lt;/object&gt;&lt;object type=&quot;3&quot; unique_id=&quot;10055&quot;&gt;&lt;property id=&quot;20148&quot; value=&quot;5&quot;/&gt;&lt;property id=&quot;20300&quot; value=&quot;Slide 52&quot;/&gt;&lt;property id=&quot;20307&quot; value=&quot;449&quot;/&gt;&lt;/object&gt;&lt;object type=&quot;3&quot; unique_id=&quot;10058&quot;&gt;&lt;property id=&quot;20148&quot; value=&quot;5&quot;/&gt;&lt;property id=&quot;20300&quot; value=&quot;Slide 55&quot;/&gt;&lt;property id=&quot;20307&quot; value=&quot;346&quot;/&gt;&lt;/object&gt;&lt;object type=&quot;3&quot; unique_id=&quot;10059&quot;&gt;&lt;property id=&quot;20148&quot; value=&quot;5&quot;/&gt;&lt;property id=&quot;20300&quot; value=&quot;Slide 56 - &amp;quot;Outer Joins&amp;quot;&quot;/&gt;&lt;property id=&quot;20307&quot; value=&quot;348&quot;/&gt;&lt;/object&gt;&lt;object type=&quot;3&quot; unique_id=&quot;10060&quot;&gt;&lt;property id=&quot;20148&quot; value=&quot;5&quot;/&gt;&lt;property id=&quot;20300&quot; value=&quot;Slide 57 - &amp;quot;Outer Joins&amp;quot;&quot;/&gt;&lt;property id=&quot;20307&quot; value=&quot;373&quot;/&gt;&lt;/object&gt;&lt;object type=&quot;3&quot; unique_id=&quot;10061&quot;&gt;&lt;property id=&quot;20148&quot; value=&quot;5&quot;/&gt;&lt;property id=&quot;20300&quot; value=&quot;Slide 58 - &amp;quot;Compare Inner Joins And Outer Joins&amp;quot;&quot;/&gt;&lt;property id=&quot;20307&quot; value=&quot;359&quot;/&gt;&lt;/object&gt;&lt;object type=&quot;3&quot; unique_id=&quot;10062&quot;&gt;&lt;property id=&quot;20148&quot; value=&quot;5&quot;/&gt;&lt;property id=&quot;20300&quot; value=&quot;Slide 59 - &amp;quot;Outer Joins&amp;quot;&quot;/&gt;&lt;property id=&quot;20307&quot; value=&quot;289&quot;/&gt;&lt;/object&gt;&lt;object type=&quot;3&quot; unique_id=&quot;10063&quot;&gt;&lt;property id=&quot;20148&quot; value=&quot;5&quot;/&gt;&lt;property id=&quot;20300&quot; value=&quot;Slide 60 - &amp;quot;Determining Left and Right&amp;quot;&quot;/&gt;&lt;property id=&quot;20307&quot; value=&quot;360&quot;/&gt;&lt;/object&gt;&lt;object type=&quot;3&quot; unique_id=&quot;10064&quot;&gt;&lt;property id=&quot;20148&quot; value=&quot;5&quot;/&gt;&lt;property id=&quot;20300&quot; value=&quot;Slide 61 - &amp;quot;Left Join&amp;quot;&quot;/&gt;&lt;property id=&quot;20307&quot; value=&quot;290&quot;/&gt;&lt;/object&gt;&lt;object type=&quot;3&quot; unique_id=&quot;10065&quot;&gt;&lt;property id=&quot;20148&quot; value=&quot;5&quot;/&gt;&lt;property id=&quot;20300&quot; value=&quot;Slide 62 - &amp;quot;Right Join&amp;quot;&quot;/&gt;&lt;property id=&quot;20307&quot; value=&quot;410&quot;/&gt;&lt;/object&gt;&lt;object type=&quot;3&quot; unique_id=&quot;10066&quot;&gt;&lt;property id=&quot;20148&quot; value=&quot;5&quot;/&gt;&lt;property id=&quot;20300&quot; value=&quot;Slide 63 - &amp;quot;Full Join&amp;quot;&quot;/&gt;&lt;property id=&quot;20307&quot; value=&quot;411&quot;/&gt;&lt;/object&gt;&lt;object type=&quot;3&quot; unique_id=&quot;10068&quot;&gt;&lt;property id=&quot;20148&quot; value=&quot;5&quot;/&gt;&lt;property id=&quot;20300&quot; value=&quot;Slide 73 - &amp;quot;Outer Joins&amp;quot;&quot;/&gt;&lt;property id=&quot;20307&quot; value=&quot;294&quot;/&gt;&lt;/object&gt;&lt;object type=&quot;3&quot; unique_id=&quot;10069&quot;&gt;&lt;property id=&quot;20148&quot; value=&quot;5&quot;/&gt;&lt;property id=&quot;20300&quot; value=&quot;Slide 74 - &amp;quot;Outer Joins&amp;quot;&quot;/&gt;&lt;property id=&quot;20307&quot; value=&quot;295&quot;/&gt;&lt;/object&gt;&lt;object type=&quot;3&quot; unique_id=&quot;10070&quot;&gt;&lt;property id=&quot;20148&quot; value=&quot;5&quot;/&gt;&lt;property id=&quot;20300&quot; value=&quot;Slide 75 - &amp;quot;Using a Table Alias&amp;quot;&quot;/&gt;&lt;property id=&quot;20307&quot; value=&quot;296&quot;/&gt;&lt;/object&gt;&lt;object type=&quot;3&quot; unique_id=&quot;10071&quot;&gt;&lt;property id=&quot;20148&quot; value=&quot;5&quot;/&gt;&lt;property id=&quot;20300&quot; value=&quot;Slide 76 - &amp;quot;Using a Table Alias&amp;quot;&quot;/&gt;&lt;property id=&quot;20307&quot; value=&quot;412&quot;/&gt;&lt;/object&gt;&lt;object type=&quot;3&quot; unique_id=&quot;10072&quot;&gt;&lt;property id=&quot;20148&quot; value=&quot;5&quot;/&gt;&lt;property id=&quot;20300&quot; value=&quot;Slide 77 - &amp;quot;DATA Step Merge (Review)&amp;quot;&quot;/&gt;&lt;property id=&quot;20307&quot; value=&quot;298&quot;/&gt;&lt;/object&gt;&lt;object type=&quot;3&quot; unique_id=&quot;10073&quot;&gt;&lt;property id=&quot;20148&quot; value=&quot;5&quot;/&gt;&lt;property id=&quot;20300&quot; value=&quot;Slide 78 - &amp;quot;SQL Join versus DATA Step Merge&amp;quot;&quot;/&gt;&lt;property id=&quot;20307&quot; value=&quot;336&quot;/&gt;&lt;/object&gt;&lt;object type=&quot;3&quot; unique_id=&quot;10074&quot;&gt;&lt;property id=&quot;20148&quot; value=&quot;5&quot;/&gt;&lt;property id=&quot;20300&quot; value=&quot;Slide 80 - &amp;quot;SQL Join versus DATA Step Merge&amp;quot;&quot;/&gt;&lt;property id=&quot;20307&quot; value=&quot;418&quot;/&gt;&lt;/object&gt;&lt;object type=&quot;3&quot; unique_id=&quot;10075&quot;&gt;&lt;property id=&quot;20148&quot; value=&quot;5&quot;/&gt;&lt;property id=&quot;20300&quot; value=&quot;Slide 81 - &amp;quot;SQL Join versus DATA Step Merge&amp;quot;&quot;/&gt;&lt;property id=&quot;20307&quot; value=&quot;361&quot;/&gt;&lt;/object&gt;&lt;object type=&quot;3&quot; unique_id=&quot;10076&quot;&gt;&lt;property id=&quot;20148&quot; value=&quot;5&quot;/&gt;&lt;property id=&quot;20300&quot; value=&quot;Slide 82&quot;/&gt;&lt;property id=&quot;20307&quot; value=&quot;345&quot;/&gt;&lt;/object&gt;&lt;object type=&quot;3&quot; unique_id=&quot;10078&quot;&gt;&lt;property id=&quot;20148&quot; value=&quot;5&quot;/&gt;&lt;property id=&quot;20300&quot; value=&quot;Slide 84&quot;/&gt;&lt;property id=&quot;20307&quot; value=&quot;377&quot;/&gt;&lt;/object&gt;&lt;object type=&quot;3&quot; unique_id=&quot;10079&quot;&gt;&lt;property id=&quot;20148&quot; value=&quot;5&quot;/&gt;&lt;property id=&quot;20300&quot; value=&quot;Slide 86 - &amp;quot;In-Line Views&amp;quot;&quot;/&gt;&lt;property id=&quot;20307&quot; value=&quot;306&quot;/&gt;&lt;/object&gt;&lt;object type=&quot;3&quot; unique_id=&quot;10080&quot;&gt;&lt;property id=&quot;20148&quot; value=&quot;5&quot;/&gt;&lt;property id=&quot;20300&quot; value=&quot;Slide 87 - &amp;quot;In-Line Views&amp;quot;&quot;/&gt;&lt;property id=&quot;20307&quot; value=&quot;370&quot;/&gt;&lt;/object&gt;&lt;object type=&quot;3&quot; unique_id=&quot;10081&quot;&gt;&lt;property id=&quot;20148&quot; value=&quot;5&quot;/&gt;&lt;property id=&quot;20300&quot; value=&quot;Slide 89 - &amp;quot;Considerations&amp;quot;&quot;/&gt;&lt;property id=&quot;20307&quot; value=&quot;307&quot;/&gt;&lt;/object&gt;&lt;object type=&quot;3&quot; unique_id=&quot;10082&quot;&gt;&lt;property id=&quot;20148&quot; value=&quot;5&quot;/&gt;&lt;property id=&quot;20300&quot; value=&quot;Slide 90 - &amp;quot;In-Line Views&amp;quot;&quot;/&gt;&lt;property id=&quot;20307&quot; value=&quot;369&quot;/&gt;&lt;/object&gt;&lt;object type=&quot;3&quot; unique_id=&quot;10083&quot;&gt;&lt;property id=&quot;20148&quot; value=&quot;5&quot;/&gt;&lt;property id=&quot;20300&quot; value=&quot;Slide 91 - &amp;quot;In-Line Views&amp;quot;&quot;/&gt;&lt;property id=&quot;20307&quot; value=&quot;420&quot;/&gt;&lt;/object&gt;&lt;object type=&quot;3&quot; unique_id=&quot;10084&quot;&gt;&lt;property id=&quot;20148&quot; value=&quot;5&quot;/&gt;&lt;property id=&quot;20300&quot; value=&quot;Slide 92 - &amp;quot;In-Line Views&amp;quot;&quot;/&gt;&lt;property id=&quot;20307&quot; value=&quot;416&quot;/&gt;&lt;/object&gt;&lt;object type=&quot;3&quot; unique_id=&quot;10085&quot;&gt;&lt;property id=&quot;20148&quot; value=&quot;5&quot;/&gt;&lt;property id=&quot;20300&quot; value=&quot;Slide 93 - &amp;quot;In-Line Views&amp;quot;&quot;/&gt;&lt;property id=&quot;20307&quot; value=&quot;352&quot;/&gt;&lt;/object&gt;&lt;object type=&quot;3&quot; unique_id=&quot;10086&quot;&gt;&lt;property id=&quot;20148&quot; value=&quot;5&quot;/&gt;&lt;property id=&quot;20300&quot; value=&quot;Slide 94 - &amp;quot;In-Line Views&amp;quot;&quot;/&gt;&lt;property id=&quot;20307&quot; value=&quot;308&quot;/&gt;&lt;/object&gt;&lt;object type=&quot;3&quot; unique_id=&quot;10087&quot;&gt;&lt;property id=&quot;20148&quot; value=&quot;5&quot;/&gt;&lt;property id=&quot;20300&quot; value=&quot;Slide 95&quot;/&gt;&lt;property id=&quot;20307&quot; value=&quot;347&quot;/&gt;&lt;/object&gt;&lt;object type=&quot;3&quot; unique_id=&quot;10088&quot;&gt;&lt;property id=&quot;20148&quot; value=&quot;5&quot;/&gt;&lt;property id=&quot;20300&quot; value=&quot;Slide 96 - &amp;quot;Business Scenario&amp;quot;&quot;/&gt;&lt;property id=&quot;20307&quot; value=&quot;313&quot;/&gt;&lt;/object&gt;&lt;object type=&quot;3&quot; unique_id=&quot;10089&quot;&gt;&lt;property id=&quot;20148&quot; value=&quot;5&quot;/&gt;&lt;property id=&quot;20300&quot; value=&quot;Slide 97 - &amp;quot;Planning the Complex Query&amp;quot;&quot;/&gt;&lt;property id=&quot;20307&quot; value=&quot;421&quot;/&gt;&lt;/object&gt;&lt;object type=&quot;3&quot; unique_id=&quot;10090&quot;&gt;&lt;property id=&quot;20148&quot; value=&quot;5&quot;/&gt;&lt;property id=&quot;20300&quot; value=&quot;Slide 98 - &amp;quot;Complex Query: Step 1 Considerations&amp;quot;&quot;/&gt;&lt;property id=&quot;20307&quot; value=&quot;362&quot;/&gt;&lt;/object&gt;&lt;object type=&quot;3&quot; unique_id=&quot;10091&quot;&gt;&lt;property id=&quot;20148&quot; value=&quot;5&quot;/&gt;&lt;property id=&quot;20300&quot; value=&quot;Slide 99 - &amp;quot;Coding the Complex Query&amp;quot;&quot;/&gt;&lt;property id=&quot;20307&quot; value=&quot;315&quot;/&gt;&lt;/object&gt;&lt;object type=&quot;3&quot; unique_id=&quot;10092&quot;&gt;&lt;property id=&quot;20148&quot; value=&quot;5&quot;/&gt;&lt;property id=&quot;20300&quot; value=&quot;Slide 100 - &amp;quot;Coding the Complex Query&amp;quot;&quot;/&gt;&lt;property id=&quot;20307&quot; value=&quot;316&quot;/&gt;&lt;/object&gt;&lt;object type=&quot;3&quot; unique_id=&quot;10093&quot;&gt;&lt;property id=&quot;20148&quot; value=&quot;5&quot;/&gt;&lt;property id=&quot;20300&quot; value=&quot;Slide 101 - &amp;quot;Complex Query: Step 2 Considerations&amp;quot;&quot;/&gt;&lt;property id=&quot;20307&quot; value=&quot;422&quot;/&gt;&lt;/object&gt;&lt;object type=&quot;3&quot; unique_id=&quot;10094&quot;&gt;&lt;property id=&quot;20148&quot; value=&quot;5&quot;/&gt;&lt;property id=&quot;20300&quot; value=&quot;Slide 105 - &amp;quot;Coding the Complex Query&amp;quot;&quot;/&gt;&lt;property id=&quot;20307&quot; value=&quot;349&quot;/&gt;&lt;/object&gt;&lt;object type=&quot;3&quot; unique_id=&quot;10095&quot;&gt;&lt;property id=&quot;20148&quot; value=&quot;5&quot;/&gt;&lt;property id=&quot;20300&quot; value=&quot;Slide 106 - &amp;quot;Coding the Complex Query&amp;quot;&quot;/&gt;&lt;property id=&quot;20307&quot; value=&quot;425&quot;/&gt;&lt;/object&gt;&lt;object type=&quot;3&quot; unique_id=&quot;10096&quot;&gt;&lt;property id=&quot;20148&quot; value=&quot;5&quot;/&gt;&lt;property id=&quot;20300&quot; value=&quot;Slide 107 - &amp;quot;Coding the Complex Query&amp;quot;&quot;/&gt;&lt;property id=&quot;20307&quot; value=&quot;318&quot;/&gt;&lt;/object&gt;&lt;object type=&quot;3&quot; unique_id=&quot;10098&quot;&gt;&lt;property id=&quot;20148&quot; value=&quot;5&quot;/&gt;&lt;property id=&quot;20300&quot; value=&quot;Slide 112 - &amp;quot;Coding the Complex Query&amp;quot;&quot;/&gt;&lt;property id=&quot;20307&quot; value=&quot;424&quot;/&gt;&lt;/object&gt;&lt;object type=&quot;3&quot; unique_id=&quot;10099&quot;&gt;&lt;property id=&quot;20148&quot; value=&quot;5&quot;/&gt;&lt;property id=&quot;20300&quot; value=&quot;Slide 113 - &amp;quot;Coding the Complex Query&amp;quot;&quot;/&gt;&lt;property id=&quot;20307&quot; value=&quot;426&quot;/&gt;&lt;/object&gt;&lt;object type=&quot;3&quot; unique_id=&quot;10100&quot;&gt;&lt;property id=&quot;20148&quot; value=&quot;5&quot;/&gt;&lt;property id=&quot;20300&quot; value=&quot;Slide 114 - &amp;quot;Coding the Complex Query&amp;quot;&quot;/&gt;&lt;property id=&quot;20307&quot; value=&quot;320&quot;/&gt;&lt;/object&gt;&lt;object type=&quot;3&quot; unique_id=&quot;10101&quot;&gt;&lt;property id=&quot;20148&quot; value=&quot;5&quot;/&gt;&lt;property id=&quot;20300&quot; value=&quot;Slide 115 - &amp;quot;Coding the Complex Query&amp;quot;&quot;/&gt;&lt;property id=&quot;20307&quot; value=&quot;323&quot;/&gt;&lt;/object&gt;&lt;object type=&quot;3&quot; unique_id=&quot;10102&quot;&gt;&lt;property id=&quot;20148&quot; value=&quot;5&quot;/&gt;&lt;property id=&quot;20300&quot; value=&quot;Slide 116&quot;/&gt;&lt;property id=&quot;20307&quot; value=&quot;343&quot;/&gt;&lt;/object&gt;&lt;object type=&quot;3&quot; unique_id=&quot;10104&quot;&gt;&lt;property id=&quot;20148&quot; value=&quot;5&quot;/&gt;&lt;property id=&quot;20300&quot; value=&quot;Slide 28&quot;/&gt;&lt;property id=&quot;20307&quot; value=&quot;450&quot;/&gt;&lt;/object&gt;&lt;object type=&quot;3&quot; unique_id=&quot;10105&quot;&gt;&lt;property id=&quot;20148&quot; value=&quot;5&quot;/&gt;&lt;property id=&quot;20300&quot; value=&quot;Slide 7 - &amp;quot;5.01 Multiple Choice Poll&amp;quot;&quot;/&gt;&lt;property id=&quot;20307&quot; value=&quot;473&quot;/&gt;&lt;/object&gt;&lt;object type=&quot;3&quot; unique_id=&quot;10106&quot;&gt;&lt;property id=&quot;20148&quot; value=&quot;5&quot;/&gt;&lt;property id=&quot;20300&quot; value=&quot;Slide 8 - &amp;quot;5.01 Multiple Choice Poll – Correct Answer&amp;quot;&quot;/&gt;&lt;property id=&quot;20307&quot; value=&quot;474&quot;/&gt;&lt;/object&gt;&lt;object type=&quot;3&quot; unique_id=&quot;10107&quot;&gt;&lt;property id=&quot;20148&quot; value=&quot;5&quot;/&gt;&lt;property id=&quot;20300&quot; value=&quot;Slide 29 - &amp;quot;5.02 Quiz&amp;quot;&quot;/&gt;&lt;property id=&quot;20307&quot; value=&quot;475&quot;/&gt;&lt;/object&gt;&lt;object type=&quot;3&quot; unique_id=&quot;10108&quot;&gt;&lt;property id=&quot;20148&quot; value=&quot;5&quot;/&gt;&lt;property id=&quot;20300&quot; value=&quot;Slide 30 - &amp;quot;5.02 Quiz – Correct Answer&amp;quot;&quot;/&gt;&lt;property id=&quot;20307&quot; value=&quot;476&quot;/&gt;&lt;/object&gt;&lt;object type=&quot;3&quot; unique_id=&quot;10109&quot;&gt;&lt;property id=&quot;20148&quot; value=&quot;5&quot;/&gt;&lt;property id=&quot;20300&quot; value=&quot;Slide 35 - &amp;quot;Inner Joins: WHERE Clause Restricts Rows&amp;quot;&quot;/&gt;&lt;property id=&quot;20307&quot; value=&quot;451&quot;/&gt;&lt;/object&gt;&lt;object type=&quot;3&quot; unique_id=&quot;10110&quot;&gt;&lt;property id=&quot;20148&quot; value=&quot;5&quot;/&gt;&lt;property id=&quot;20300&quot; value=&quot;Slide 36 - &amp;quot;Inner Joins: Results Are Returned&amp;quot;&quot;/&gt;&lt;property id=&quot;20307&quot; value=&quot;452&quot;/&gt;&lt;/object&gt;&lt;object type=&quot;3&quot; unique_id=&quot;10111&quot;&gt;&lt;property id=&quot;20148&quot; value=&quot;5&quot;/&gt;&lt;property id=&quot;20300&quot; value=&quot;Slide 39 - &amp;quot;Inner Joins&amp;quot;&quot;/&gt;&lt;property id=&quot;20307&quot; value=&quot;454&quot;/&gt;&lt;/object&gt;&lt;object type=&quot;3&quot; unique_id=&quot;10112&quot;&gt;&lt;property id=&quot;20148&quot; value=&quot;5&quot;/&gt;&lt;property id=&quot;20300&quot; value=&quot;Slide 42 - &amp;quot;5.03 Multiple Choice Poll&amp;quot;&quot;/&gt;&lt;property id=&quot;20307&quot; value=&quot;477&quot;/&gt;&lt;/object&gt;&lt;object type=&quot;3&quot; unique_id=&quot;10113&quot;&gt;&lt;property id=&quot;20148&quot; value=&quot;5&quot;/&gt;&lt;property id=&quot;20300&quot; value=&quot;Slide 43 - &amp;quot;5.03 Multiple Choice Poll – Correct Answer&amp;quot;&quot;/&gt;&lt;property id=&quot;20307&quot; value=&quot;478&quot;/&gt;&lt;/object&gt;&lt;object type=&quot;3&quot; unique_id=&quot;10114&quot;&gt;&lt;property id=&quot;20148&quot; value=&quot;5&quot;/&gt;&lt;property id=&quot;20300&quot; value=&quot;Slide 53 - &amp;quot;5.04 Multiple Choice Poll&amp;quot;&quot;/&gt;&lt;property id=&quot;20307&quot; value=&quot;479&quot;/&gt;&lt;/object&gt;&lt;object type=&quot;3&quot; unique_id=&quot;10115&quot;&gt;&lt;property id=&quot;20148&quot; value=&quot;5&quot;/&gt;&lt;property id=&quot;20300&quot; value=&quot;Slide 54 - &amp;quot;5.04 Multiple Choice Poll – Correct Answer&amp;quot;&quot;/&gt;&lt;property id=&quot;20307&quot; value=&quot;480&quot;/&gt;&lt;/object&gt;&lt;object type=&quot;3&quot; unique_id=&quot;10116&quot;&gt;&lt;property id=&quot;20148&quot; value=&quot;5&quot;/&gt;&lt;property id=&quot;20300&quot; value=&quot;Slide 64 - &amp;quot;Business Scenario&amp;quot;&quot;/&gt;&lt;property id=&quot;20307&quot; value=&quot;458&quot;/&gt;&lt;/object&gt;&lt;object type=&quot;3&quot; unique_id=&quot;10117&quot;&gt;&lt;property id=&quot;20148&quot; value=&quot;5&quot;/&gt;&lt;property id=&quot;20300&quot; value=&quot;Slide 65 - &amp;quot;Business Scenario&amp;quot;&quot;/&gt;&lt;property id=&quot;20307&quot; value=&quot;468&quot;/&gt;&lt;/object&gt;&lt;object type=&quot;3&quot; unique_id=&quot;10118&quot;&gt;&lt;property id=&quot;20148&quot; value=&quot;5&quot;/&gt;&lt;property id=&quot;20300&quot; value=&quot;Slide 67 - &amp;quot;Business Scenario&amp;quot;&quot;/&gt;&lt;property id=&quot;20307&quot; value=&quot;469&quot;/&gt;&lt;/object&gt;&lt;object type=&quot;3&quot; unique_id=&quot;10120&quot;&gt;&lt;property id=&quot;20148&quot; value=&quot;5&quot;/&gt;&lt;property id=&quot;20300&quot; value=&quot;Slide 68 - &amp;quot;Business Scenario&amp;quot;&quot;/&gt;&lt;property id=&quot;20307&quot; value=&quot;467&quot;/&gt;&lt;/object&gt;&lt;object type=&quot;3&quot; unique_id=&quot;10121&quot;&gt;&lt;property id=&quot;20148&quot; value=&quot;5&quot;/&gt;&lt;property id=&quot;20300&quot; value=&quot;Slide 79 - &amp;quot;Review of the COALESCE Function&amp;quot;&quot;/&gt;&lt;property id=&quot;20307&quot; value=&quot;453&quot;/&gt;&lt;/object&gt;&lt;object type=&quot;3&quot; unique_id=&quot;10122&quot;&gt;&lt;property id=&quot;20148&quot; value=&quot;5&quot;/&gt;&lt;property id=&quot;20300&quot; value=&quot;Slide 83 - &amp;quot;&amp;#x0D;&amp;#x0A;Exercise&amp;quot;&quot;/&gt;&lt;property id=&quot;20307&quot; value=&quot;481&quot;/&gt;&lt;/object&gt;&lt;object type=&quot;3&quot; unique_id=&quot;10123&quot;&gt;&lt;property id=&quot;20148&quot; value=&quot;5&quot;/&gt;&lt;property id=&quot;20300&quot; value=&quot;Slide 85 - &amp;quot;Objectives&amp;quot;&quot;/&gt;&lt;property id=&quot;20307&quot; value=&quot;457&quot;/&gt;&lt;/object&gt;&lt;object type=&quot;3&quot; unique_id=&quot;10124&quot;&gt;&lt;property id=&quot;20148&quot; value=&quot;5&quot;/&gt;&lt;property id=&quot;20300&quot; value=&quot;Slide 88 - &amp;quot;Business Scenario&amp;quot;&quot;/&gt;&lt;property id=&quot;20307&quot; value=&quot;471&quot;/&gt;&lt;/object&gt;&lt;object type=&quot;3&quot; unique_id=&quot;10125&quot;&gt;&lt;property id=&quot;20148&quot; value=&quot;5&quot;/&gt;&lt;property id=&quot;20300&quot; value=&quot;Slide 108 - &amp;quot;Complex Query: Step 3 Considerations&amp;quot;&quot;/&gt;&lt;property id=&quot;20307&quot; value=&quot;472&quot;/&gt;&lt;/object&gt;&lt;object type=&quot;3&quot; unique_id=&quot;10126&quot;&gt;&lt;property id=&quot;20148&quot; value=&quot;5&quot;/&gt;&lt;property id=&quot;20300&quot; value=&quot;Slide 117 - &amp;quot;&amp;#x0D;&amp;#x0A;Exercise&amp;quot;&quot;/&gt;&lt;property id=&quot;20307&quot; value=&quot;482&quot;/&gt;&lt;/object&gt;&lt;object type=&quot;3&quot; unique_id=&quot;15058&quot;&gt;&lt;property id=&quot;20148&quot; value=&quot;5&quot;/&gt;&lt;property id=&quot;20300&quot; value=&quot;Slide 66 - &amp;quot;Business Scenario&amp;quot;&quot;/&gt;&lt;property id=&quot;20307&quot; value=&quot;483&quot;/&gt;&lt;/object&gt;&lt;object type=&quot;3&quot; unique_id=&quot;15059&quot;&gt;&lt;property id=&quot;20148&quot; value=&quot;5&quot;/&gt;&lt;property id=&quot;20300&quot; value=&quot;Slide 69 - &amp;quot;Business Scenario&amp;quot;&quot;/&gt;&lt;property id=&quot;20307&quot; value=&quot;484&quot;/&gt;&lt;/object&gt;&lt;object type=&quot;3&quot; unique_id=&quot;15060&quot;&gt;&lt;property id=&quot;20148&quot; value=&quot;5&quot;/&gt;&lt;property id=&quot;20300&quot; value=&quot;Slide 70&quot;/&gt;&lt;property id=&quot;20307&quot; value=&quot;485&quot;/&gt;&lt;/object&gt;&lt;object type=&quot;3&quot; unique_id=&quot;15061&quot;&gt;&lt;property id=&quot;20148&quot; value=&quot;5&quot;/&gt;&lt;property id=&quot;20300&quot; value=&quot;Slide 71 - &amp;quot;5.05 Multiple Choice Poll&amp;quot;&quot;/&gt;&lt;property id=&quot;20307&quot; value=&quot;486&quot;/&gt;&lt;/object&gt;&lt;object type=&quot;3&quot; unique_id=&quot;15062&quot;&gt;&lt;property id=&quot;20148&quot; value=&quot;5&quot;/&gt;&lt;property id=&quot;20300&quot; value=&quot;Slide 72 - &amp;quot;5.05 Multiple Choice Poll – Correct Answer&amp;quot;&quot;/&gt;&lt;property id=&quot;20307&quot; value=&quot;487&quot;/&gt;&lt;/object&gt;&lt;object type=&quot;3&quot; unique_id=&quot;15063&quot;&gt;&lt;property id=&quot;20148&quot; value=&quot;5&quot;/&gt;&lt;property id=&quot;20300&quot; value=&quot;Slide 102&quot;/&gt;&lt;property id=&quot;20307&quot; value=&quot;499&quot;/&gt;&lt;/object&gt;&lt;object type=&quot;3&quot; unique_id=&quot;15064&quot;&gt;&lt;property id=&quot;20148&quot; value=&quot;5&quot;/&gt;&lt;property id=&quot;20300&quot; value=&quot;Slide 103 - &amp;quot;5.06 Multiple Choice Poll&amp;quot;&quot;/&gt;&lt;property id=&quot;20307&quot; value=&quot;500&quot;/&gt;&lt;/object&gt;&lt;object type=&quot;3&quot; unique_id=&quot;15065&quot;&gt;&lt;property id=&quot;20148&quot; value=&quot;5&quot;/&gt;&lt;property id=&quot;20300&quot; value=&quot;Slide 104 - &amp;quot;5.06 Multiple Choice Poll – Correct Answer&amp;quot;&quot;/&gt;&lt;property id=&quot;20307&quot; value=&quot;501&quot;/&gt;&lt;/object&gt;&lt;object type=&quot;3&quot; unique_id=&quot;15066&quot;&gt;&lt;property id=&quot;20148&quot; value=&quot;5&quot;/&gt;&lt;property id=&quot;20300&quot; value=&quot;Slide 109&quot;/&gt;&lt;property id=&quot;20307&quot; value=&quot;502&quot;/&gt;&lt;/object&gt;&lt;object type=&quot;3&quot; unique_id=&quot;15067&quot;&gt;&lt;property id=&quot;20148&quot; value=&quot;5&quot;/&gt;&lt;property id=&quot;20300&quot; value=&quot;Slide 110 - &amp;quot;5.07 Poll&amp;quot;&quot;/&gt;&lt;property id=&quot;20307&quot; value=&quot;503&quot;/&gt;&lt;/object&gt;&lt;object type=&quot;3&quot; unique_id=&quot;15068&quot;&gt;&lt;property id=&quot;20148&quot; value=&quot;5&quot;/&gt;&lt;property id=&quot;20300&quot; value=&quot;Slide 111 - &amp;quot;5.07 Poll – Correct Answer&amp;quot;&quot;/&gt;&lt;property id=&quot;20307&quot; value=&quot;504&quot;/&gt;&lt;/object&gt;&lt;/object&gt;&lt;/object&gt;&lt;/database&gt;"/>
  <p:tag name="CHAPTERTITLE" val="SQL Joins"/>
  <p:tag name="CHAPTERNUMBER" val="5"/>
  <p:tag name="CHAPTERLABEL" val="Chapter"/>
  <p:tag name="SECTIONLABEL" val="Section"/>
  <p:tag name="APPENDIXLABEL" val="Appendix"/>
  <p:tag name="PPTADDIN" val="c:\Program Files\PowerServ\Templates\CDSPptAddin_2006.ppa"/>
  <p:tag name="PPTOBJECTDEFINITION" val="CDS"/>
</p:tagLst>
</file>

<file path=ppt/tags/tag2.xml><?xml version="1.0" encoding="utf-8"?>
<p:tagLst xmlns:a="http://schemas.openxmlformats.org/drawingml/2006/main" xmlns:r="http://schemas.openxmlformats.org/officeDocument/2006/relationships" xmlns:p="http://schemas.openxmlformats.org/presentationml/2006/main">
  <p:tag name="SLIDETYPE" val="Organizer"/>
  <p:tag name="SECTIONCOUNT" val="2"/>
  <p:tag name="SHAPETABLE" val="Group 78"/>
</p:tagLst>
</file>

<file path=ppt/theme/theme1.xml><?xml version="1.0" encoding="utf-8"?>
<a:theme xmlns:a="http://schemas.openxmlformats.org/drawingml/2006/main" name="CDS_2006">
  <a:themeElements>
    <a:clrScheme name="">
      <a:dk1>
        <a:srgbClr val="000000"/>
      </a:dk1>
      <a:lt1>
        <a:srgbClr val="FFF2BE"/>
      </a:lt1>
      <a:dk2>
        <a:srgbClr val="003399"/>
      </a:dk2>
      <a:lt2>
        <a:srgbClr val="808080"/>
      </a:lt2>
      <a:accent1>
        <a:srgbClr val="CC9700"/>
      </a:accent1>
      <a:accent2>
        <a:srgbClr val="FFCC00"/>
      </a:accent2>
      <a:accent3>
        <a:srgbClr val="FFF7DB"/>
      </a:accent3>
      <a:accent4>
        <a:srgbClr val="000000"/>
      </a:accent4>
      <a:accent5>
        <a:srgbClr val="E2C9AA"/>
      </a:accent5>
      <a:accent6>
        <a:srgbClr val="E7B900"/>
      </a:accent6>
      <a:hlink>
        <a:srgbClr val="003366"/>
      </a:hlink>
      <a:folHlink>
        <a:srgbClr val="666699"/>
      </a:folHlink>
    </a:clrScheme>
    <a:fontScheme name="Office Theme">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Office Theme 8">
        <a:dk1>
          <a:srgbClr val="000000"/>
        </a:dk1>
        <a:lt1>
          <a:srgbClr val="FFFFFF"/>
        </a:lt1>
        <a:dk2>
          <a:srgbClr val="003399"/>
        </a:dk2>
        <a:lt2>
          <a:srgbClr val="808080"/>
        </a:lt2>
        <a:accent1>
          <a:srgbClr val="003399"/>
        </a:accent1>
        <a:accent2>
          <a:srgbClr val="FFCC00"/>
        </a:accent2>
        <a:accent3>
          <a:srgbClr val="FFFFFF"/>
        </a:accent3>
        <a:accent4>
          <a:srgbClr val="000000"/>
        </a:accent4>
        <a:accent5>
          <a:srgbClr val="AAADCA"/>
        </a:accent5>
        <a:accent6>
          <a:srgbClr val="E7B900"/>
        </a:accent6>
        <a:hlink>
          <a:srgbClr val="003366"/>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CDS_2006</Template>
  <TotalTime>0</TotalTime>
  <Words>1354</Words>
  <Application>Microsoft Office PowerPoint</Application>
  <PresentationFormat>On-screen Show (4:3)</PresentationFormat>
  <Paragraphs>318</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Narrow</vt:lpstr>
      <vt:lpstr>Monotype Sorts</vt:lpstr>
      <vt:lpstr>Times New Roman</vt:lpstr>
      <vt:lpstr>Wingdings</vt:lpstr>
      <vt:lpstr>CDS_2006</vt:lpstr>
      <vt:lpstr>PowerPoint Presentation</vt:lpstr>
      <vt:lpstr>Introduction</vt:lpstr>
      <vt:lpstr>What is an Array?</vt:lpstr>
      <vt:lpstr>Parts of an Array</vt:lpstr>
      <vt:lpstr>Size of an Array</vt:lpstr>
      <vt:lpstr>Implementation in C</vt:lpstr>
      <vt:lpstr>Operations</vt:lpstr>
      <vt:lpstr>Example: Find the Total Number of Marks </vt:lpstr>
      <vt:lpstr>Operations</vt:lpstr>
      <vt:lpstr>Example: Search an element</vt:lpstr>
      <vt:lpstr>Operations</vt:lpstr>
      <vt:lpstr>Operations</vt:lpstr>
      <vt:lpstr>Operations</vt:lpstr>
      <vt:lpstr>PowerPoint Presentation</vt:lpstr>
    </vt:vector>
  </TitlesOfParts>
  <Company>SAS Institute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SQL Joins</dc:title>
  <dc:creator>Johnny Johnson</dc:creator>
  <cp:lastModifiedBy>LENOVO</cp:lastModifiedBy>
  <cp:revision>674</cp:revision>
  <dcterms:created xsi:type="dcterms:W3CDTF">2004-05-11T12:34:02Z</dcterms:created>
  <dcterms:modified xsi:type="dcterms:W3CDTF">2020-08-27T03:09:07Z</dcterms:modified>
</cp:coreProperties>
</file>